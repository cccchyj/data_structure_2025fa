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536" r:id="rId4"/>
    <p:sldId id="541" r:id="rId5"/>
    <p:sldId id="542" r:id="rId6"/>
    <p:sldId id="547" r:id="rId7"/>
    <p:sldId id="548" r:id="rId8"/>
    <p:sldId id="549" r:id="rId9"/>
    <p:sldId id="550" r:id="rId10"/>
    <p:sldId id="551" r:id="rId11"/>
    <p:sldId id="552" r:id="rId12"/>
    <p:sldId id="553" r:id="rId13"/>
    <p:sldId id="554" r:id="rId14"/>
    <p:sldId id="555" r:id="rId15"/>
    <p:sldId id="556" r:id="rId16"/>
    <p:sldId id="546" r:id="rId17"/>
    <p:sldId id="544" r:id="rId18"/>
    <p:sldId id="543" r:id="rId19"/>
    <p:sldId id="545" r:id="rId20"/>
    <p:sldId id="573" r:id="rId21"/>
    <p:sldId id="404" r:id="rId22"/>
    <p:sldId id="557" r:id="rId23"/>
    <p:sldId id="564" r:id="rId24"/>
    <p:sldId id="562" r:id="rId25"/>
    <p:sldId id="563" r:id="rId26"/>
    <p:sldId id="565" r:id="rId27"/>
    <p:sldId id="566" r:id="rId28"/>
    <p:sldId id="567" r:id="rId29"/>
    <p:sldId id="569" r:id="rId30"/>
    <p:sldId id="570" r:id="rId31"/>
    <p:sldId id="571" r:id="rId32"/>
    <p:sldId id="558" r:id="rId33"/>
    <p:sldId id="560" r:id="rId34"/>
    <p:sldId id="561" r:id="rId35"/>
    <p:sldId id="559" r:id="rId36"/>
    <p:sldId id="575" r:id="rId37"/>
    <p:sldId id="576" r:id="rId38"/>
    <p:sldId id="574" r:id="rId39"/>
    <p:sldId id="572" r:id="rId40"/>
    <p:sldId id="540" r:id="rId41"/>
  </p:sldIdLst>
  <p:sldSz cx="12192000" cy="6858000"/>
  <p:notesSz cx="6648450" cy="978217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2189C332-5D43-4A60-A3F4-80866F5E9B56}">
          <p14:sldIdLst>
            <p14:sldId id="256"/>
            <p14:sldId id="257"/>
          </p14:sldIdLst>
        </p14:section>
        <p14:section name="冒泡排序" id="{B0FBEB4E-68D2-4118-B724-45EA05B19BC6}">
          <p14:sldIdLst>
            <p14:sldId id="536"/>
            <p14:sldId id="541"/>
            <p14:sldId id="542"/>
            <p14:sldId id="547"/>
            <p14:sldId id="548"/>
            <p14:sldId id="549"/>
            <p14:sldId id="550"/>
            <p14:sldId id="551"/>
            <p14:sldId id="552"/>
            <p14:sldId id="553"/>
            <p14:sldId id="554"/>
            <p14:sldId id="555"/>
            <p14:sldId id="556"/>
            <p14:sldId id="546"/>
            <p14:sldId id="544"/>
            <p14:sldId id="543"/>
            <p14:sldId id="545"/>
            <p14:sldId id="573"/>
          </p14:sldIdLst>
        </p14:section>
        <p14:section name="快速排序" id="{665F3F95-5EA7-4AF5-BA73-0135B0802043}">
          <p14:sldIdLst>
            <p14:sldId id="404"/>
            <p14:sldId id="557"/>
            <p14:sldId id="564"/>
            <p14:sldId id="562"/>
            <p14:sldId id="563"/>
            <p14:sldId id="565"/>
            <p14:sldId id="566"/>
            <p14:sldId id="567"/>
            <p14:sldId id="569"/>
            <p14:sldId id="570"/>
            <p14:sldId id="571"/>
            <p14:sldId id="558"/>
            <p14:sldId id="560"/>
            <p14:sldId id="561"/>
            <p14:sldId id="559"/>
            <p14:sldId id="575"/>
            <p14:sldId id="576"/>
            <p14:sldId id="574"/>
            <p14:sldId id="572"/>
            <p14:sldId id="5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FF00"/>
    <a:srgbClr val="030305"/>
    <a:srgbClr val="EA20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0719" autoAdjust="0"/>
  </p:normalViewPr>
  <p:slideViewPr>
    <p:cSldViewPr showGuides="1">
      <p:cViewPr varScale="1">
        <p:scale>
          <a:sx n="63" d="100"/>
          <a:sy n="63" d="100"/>
        </p:scale>
        <p:origin x="405" y="37"/>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11088"/>
    </p:cViewPr>
  </p:sorterViewPr>
  <p:notesViewPr>
    <p:cSldViewPr>
      <p:cViewPr varScale="1">
        <p:scale>
          <a:sx n="78" d="100"/>
          <a:sy n="78" d="100"/>
        </p:scale>
        <p:origin x="3440" y="5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8813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smtClean="0">
                <a:latin typeface="Tahoma" panose="020B0604030504040204" pitchFamily="34" charset="0"/>
              </a:defRPr>
            </a:lvl1pPr>
          </a:lstStyle>
          <a:p>
            <a:pPr>
              <a:defRPr/>
            </a:pPr>
            <a:endParaRPr lang="en-US" altLang="zh-CN"/>
          </a:p>
        </p:txBody>
      </p:sp>
      <p:sp>
        <p:nvSpPr>
          <p:cNvPr id="7171" name="Rectangle 3"/>
          <p:cNvSpPr>
            <a:spLocks noGrp="1" noChangeArrowheads="1"/>
          </p:cNvSpPr>
          <p:nvPr>
            <p:ph type="dt" idx="1"/>
          </p:nvPr>
        </p:nvSpPr>
        <p:spPr bwMode="auto">
          <a:xfrm>
            <a:off x="3767138" y="0"/>
            <a:ext cx="28813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smtClean="0">
                <a:latin typeface="Tahoma" panose="020B0604030504040204" pitchFamily="34" charset="0"/>
              </a:defRPr>
            </a:lvl1pPr>
          </a:lstStyle>
          <a:p>
            <a:pPr>
              <a:defRPr/>
            </a:pPr>
            <a:endParaRPr lang="en-US" altLang="zh-CN"/>
          </a:p>
        </p:txBody>
      </p:sp>
      <p:sp>
        <p:nvSpPr>
          <p:cNvPr id="26628" name="Rectangle 4"/>
          <p:cNvSpPr>
            <a:spLocks noGrp="1" noRot="1" noChangeAspect="1" noChangeArrowheads="1" noTextEdit="1"/>
          </p:cNvSpPr>
          <p:nvPr>
            <p:ph type="sldImg" idx="2"/>
          </p:nvPr>
        </p:nvSpPr>
        <p:spPr bwMode="auto">
          <a:xfrm>
            <a:off x="65088" y="733425"/>
            <a:ext cx="6519862" cy="3668713"/>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3" name="Rectangle 5"/>
          <p:cNvSpPr>
            <a:spLocks noGrp="1" noChangeArrowheads="1"/>
          </p:cNvSpPr>
          <p:nvPr>
            <p:ph type="body" sz="quarter" idx="3"/>
          </p:nvPr>
        </p:nvSpPr>
        <p:spPr bwMode="auto">
          <a:xfrm>
            <a:off x="885825" y="4646613"/>
            <a:ext cx="4876800" cy="440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7174" name="Rectangle 6"/>
          <p:cNvSpPr>
            <a:spLocks noGrp="1" noChangeArrowheads="1"/>
          </p:cNvSpPr>
          <p:nvPr>
            <p:ph type="ftr" sz="quarter" idx="4"/>
          </p:nvPr>
        </p:nvSpPr>
        <p:spPr bwMode="auto">
          <a:xfrm>
            <a:off x="0" y="9293225"/>
            <a:ext cx="28813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smtClean="0">
                <a:latin typeface="Tahoma" panose="020B0604030504040204" pitchFamily="34" charset="0"/>
              </a:defRPr>
            </a:lvl1pPr>
          </a:lstStyle>
          <a:p>
            <a:pPr>
              <a:defRPr/>
            </a:pPr>
            <a:endParaRPr lang="en-US" altLang="zh-CN"/>
          </a:p>
        </p:txBody>
      </p:sp>
      <p:sp>
        <p:nvSpPr>
          <p:cNvPr id="7175" name="Rectangle 7"/>
          <p:cNvSpPr>
            <a:spLocks noGrp="1" noChangeArrowheads="1"/>
          </p:cNvSpPr>
          <p:nvPr>
            <p:ph type="sldNum" sz="quarter" idx="5"/>
          </p:nvPr>
        </p:nvSpPr>
        <p:spPr bwMode="auto">
          <a:xfrm>
            <a:off x="3767138" y="9293225"/>
            <a:ext cx="28813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smtClean="0">
                <a:latin typeface="Tahoma" panose="020B0604030504040204" pitchFamily="34" charset="0"/>
              </a:defRPr>
            </a:lvl1pPr>
          </a:lstStyle>
          <a:p>
            <a:pPr>
              <a:defRPr/>
            </a:pPr>
            <a:fld id="{44192EF7-8FAB-4DBB-ABF4-5586931266FD}"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3A8806F-00E4-4B0F-8129-1EF3D61F8955}" type="slidenum">
              <a:rPr lang="en-US" altLang="zh-CN">
                <a:latin typeface="Tahoma" panose="020B0604030504040204" pitchFamily="34" charset="0"/>
              </a:rPr>
              <a:t>1</a:t>
            </a:fld>
            <a:endParaRPr lang="en-US" altLang="zh-CN">
              <a:latin typeface="Tahoma" panose="020B0604030504040204" pitchFamily="34" charset="0"/>
            </a:endParaRPr>
          </a:p>
        </p:txBody>
      </p:sp>
      <p:sp>
        <p:nvSpPr>
          <p:cNvPr id="27651" name="Rectangle 2"/>
          <p:cNvSpPr>
            <a:spLocks noGrp="1" noRot="1" noChangeAspect="1" noChangeArrowheads="1" noTextEdit="1"/>
          </p:cNvSpPr>
          <p:nvPr>
            <p:ph type="sldImg"/>
          </p:nvPr>
        </p:nvSpPr>
        <p:spPr>
          <a:xfrm>
            <a:off x="65088" y="733425"/>
            <a:ext cx="6519862" cy="3668713"/>
          </a:xfrm>
        </p:spPr>
      </p:sp>
      <p:sp>
        <p:nvSpPr>
          <p:cNvPr id="2765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5088" y="733425"/>
            <a:ext cx="6519862" cy="36687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4192EF7-8FAB-4DBB-ABF4-5586931266FD}"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4192EF7-8FAB-4DBB-ABF4-5586931266FD}" type="slidenum">
              <a:rPr lang="en-US" altLang="zh-CN"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4192EF7-8FAB-4DBB-ABF4-5586931266FD}" type="slidenum">
              <a:rPr lang="en-US" altLang="zh-CN" smtClean="0"/>
              <a:t>21</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2011</a:t>
            </a:r>
            <a:r>
              <a:rPr lang="zh-CN" altLang="en-US" dirty="0"/>
              <a:t>真题，</a:t>
            </a:r>
            <a:r>
              <a:rPr lang="en-US" altLang="zh-CN" dirty="0"/>
              <a:t>A</a:t>
            </a:r>
            <a:endParaRPr lang="zh-CN" altLang="en-US" dirty="0"/>
          </a:p>
        </p:txBody>
      </p:sp>
      <p:sp>
        <p:nvSpPr>
          <p:cNvPr id="4" name="灯片编号占位符 3"/>
          <p:cNvSpPr>
            <a:spLocks noGrp="1"/>
          </p:cNvSpPr>
          <p:nvPr>
            <p:ph type="sldNum" sz="quarter" idx="10"/>
          </p:nvPr>
        </p:nvSpPr>
        <p:spPr/>
        <p:txBody>
          <a:bodyPr/>
          <a:lstStyle/>
          <a:p>
            <a:pPr>
              <a:defRPr/>
            </a:pPr>
            <a:fld id="{44192EF7-8FAB-4DBB-ABF4-5586931266FD}" type="slidenum">
              <a:rPr lang="en-US" altLang="zh-CN" smtClean="0"/>
              <a:t>36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2014</a:t>
            </a:r>
            <a:r>
              <a:rPr lang="zh-CN" altLang="en-US" dirty="0"/>
              <a:t>真题，</a:t>
            </a:r>
            <a:r>
              <a:rPr lang="en-US" altLang="zh-CN" dirty="0"/>
              <a:t>C</a:t>
            </a:r>
            <a:endParaRPr lang="zh-CN" altLang="en-US" dirty="0"/>
          </a:p>
        </p:txBody>
      </p:sp>
      <p:sp>
        <p:nvSpPr>
          <p:cNvPr id="4" name="灯片编号占位符 3"/>
          <p:cNvSpPr>
            <a:spLocks noGrp="1"/>
          </p:cNvSpPr>
          <p:nvPr>
            <p:ph type="sldNum" sz="quarter" idx="10"/>
          </p:nvPr>
        </p:nvSpPr>
        <p:spPr/>
        <p:txBody>
          <a:bodyPr/>
          <a:lstStyle/>
          <a:p>
            <a:fld id="{22F4D707-EC26-448D-9DF7-FBF7D49397DE}" type="slidenum">
              <a:rPr lang="en-US" altLang="zh-CN" smtClean="0"/>
              <a:t>37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12192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rc 62"/>
              <p:cNvSpPr/>
              <p:nvPr/>
            </p:nvSpPr>
            <p:spPr bwMode="ltGray">
              <a:xfrm rot="16200000" flipH="1">
                <a:off x="426" y="860"/>
                <a:ext cx="156" cy="157"/>
              </a:xfrm>
              <a:custGeom>
                <a:avLst/>
                <a:gdLst>
                  <a:gd name="T0" fmla="*/ 76 w 43195"/>
                  <a:gd name="T1" fmla="*/ 0 h 43200"/>
                  <a:gd name="T2" fmla="*/ 0 w 43195"/>
                  <a:gd name="T3" fmla="*/ 80 h 43200"/>
                  <a:gd name="T4" fmla="*/ 78 w 43195"/>
                  <a:gd name="T5" fmla="*/ 79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rc 66"/>
              <p:cNvSpPr/>
              <p:nvPr/>
            </p:nvSpPr>
            <p:spPr bwMode="ltGray">
              <a:xfrm rot="5400000">
                <a:off x="5097" y="3346"/>
                <a:ext cx="156" cy="157"/>
              </a:xfrm>
              <a:custGeom>
                <a:avLst/>
                <a:gdLst>
                  <a:gd name="T0" fmla="*/ 76 w 43195"/>
                  <a:gd name="T1" fmla="*/ 0 h 43200"/>
                  <a:gd name="T2" fmla="*/ 0 w 43195"/>
                  <a:gd name="T3" fmla="*/ 80 h 43200"/>
                  <a:gd name="T4" fmla="*/ 78 w 43195"/>
                  <a:gd name="T5" fmla="*/ 79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31555" name="Rectangle 67"/>
          <p:cNvSpPr>
            <a:spLocks noGrp="1" noChangeArrowheads="1"/>
          </p:cNvSpPr>
          <p:nvPr>
            <p:ph type="ctrTitle"/>
          </p:nvPr>
        </p:nvSpPr>
        <p:spPr>
          <a:xfrm>
            <a:off x="1320800" y="1752600"/>
            <a:ext cx="10363200" cy="1143000"/>
          </a:xfrm>
        </p:spPr>
        <p:txBody>
          <a:bodyPr/>
          <a:lstStyle>
            <a:lvl1pPr>
              <a:defRPr/>
            </a:lvl1pPr>
          </a:lstStyle>
          <a:p>
            <a:pPr lvl="0"/>
            <a:r>
              <a:rPr lang="zh-CN" altLang="en-US" noProof="0" dirty="0"/>
              <a:t>单击此处编辑母版标题样式</a:t>
            </a:r>
          </a:p>
        </p:txBody>
      </p:sp>
      <p:sp>
        <p:nvSpPr>
          <p:cNvPr id="831556" name="Rectangle 68" descr="Rectangle: Click to edit Master text styles&#10;Second level&#10;Third level&#10;Fourth level&#10;Fifth level"/>
          <p:cNvSpPr>
            <a:spLocks noGrp="1" noChangeArrowheads="1"/>
          </p:cNvSpPr>
          <p:nvPr>
            <p:ph type="subTitle" idx="1"/>
          </p:nvPr>
        </p:nvSpPr>
        <p:spPr>
          <a:xfrm>
            <a:off x="1320800" y="3309938"/>
            <a:ext cx="85344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69" name="Rectangle 69"/>
          <p:cNvSpPr>
            <a:spLocks noGrp="1" noChangeArrowheads="1"/>
          </p:cNvSpPr>
          <p:nvPr>
            <p:ph type="dt" sz="quarter" idx="10"/>
          </p:nvPr>
        </p:nvSpPr>
        <p:spPr/>
        <p:txBody>
          <a:bodyPr/>
          <a:lstStyle>
            <a:lvl1pPr>
              <a:defRPr smtClean="0"/>
            </a:lvl1pPr>
          </a:lstStyle>
          <a:p>
            <a:pPr>
              <a:defRPr/>
            </a:pPr>
            <a:endParaRPr lang="en-US" altLang="zh-CN"/>
          </a:p>
        </p:txBody>
      </p:sp>
      <p:sp>
        <p:nvSpPr>
          <p:cNvPr id="70" name="Rectangle 70"/>
          <p:cNvSpPr>
            <a:spLocks noGrp="1" noChangeArrowheads="1"/>
          </p:cNvSpPr>
          <p:nvPr>
            <p:ph type="ftr" sz="quarter" idx="11"/>
          </p:nvPr>
        </p:nvSpPr>
        <p:spPr>
          <a:xfrm>
            <a:off x="4165600" y="6248400"/>
            <a:ext cx="3860800" cy="457200"/>
          </a:xfrm>
          <a:prstGeom prst="rect">
            <a:avLst/>
          </a:prstGeom>
        </p:spPr>
        <p:txBody>
          <a:bodyPr/>
          <a:lstStyle>
            <a:lvl1pPr algn="ctr">
              <a:defRPr smtClean="0"/>
            </a:lvl1pPr>
          </a:lstStyle>
          <a:p>
            <a:pPr>
              <a:defRPr/>
            </a:pPr>
            <a:endParaRPr lang="en-US" altLang="zh-CN"/>
          </a:p>
        </p:txBody>
      </p:sp>
      <p:sp>
        <p:nvSpPr>
          <p:cNvPr id="71" name="Rectangle 71"/>
          <p:cNvSpPr>
            <a:spLocks noGrp="1" noChangeArrowheads="1"/>
          </p:cNvSpPr>
          <p:nvPr>
            <p:ph type="sldNum" sz="quarter" idx="12"/>
          </p:nvPr>
        </p:nvSpPr>
        <p:spPr>
          <a:xfrm>
            <a:off x="8737600" y="6248400"/>
            <a:ext cx="2540000" cy="457200"/>
          </a:xfrm>
          <a:prstGeom prst="rect">
            <a:avLst/>
          </a:prstGeom>
        </p:spPr>
        <p:txBody>
          <a:bodyPr/>
          <a:lstStyle>
            <a:lvl1pPr>
              <a:defRPr smtClean="0"/>
            </a:lvl1pPr>
          </a:lstStyle>
          <a:p>
            <a:pPr>
              <a:defRPr/>
            </a:pPr>
            <a:fld id="{32E8257D-4324-4B54-84F1-9DF7643E6C79}"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5"/>
          <p:cNvSpPr>
            <a:spLocks noGrp="1" noChangeArrowheads="1"/>
          </p:cNvSpPr>
          <p:nvPr>
            <p:ph type="dt" sz="half" idx="10"/>
          </p:nvPr>
        </p:nvSpPr>
        <p:spPr/>
        <p:txBody>
          <a:bodyPr/>
          <a:lstStyle>
            <a:lvl1pPr>
              <a:defRPr/>
            </a:lvl1pPr>
          </a:lstStyle>
          <a:p>
            <a:pPr>
              <a:defRPr/>
            </a:pPr>
            <a:endParaRPr lang="zh-CN" altLang="zh-CN"/>
          </a:p>
        </p:txBody>
      </p:sp>
      <p:sp>
        <p:nvSpPr>
          <p:cNvPr id="5"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6"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BC8E908A-4C76-459A-A336-37A616541AF1}"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17600" y="19050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400800" y="19050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5"/>
          <p:cNvSpPr>
            <a:spLocks noGrp="1" noChangeArrowheads="1"/>
          </p:cNvSpPr>
          <p:nvPr>
            <p:ph type="dt" sz="half" idx="10"/>
          </p:nvPr>
        </p:nvSpPr>
        <p:spPr/>
        <p:txBody>
          <a:bodyPr/>
          <a:lstStyle>
            <a:lvl1pPr>
              <a:defRPr/>
            </a:lvl1pPr>
          </a:lstStyle>
          <a:p>
            <a:pPr>
              <a:defRPr/>
            </a:pPr>
            <a:endParaRPr lang="zh-CN" altLang="zh-CN"/>
          </a:p>
        </p:txBody>
      </p:sp>
      <p:sp>
        <p:nvSpPr>
          <p:cNvPr id="8"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9"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B51F5805-154D-4E02-8BA6-8EF81656EB53}"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5"/>
          <p:cNvSpPr>
            <a:spLocks noGrp="1" noChangeArrowheads="1"/>
          </p:cNvSpPr>
          <p:nvPr>
            <p:ph type="dt" sz="half" idx="10"/>
          </p:nvPr>
        </p:nvSpPr>
        <p:spPr/>
        <p:txBody>
          <a:bodyPr/>
          <a:lstStyle>
            <a:lvl1pPr>
              <a:defRPr/>
            </a:lvl1pPr>
          </a:lstStyle>
          <a:p>
            <a:pPr>
              <a:defRPr/>
            </a:pPr>
            <a:endParaRPr lang="zh-CN" altLang="zh-CN"/>
          </a:p>
        </p:txBody>
      </p:sp>
      <p:sp>
        <p:nvSpPr>
          <p:cNvPr id="3"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4"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3F4D377F-8464-43C9-A800-6DC803F35E61}"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5"/>
          <p:cNvSpPr>
            <a:spLocks noGrp="1" noChangeArrowheads="1"/>
          </p:cNvSpPr>
          <p:nvPr>
            <p:ph type="dt" sz="half" idx="10"/>
          </p:nvPr>
        </p:nvSpPr>
        <p:spPr/>
        <p:txBody>
          <a:bodyPr/>
          <a:lstStyle>
            <a:lvl1pPr>
              <a:defRPr/>
            </a:lvl1pPr>
          </a:lstStyle>
          <a:p>
            <a:pPr>
              <a:defRPr/>
            </a:pPr>
            <a:endParaRPr lang="zh-CN" altLang="zh-CN"/>
          </a:p>
        </p:txBody>
      </p:sp>
      <p:sp>
        <p:nvSpPr>
          <p:cNvPr id="6"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7"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1BEB7E49-A5DE-4565-B108-DFEFBDF55E01}"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5"/>
          <p:cNvSpPr>
            <a:spLocks noGrp="1" noChangeArrowheads="1"/>
          </p:cNvSpPr>
          <p:nvPr>
            <p:ph type="dt" sz="half" idx="10"/>
          </p:nvPr>
        </p:nvSpPr>
        <p:spPr/>
        <p:txBody>
          <a:bodyPr/>
          <a:lstStyle>
            <a:lvl1pPr>
              <a:defRPr/>
            </a:lvl1pPr>
          </a:lstStyle>
          <a:p>
            <a:pPr>
              <a:defRPr/>
            </a:pPr>
            <a:endParaRPr lang="zh-CN" altLang="zh-CN"/>
          </a:p>
        </p:txBody>
      </p:sp>
      <p:sp>
        <p:nvSpPr>
          <p:cNvPr id="6"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7"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D759E671-B5A5-44DF-9119-2707DFA0BA48}"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5"/>
          <p:cNvSpPr>
            <a:spLocks noGrp="1" noChangeArrowheads="1"/>
          </p:cNvSpPr>
          <p:nvPr>
            <p:ph type="dt" sz="half" idx="10"/>
          </p:nvPr>
        </p:nvSpPr>
        <p:spPr/>
        <p:txBody>
          <a:bodyPr/>
          <a:lstStyle>
            <a:lvl1pPr>
              <a:defRPr/>
            </a:lvl1pPr>
          </a:lstStyle>
          <a:p>
            <a:pPr>
              <a:defRPr/>
            </a:pPr>
            <a:endParaRPr lang="zh-CN" altLang="zh-CN"/>
          </a:p>
        </p:txBody>
      </p:sp>
      <p:sp>
        <p:nvSpPr>
          <p:cNvPr id="5"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6"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A43954A3-4CD6-4380-9755-D58C5B82349D}"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13800" y="304800"/>
            <a:ext cx="2667000"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12800" y="304800"/>
            <a:ext cx="77978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5"/>
          <p:cNvSpPr>
            <a:spLocks noGrp="1" noChangeArrowheads="1"/>
          </p:cNvSpPr>
          <p:nvPr>
            <p:ph type="dt" sz="half" idx="10"/>
          </p:nvPr>
        </p:nvSpPr>
        <p:spPr/>
        <p:txBody>
          <a:bodyPr/>
          <a:lstStyle>
            <a:lvl1pPr>
              <a:defRPr/>
            </a:lvl1pPr>
          </a:lstStyle>
          <a:p>
            <a:pPr>
              <a:defRPr/>
            </a:pPr>
            <a:endParaRPr lang="zh-CN" altLang="zh-CN"/>
          </a:p>
        </p:txBody>
      </p:sp>
      <p:sp>
        <p:nvSpPr>
          <p:cNvPr id="5" name="Rectangle 66"/>
          <p:cNvSpPr>
            <a:spLocks noGrp="1" noChangeArrowheads="1"/>
          </p:cNvSpPr>
          <p:nvPr>
            <p:ph type="ftr" sz="quarter" idx="11"/>
          </p:nvPr>
        </p:nvSpPr>
        <p:spPr>
          <a:xfrm>
            <a:off x="4165600" y="6248400"/>
            <a:ext cx="7114117" cy="457200"/>
          </a:xfrm>
          <a:prstGeom prst="rect">
            <a:avLst/>
          </a:prstGeom>
        </p:spPr>
        <p:txBody>
          <a:bodyPr/>
          <a:lstStyle>
            <a:lvl1pPr>
              <a:defRPr/>
            </a:lvl1pPr>
          </a:lstStyle>
          <a:p>
            <a:pPr>
              <a:defRPr/>
            </a:pPr>
            <a:endParaRPr lang="en-US" altLang="zh-CN" dirty="0"/>
          </a:p>
        </p:txBody>
      </p:sp>
      <p:sp>
        <p:nvSpPr>
          <p:cNvPr id="6" name="Rectangle 67"/>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a:defRPr/>
            </a:pPr>
            <a:fld id="{CE851B09-66EC-45E5-AE1C-5A8D5581851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bwMode="auto">
          <a:xfrm>
            <a:off x="0" y="0"/>
            <a:ext cx="12192000" cy="6858000"/>
            <a:chOff x="0" y="0"/>
            <a:chExt cx="5760" cy="4320"/>
          </a:xfrm>
        </p:grpSpPr>
        <p:grpSp>
          <p:nvGrpSpPr>
            <p:cNvPr id="1032" name="Group 3"/>
            <p:cNvGrpSpPr/>
            <p:nvPr/>
          </p:nvGrpSpPr>
          <p:grpSpPr bwMode="auto">
            <a:xfrm>
              <a:off x="0" y="0"/>
              <a:ext cx="5760" cy="4320"/>
              <a:chOff x="0" y="0"/>
              <a:chExt cx="5760" cy="4320"/>
            </a:xfrm>
          </p:grpSpPr>
          <p:grpSp>
            <p:nvGrpSpPr>
              <p:cNvPr id="1039" name="Group 4"/>
              <p:cNvGrpSpPr/>
              <p:nvPr/>
            </p:nvGrpSpPr>
            <p:grpSpPr bwMode="auto">
              <a:xfrm>
                <a:off x="0" y="192"/>
                <a:ext cx="5760" cy="4032"/>
                <a:chOff x="0" y="192"/>
                <a:chExt cx="5760" cy="4032"/>
              </a:xfrm>
            </p:grpSpPr>
            <p:sp>
              <p:nvSpPr>
                <p:cNvPr id="1070"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27"/>
              <p:cNvGrpSpPr/>
              <p:nvPr/>
            </p:nvGrpSpPr>
            <p:grpSpPr bwMode="auto">
              <a:xfrm>
                <a:off x="192" y="0"/>
                <a:ext cx="5376" cy="4320"/>
                <a:chOff x="192" y="0"/>
                <a:chExt cx="5376" cy="4320"/>
              </a:xfrm>
            </p:grpSpPr>
            <p:sp>
              <p:nvSpPr>
                <p:cNvPr id="1041"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33"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 name="Line 58"/>
            <p:cNvSpPr>
              <a:spLocks noChangeShapeType="1"/>
            </p:cNvSpPr>
            <p:nvPr/>
          </p:nvSpPr>
          <p:spPr bwMode="ltGray">
            <a:xfrm>
              <a:off x="5568" y="0"/>
              <a:ext cx="0" cy="1488"/>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5" name="Group 59"/>
            <p:cNvGrpSpPr/>
            <p:nvPr/>
          </p:nvGrpSpPr>
          <p:grpSpPr bwMode="auto">
            <a:xfrm>
              <a:off x="261" y="892"/>
              <a:ext cx="1124" cy="1464"/>
              <a:chOff x="96" y="916"/>
              <a:chExt cx="2208" cy="2876"/>
            </a:xfrm>
          </p:grpSpPr>
          <p:sp>
            <p:nvSpPr>
              <p:cNvPr id="1036" name="Line 60"/>
              <p:cNvSpPr>
                <a:spLocks noChangeShapeType="1"/>
              </p:cNvSpPr>
              <p:nvPr/>
            </p:nvSpPr>
            <p:spPr bwMode="ltGray">
              <a:xfrm flipH="1">
                <a:off x="96" y="1037"/>
                <a:ext cx="2208" cy="0"/>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7" name="Line 61"/>
              <p:cNvSpPr>
                <a:spLocks noChangeShapeType="1"/>
              </p:cNvSpPr>
              <p:nvPr/>
            </p:nvSpPr>
            <p:spPr bwMode="ltGray">
              <a:xfrm>
                <a:off x="336" y="920"/>
                <a:ext cx="0" cy="2872"/>
              </a:xfrm>
              <a:prstGeom prst="line">
                <a:avLst/>
              </a:prstGeom>
              <a:noFill/>
              <a:ln w="95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Arc 62"/>
              <p:cNvSpPr/>
              <p:nvPr/>
            </p:nvSpPr>
            <p:spPr bwMode="ltGray">
              <a:xfrm flipH="1">
                <a:off x="217" y="916"/>
                <a:ext cx="239" cy="239"/>
              </a:xfrm>
              <a:custGeom>
                <a:avLst/>
                <a:gdLst>
                  <a:gd name="T0" fmla="*/ 117 w 43195"/>
                  <a:gd name="T1" fmla="*/ 0 h 43200"/>
                  <a:gd name="T2" fmla="*/ 0 w 43195"/>
                  <a:gd name="T3" fmla="*/ 122 h 43200"/>
                  <a:gd name="T4" fmla="*/ 119 w 43195"/>
                  <a:gd name="T5" fmla="*/ 12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63"/>
          <p:cNvSpPr>
            <a:spLocks noGrp="1" noChangeArrowheads="1"/>
          </p:cNvSpPr>
          <p:nvPr>
            <p:ph type="title"/>
          </p:nvPr>
        </p:nvSpPr>
        <p:spPr bwMode="auto">
          <a:xfrm>
            <a:off x="812800" y="3048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1117600" y="19050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30529" name="Rectangle 65"/>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smtClean="0">
                <a:latin typeface="+mn-lt"/>
              </a:defRPr>
            </a:lvl1pPr>
          </a:lstStyle>
          <a:p>
            <a:pPr>
              <a:defRPr/>
            </a:pPr>
            <a:endParaRPr lang="zh-CN" altLang="zh-CN"/>
          </a:p>
        </p:txBody>
      </p:sp>
      <p:sp>
        <p:nvSpPr>
          <p:cNvPr id="68" name="页脚占位符 3"/>
          <p:cNvSpPr txBox="1"/>
          <p:nvPr userDrawn="1"/>
        </p:nvSpPr>
        <p:spPr bwMode="auto">
          <a:xfrm>
            <a:off x="4461835" y="6240257"/>
            <a:ext cx="701896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defPPr>
              <a:defRPr lang="zh-CN"/>
            </a:defPPr>
            <a:lvl1pPr algn="r" rtl="0" eaLnBrk="1" fontAlgn="base" hangingPunct="1">
              <a:spcBef>
                <a:spcPct val="0"/>
              </a:spcBef>
              <a:spcAft>
                <a:spcPct val="0"/>
              </a:spcAft>
              <a:defRPr sz="1400" kern="1200" dirty="0" smtClean="0">
                <a:solidFill>
                  <a:schemeClr val="tx1"/>
                </a:solidFill>
                <a:latin typeface="+mn-lt"/>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r>
              <a:rPr lang="zh-CN" altLang="en-US" sz="1400" dirty="0"/>
              <a:t>复旦大学软件学院</a:t>
            </a:r>
            <a:r>
              <a:rPr lang="en-US" altLang="zh-CN" sz="1400" dirty="0"/>
              <a:t>2025</a:t>
            </a:r>
            <a:r>
              <a:rPr lang="zh-CN" altLang="en-US" sz="1400" dirty="0"/>
              <a:t>秋 </a:t>
            </a:r>
            <a:r>
              <a:rPr lang="en-US" altLang="zh-CN" sz="1400" dirty="0"/>
              <a:t>Data Structure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0" fontAlgn="base" hangingPunct="0">
        <a:spcBef>
          <a:spcPct val="0"/>
        </a:spcBef>
        <a:spcAft>
          <a:spcPct val="0"/>
        </a:spcAft>
        <a:defRPr kumimoji="1" sz="44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a:solidFill>
            <a:schemeClr val="tx1"/>
          </a:solidFill>
          <a:latin typeface="Arial" panose="020B0604020202020204" pitchFamily="34" charset="0"/>
          <a:ea typeface="宋体" panose="02010600030101010101" pitchFamily="2" charset="-122"/>
        </a:defRPr>
      </a:lvl9pPr>
    </p:titleStyle>
    <p:bodyStyle>
      <a:lvl1pPr marL="342900" indent="-342900" algn="just" rtl="0" eaLnBrk="0" fontAlgn="base" hangingPunct="0">
        <a:spcBef>
          <a:spcPct val="20000"/>
        </a:spcBef>
        <a:spcAft>
          <a:spcPct val="0"/>
        </a:spcAft>
        <a:buClr>
          <a:schemeClr val="tx1"/>
        </a:buClr>
        <a:buSzPct val="95000"/>
        <a:buFont typeface="Wingdings" panose="05000000000000000000" pitchFamily="2" charset="2"/>
        <a:buChar char="Ø"/>
        <a:defRPr kumimoji="1" sz="2800">
          <a:solidFill>
            <a:schemeClr val="tx1"/>
          </a:solidFill>
          <a:latin typeface="+mn-lt"/>
          <a:ea typeface="+mn-ea"/>
          <a:cs typeface="+mn-cs"/>
        </a:defRPr>
      </a:lvl1pPr>
      <a:lvl2pPr marL="742950" indent="-285750" algn="just" rtl="0" eaLnBrk="0" fontAlgn="base" hangingPunct="0">
        <a:spcBef>
          <a:spcPct val="20000"/>
        </a:spcBef>
        <a:spcAft>
          <a:spcPct val="0"/>
        </a:spcAft>
        <a:buClr>
          <a:schemeClr val="tx1"/>
        </a:buClr>
        <a:buSzPct val="90000"/>
        <a:buFont typeface="Wingdings" panose="05000000000000000000" pitchFamily="2" charset="2"/>
        <a:buChar char="v"/>
        <a:defRPr kumimoji="1" sz="2400">
          <a:solidFill>
            <a:schemeClr val="tx1"/>
          </a:solidFill>
          <a:latin typeface="+mn-lt"/>
          <a:ea typeface="+mn-ea"/>
        </a:defRPr>
      </a:lvl2pPr>
      <a:lvl3pPr marL="1143000" indent="-228600" algn="just" rtl="0" eaLnBrk="0" fontAlgn="base" hangingPunct="0">
        <a:spcBef>
          <a:spcPct val="20000"/>
        </a:spcBef>
        <a:spcAft>
          <a:spcPct val="0"/>
        </a:spcAft>
        <a:buClr>
          <a:schemeClr val="tx1"/>
        </a:buClr>
        <a:buSzPct val="95000"/>
        <a:buFont typeface="Wingdings" panose="05000000000000000000" pitchFamily="2" charset="2"/>
        <a:buChar char="w"/>
        <a:defRPr kumimoji="1" sz="20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zh-CN" sz="4000" dirty="0"/>
              <a:t>Data Structure</a:t>
            </a:r>
          </a:p>
        </p:txBody>
      </p:sp>
      <p:sp>
        <p:nvSpPr>
          <p:cNvPr id="3075" name="Rectangle 3" descr="Rectangle: Click to edit Master text styles&#10;Second level&#10;Third level&#10;Fourth level&#10;Fifth level"/>
          <p:cNvSpPr>
            <a:spLocks noGrp="1" noChangeArrowheads="1"/>
          </p:cNvSpPr>
          <p:nvPr>
            <p:ph type="subTitle" idx="1"/>
          </p:nvPr>
        </p:nvSpPr>
        <p:spPr/>
        <p:txBody>
          <a:bodyPr/>
          <a:lstStyle/>
          <a:p>
            <a:pPr eaLnBrk="1" hangingPunct="1"/>
            <a:endParaRPr lang="en-US" altLang="zh-CN" dirty="0"/>
          </a:p>
          <a:p>
            <a:pPr eaLnBrk="1" hangingPunct="1"/>
            <a:r>
              <a:rPr lang="zh-CN" altLang="en-US" sz="3600" dirty="0">
                <a:ea typeface="华文行楷" panose="02010800040101010101" pitchFamily="2" charset="-122"/>
              </a:rPr>
              <a:t>复旦大学软件学院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dirty="0"/>
              <a:t>Lecture 7</a:t>
            </a:r>
            <a:endParaRPr lang="zh-CN" altLang="en-US" dirty="0"/>
          </a:p>
        </p:txBody>
      </p:sp>
      <p:sp>
        <p:nvSpPr>
          <p:cNvPr id="6" name="副标题 5"/>
          <p:cNvSpPr>
            <a:spLocks noGrp="1"/>
          </p:cNvSpPr>
          <p:nvPr>
            <p:ph type="subTitle" idx="1"/>
          </p:nvPr>
        </p:nvSpPr>
        <p:spPr/>
        <p:txBody>
          <a:bodyPr/>
          <a:lstStyle/>
          <a:p>
            <a:r>
              <a:rPr lang="zh-CN" altLang="en-US"/>
              <a:t>排序</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0500" name="Rectangle 4"/>
          <p:cNvSpPr>
            <a:spLocks noGrp="1" noChangeArrowheads="1"/>
          </p:cNvSpPr>
          <p:nvPr>
            <p:ph type="ctrTitle"/>
          </p:nvPr>
        </p:nvSpPr>
        <p:spPr/>
        <p:txBody>
          <a:bodyPr/>
          <a:lstStyle/>
          <a:p>
            <a:r>
              <a:rPr lang="en-US" altLang="zh-CN" dirty="0"/>
              <a:t>Part I</a:t>
            </a:r>
          </a:p>
        </p:txBody>
      </p:sp>
      <p:sp>
        <p:nvSpPr>
          <p:cNvPr id="1130501" name="Rectangle 5" descr="Rectangle: Click to edit Master text styles&#10;Second level&#10;Third level&#10;Fourth level&#10;Fifth level"/>
          <p:cNvSpPr>
            <a:spLocks noGrp="1" noChangeArrowheads="1"/>
          </p:cNvSpPr>
          <p:nvPr>
            <p:ph type="subTitle" idx="1"/>
          </p:nvPr>
        </p:nvSpPr>
        <p:spPr/>
        <p:txBody>
          <a:bodyPr/>
          <a:lstStyle/>
          <a:p>
            <a:r>
              <a:rPr lang="zh-CN" altLang="en-US" dirty="0"/>
              <a:t>冒泡排序</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交换排序</a:t>
            </a:r>
          </a:p>
        </p:txBody>
      </p:sp>
      <p:sp>
        <p:nvSpPr>
          <p:cNvPr id="3" name="内容占位符 2"/>
          <p:cNvSpPr>
            <a:spLocks noGrp="1"/>
          </p:cNvSpPr>
          <p:nvPr>
            <p:ph idx="1"/>
          </p:nvPr>
        </p:nvSpPr>
        <p:spPr/>
        <p:txBody>
          <a:bodyPr/>
          <a:lstStyle/>
          <a:p>
            <a:r>
              <a:rPr lang="en-US" altLang="zh-CN" dirty="0"/>
              <a:t>Exchange Sort</a:t>
            </a:r>
          </a:p>
          <a:p>
            <a:pPr lvl="1"/>
            <a:r>
              <a:rPr lang="zh-CN" altLang="en-US" dirty="0"/>
              <a:t>基本思想：两两比较待排序的对象的关键字，如果发生逆序则交换，直到全部对象都排好序为止</a:t>
            </a:r>
          </a:p>
          <a:p>
            <a:pPr lvl="1"/>
            <a:r>
              <a:rPr lang="zh-CN" altLang="en-US" dirty="0"/>
              <a:t>常见算法：冒泡排序、快速排序</a:t>
            </a:r>
            <a:endParaRPr lang="en-US" altLang="zh-CN" dirty="0"/>
          </a:p>
          <a:p>
            <a:pPr lvl="1"/>
            <a:r>
              <a:rPr lang="zh-CN" altLang="en-US" dirty="0"/>
              <a:t>与插入排序（及选择排序）思想的区别：不需要维护一个有序表，而前者需要在插入新元素时保持有序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sp>
        <p:nvSpPr>
          <p:cNvPr id="3" name="内容占位符 2"/>
          <p:cNvSpPr>
            <a:spLocks noGrp="1"/>
          </p:cNvSpPr>
          <p:nvPr>
            <p:ph idx="1"/>
          </p:nvPr>
        </p:nvSpPr>
        <p:spPr/>
        <p:txBody>
          <a:bodyPr/>
          <a:lstStyle/>
          <a:p>
            <a:r>
              <a:rPr lang="en-US" altLang="zh-CN" dirty="0"/>
              <a:t>Bubble Sort</a:t>
            </a:r>
            <a:r>
              <a:rPr lang="zh-CN" altLang="en-US" dirty="0"/>
              <a:t>，又称起泡排序</a:t>
            </a:r>
            <a:endParaRPr lang="en-US" altLang="zh-CN" dirty="0"/>
          </a:p>
          <a:p>
            <a:pPr lvl="1"/>
            <a:r>
              <a:rPr lang="zh-CN" altLang="en-US" dirty="0"/>
              <a:t>基本思想：从上往下对相邻节点进行比较，键值较大的节点向下沉，键值较小节点往上浮。对于</a:t>
            </a:r>
            <a:r>
              <a:rPr lang="en-US" altLang="zh-CN" dirty="0"/>
              <a:t>n</a:t>
            </a:r>
            <a:r>
              <a:rPr lang="zh-CN" altLang="en-US" dirty="0"/>
              <a:t>个记录做</a:t>
            </a:r>
            <a:r>
              <a:rPr lang="en-US" altLang="zh-CN" dirty="0"/>
              <a:t>n-1</a:t>
            </a:r>
            <a:r>
              <a:rPr lang="zh-CN" altLang="en-US" dirty="0"/>
              <a:t>次循环（可以优化：如果其中某次循环没有发生节点交换，算法结束）</a:t>
            </a:r>
            <a:endParaRPr lang="en-US" altLang="zh-CN" dirty="0"/>
          </a:p>
          <a:p>
            <a:pPr lvl="1"/>
            <a:r>
              <a:rPr lang="zh-CN" altLang="en-US" dirty="0"/>
              <a:t>一趟冒泡：从后往前（或从前往后）两两⽐较相邻元素的值，若为逆序（即</a:t>
            </a:r>
            <a:r>
              <a:rPr lang="en-US" altLang="zh-CN" dirty="0"/>
              <a:t>A[i-1]&gt;A[</a:t>
            </a:r>
            <a:r>
              <a:rPr lang="en-US" altLang="zh-CN" dirty="0" err="1"/>
              <a:t>i</a:t>
            </a:r>
            <a:r>
              <a:rPr lang="en-US" altLang="zh-CN" dirty="0"/>
              <a:t>]</a:t>
            </a:r>
            <a:r>
              <a:rPr lang="zh-CN" altLang="en-US" dirty="0"/>
              <a:t>），则交换它们，直到序列比较完</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6" name="内容占位符 5"/>
          <p:cNvPicPr>
            <a:picLocks noGrp="1" noChangeAspect="1"/>
          </p:cNvPicPr>
          <p:nvPr>
            <p:ph sz="half" idx="1"/>
          </p:nvPr>
        </p:nvPicPr>
        <p:blipFill>
          <a:blip r:embed="rId2">
            <a:clrChange>
              <a:clrFrom>
                <a:srgbClr val="FFFFFF"/>
              </a:clrFrom>
              <a:clrTo>
                <a:srgbClr val="FFFFFF">
                  <a:alpha val="0"/>
                </a:srgbClr>
              </a:clrTo>
            </a:clrChange>
          </a:blip>
          <a:stretch>
            <a:fillRect/>
          </a:stretch>
        </p:blipFill>
        <p:spPr>
          <a:xfrm>
            <a:off x="1127448" y="1844824"/>
            <a:ext cx="5080000" cy="1712359"/>
          </a:xfrm>
          <a:prstGeom prst="rect">
            <a:avLst/>
          </a:prstGeom>
        </p:spPr>
      </p:pic>
      <p:pic>
        <p:nvPicPr>
          <p:cNvPr id="7" name="内容占位符 6"/>
          <p:cNvPicPr>
            <a:picLocks noGrp="1" noChangeAspect="1"/>
          </p:cNvPicPr>
          <p:nvPr>
            <p:ph sz="half" idx="2"/>
          </p:nvPr>
        </p:nvPicPr>
        <p:blipFill>
          <a:blip r:embed="rId3">
            <a:clrChange>
              <a:clrFrom>
                <a:srgbClr val="FFFFFF"/>
              </a:clrFrom>
              <a:clrTo>
                <a:srgbClr val="FFFFFF">
                  <a:alpha val="0"/>
                </a:srgbClr>
              </a:clrTo>
            </a:clrChange>
          </a:blip>
          <a:stretch>
            <a:fillRect/>
          </a:stretch>
        </p:blipFill>
        <p:spPr>
          <a:xfrm>
            <a:off x="1127448" y="4221088"/>
            <a:ext cx="5080000" cy="1685865"/>
          </a:xfrm>
          <a:prstGeom prst="rect">
            <a:avLst/>
          </a:prstGeom>
        </p:spPr>
      </p:pic>
      <p:pic>
        <p:nvPicPr>
          <p:cNvPr id="8" name="内容占位符 4"/>
          <p:cNvPicPr>
            <a:picLocks noChangeAspect="1"/>
          </p:cNvPicPr>
          <p:nvPr/>
        </p:nvPicPr>
        <p:blipFill>
          <a:blip r:embed="rId4">
            <a:clrChange>
              <a:clrFrom>
                <a:srgbClr val="FFFFFF"/>
              </a:clrFrom>
              <a:clrTo>
                <a:srgbClr val="FFFFFF">
                  <a:alpha val="0"/>
                </a:srgbClr>
              </a:clrTo>
            </a:clrChange>
          </a:blip>
          <a:stretch>
            <a:fillRect/>
          </a:stretch>
        </p:blipFill>
        <p:spPr bwMode="auto">
          <a:xfrm>
            <a:off x="6384032" y="1844824"/>
            <a:ext cx="5080000" cy="1724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内容占位符 6"/>
          <p:cNvPicPr>
            <a:picLocks noChangeAspect="1"/>
          </p:cNvPicPr>
          <p:nvPr/>
        </p:nvPicPr>
        <p:blipFill>
          <a:blip r:embed="rId5">
            <a:clrChange>
              <a:clrFrom>
                <a:srgbClr val="FFFFFF"/>
              </a:clrFrom>
              <a:clrTo>
                <a:srgbClr val="FFFFFF">
                  <a:alpha val="0"/>
                </a:srgbClr>
              </a:clrTo>
            </a:clrChange>
          </a:blip>
          <a:stretch>
            <a:fillRect/>
          </a:stretch>
        </p:blipFill>
        <p:spPr bwMode="auto">
          <a:xfrm>
            <a:off x="6456040" y="4235572"/>
            <a:ext cx="5080000" cy="1656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10" name="内容占位符 9"/>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1199456" y="4437112"/>
            <a:ext cx="5080000" cy="1606347"/>
          </a:xfrm>
          <a:prstGeom prst="rect">
            <a:avLst/>
          </a:prstGeom>
        </p:spPr>
      </p:pic>
      <p:pic>
        <p:nvPicPr>
          <p:cNvPr id="9" name="内容占位符 8"/>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199456" y="1988840"/>
            <a:ext cx="5080000" cy="1640962"/>
          </a:xfrm>
          <a:prstGeom prst="rect">
            <a:avLst/>
          </a:prstGeom>
        </p:spPr>
      </p:pic>
      <p:pic>
        <p:nvPicPr>
          <p:cNvPr id="11" name="内容占位符 4"/>
          <p:cNvPicPr>
            <a:picLocks noChangeAspect="1"/>
          </p:cNvPicPr>
          <p:nvPr/>
        </p:nvPicPr>
        <p:blipFill>
          <a:blip r:embed="rId4">
            <a:clrChange>
              <a:clrFrom>
                <a:srgbClr val="FFFFFF"/>
              </a:clrFrom>
              <a:clrTo>
                <a:srgbClr val="FFFFFF">
                  <a:alpha val="0"/>
                </a:srgbClr>
              </a:clrTo>
            </a:clrChange>
          </a:blip>
          <a:stretch>
            <a:fillRect/>
          </a:stretch>
        </p:blipFill>
        <p:spPr bwMode="auto">
          <a:xfrm>
            <a:off x="6528048" y="1936469"/>
            <a:ext cx="5080000" cy="1693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内容占位符 6"/>
          <p:cNvPicPr>
            <a:picLocks noChangeAspect="1"/>
          </p:cNvPicPr>
          <p:nvPr/>
        </p:nvPicPr>
        <p:blipFill>
          <a:blip r:embed="rId5">
            <a:clrChange>
              <a:clrFrom>
                <a:srgbClr val="FFFFFF"/>
              </a:clrFrom>
              <a:clrTo>
                <a:srgbClr val="FFFFFF">
                  <a:alpha val="0"/>
                </a:srgbClr>
              </a:clrTo>
            </a:clrChange>
          </a:blip>
          <a:stretch>
            <a:fillRect/>
          </a:stretch>
        </p:blipFill>
        <p:spPr bwMode="auto">
          <a:xfrm>
            <a:off x="6528048" y="4340593"/>
            <a:ext cx="5080000" cy="1670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10" name="内容占位符 9"/>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1055440" y="4725144"/>
            <a:ext cx="5080000" cy="1604210"/>
          </a:xfrm>
          <a:prstGeom prst="rect">
            <a:avLst/>
          </a:prstGeom>
        </p:spPr>
      </p:pic>
      <p:pic>
        <p:nvPicPr>
          <p:cNvPr id="9" name="内容占位符 8"/>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055440" y="2060848"/>
            <a:ext cx="5080000" cy="1652175"/>
          </a:xfrm>
          <a:prstGeom prst="rect">
            <a:avLst/>
          </a:prstGeom>
        </p:spPr>
      </p:pic>
      <p:pic>
        <p:nvPicPr>
          <p:cNvPr id="12" name="内容占位符 4"/>
          <p:cNvPicPr>
            <a:picLocks noChangeAspect="1"/>
          </p:cNvPicPr>
          <p:nvPr/>
        </p:nvPicPr>
        <p:blipFill>
          <a:blip r:embed="rId4">
            <a:clrChange>
              <a:clrFrom>
                <a:srgbClr val="FFFFFF"/>
              </a:clrFrom>
              <a:clrTo>
                <a:srgbClr val="FFFFFF">
                  <a:alpha val="0"/>
                </a:srgbClr>
              </a:clrTo>
            </a:clrChange>
          </a:blip>
          <a:stretch>
            <a:fillRect/>
          </a:stretch>
        </p:blipFill>
        <p:spPr bwMode="auto">
          <a:xfrm>
            <a:off x="6384032" y="2011842"/>
            <a:ext cx="5080000" cy="1701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内容占位符 5"/>
          <p:cNvPicPr>
            <a:picLocks noChangeAspect="1"/>
          </p:cNvPicPr>
          <p:nvPr/>
        </p:nvPicPr>
        <p:blipFill>
          <a:blip r:embed="rId5">
            <a:clrChange>
              <a:clrFrom>
                <a:srgbClr val="FFFFFF"/>
              </a:clrFrom>
              <a:clrTo>
                <a:srgbClr val="FFFFFF">
                  <a:alpha val="0"/>
                </a:srgbClr>
              </a:clrTo>
            </a:clrChange>
          </a:blip>
          <a:stretch>
            <a:fillRect/>
          </a:stretch>
        </p:blipFill>
        <p:spPr bwMode="auto">
          <a:xfrm>
            <a:off x="6312024" y="4725144"/>
            <a:ext cx="5080000" cy="166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10" name="内容占位符 9"/>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6384032" y="1628800"/>
            <a:ext cx="5080000" cy="1667396"/>
          </a:xfrm>
          <a:prstGeom prst="rect">
            <a:avLst/>
          </a:prstGeom>
        </p:spPr>
      </p:pic>
      <p:pic>
        <p:nvPicPr>
          <p:cNvPr id="9" name="内容占位符 8"/>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117600" y="3049293"/>
            <a:ext cx="5080000" cy="1826214"/>
          </a:xfrm>
          <a:prstGeom prst="rect">
            <a:avLst/>
          </a:prstGeom>
        </p:spPr>
      </p:pic>
      <p:pic>
        <p:nvPicPr>
          <p:cNvPr id="11" name="内容占位符 4"/>
          <p:cNvPicPr>
            <a:picLocks noChangeAspect="1"/>
          </p:cNvPicPr>
          <p:nvPr/>
        </p:nvPicPr>
        <p:blipFill>
          <a:blip r:embed="rId4">
            <a:clrChange>
              <a:clrFrom>
                <a:srgbClr val="FFFFFF"/>
              </a:clrFrom>
              <a:clrTo>
                <a:srgbClr val="FFFFFF">
                  <a:alpha val="0"/>
                </a:srgbClr>
              </a:clrTo>
            </a:clrChange>
          </a:blip>
          <a:stretch>
            <a:fillRect/>
          </a:stretch>
        </p:blipFill>
        <p:spPr bwMode="auto">
          <a:xfrm>
            <a:off x="6382193" y="3962400"/>
            <a:ext cx="5080000" cy="164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8" name="内容占位符 7"/>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1127448" y="4509120"/>
            <a:ext cx="5080000" cy="1750301"/>
          </a:xfrm>
          <a:prstGeom prst="rect">
            <a:avLst/>
          </a:prstGeom>
        </p:spPr>
      </p:pic>
      <p:pic>
        <p:nvPicPr>
          <p:cNvPr id="7" name="内容占位符 6"/>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127448" y="1916832"/>
            <a:ext cx="5080000" cy="1617374"/>
          </a:xfrm>
          <a:prstGeom prst="rect">
            <a:avLst/>
          </a:prstGeom>
        </p:spPr>
      </p:pic>
      <p:pic>
        <p:nvPicPr>
          <p:cNvPr id="9" name="内容占位符 4"/>
          <p:cNvPicPr>
            <a:picLocks noChangeAspect="1"/>
          </p:cNvPicPr>
          <p:nvPr/>
        </p:nvPicPr>
        <p:blipFill>
          <a:blip r:embed="rId4">
            <a:clrChange>
              <a:clrFrom>
                <a:srgbClr val="FFFFFF"/>
              </a:clrFrom>
              <a:clrTo>
                <a:srgbClr val="FFFFFF">
                  <a:alpha val="0"/>
                </a:srgbClr>
              </a:clrTo>
            </a:clrChange>
          </a:blip>
          <a:stretch>
            <a:fillRect/>
          </a:stretch>
        </p:blipFill>
        <p:spPr bwMode="auto">
          <a:xfrm>
            <a:off x="6528048" y="1916832"/>
            <a:ext cx="5080000" cy="1728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内容占位符 6"/>
          <p:cNvPicPr>
            <a:picLocks noChangeAspect="1"/>
          </p:cNvPicPr>
          <p:nvPr/>
        </p:nvPicPr>
        <p:blipFill>
          <a:blip r:embed="rId5">
            <a:clrChange>
              <a:clrFrom>
                <a:srgbClr val="FFFFFF"/>
              </a:clrFrom>
              <a:clrTo>
                <a:srgbClr val="FFFFFF">
                  <a:alpha val="0"/>
                </a:srgbClr>
              </a:clrTo>
            </a:clrChange>
          </a:blip>
          <a:stretch>
            <a:fillRect/>
          </a:stretch>
        </p:blipFill>
        <p:spPr bwMode="auto">
          <a:xfrm>
            <a:off x="6520943" y="4534148"/>
            <a:ext cx="5080000" cy="160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10" name="内容占位符 9"/>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1127448" y="4581128"/>
            <a:ext cx="5080000" cy="1613163"/>
          </a:xfrm>
          <a:prstGeom prst="rect">
            <a:avLst/>
          </a:prstGeom>
        </p:spPr>
      </p:pic>
      <p:pic>
        <p:nvPicPr>
          <p:cNvPr id="9" name="内容占位符 8"/>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127448" y="1916832"/>
            <a:ext cx="5080000" cy="1740699"/>
          </a:xfrm>
          <a:prstGeom prst="rect">
            <a:avLst/>
          </a:prstGeom>
        </p:spPr>
      </p:pic>
      <p:pic>
        <p:nvPicPr>
          <p:cNvPr id="11" name="内容占位符 4"/>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6384032" y="1930738"/>
            <a:ext cx="5080000" cy="1712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内容占位符 6"/>
          <p:cNvPicPr>
            <a:picLocks noChangeAspect="1"/>
          </p:cNvPicPr>
          <p:nvPr/>
        </p:nvPicPr>
        <p:blipFill>
          <a:blip r:embed="rId5">
            <a:clrChange>
              <a:clrFrom>
                <a:srgbClr val="FFFFFF"/>
              </a:clrFrom>
              <a:clrTo>
                <a:srgbClr val="FFFFFF">
                  <a:alpha val="0"/>
                </a:srgbClr>
              </a:clrTo>
            </a:clrChange>
          </a:blip>
          <a:stretch>
            <a:fillRect/>
          </a:stretch>
        </p:blipFill>
        <p:spPr bwMode="auto">
          <a:xfrm>
            <a:off x="6384032" y="4464623"/>
            <a:ext cx="5080000" cy="1695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10" name="内容占位符 9"/>
          <p:cNvPicPr>
            <a:picLocks noGrp="1" noChangeAspect="1"/>
          </p:cNvPicPr>
          <p:nvPr>
            <p:ph sz="half" idx="2"/>
          </p:nvPr>
        </p:nvPicPr>
        <p:blipFill>
          <a:blip r:embed="rId2">
            <a:clrChange>
              <a:clrFrom>
                <a:srgbClr val="FFFFFF"/>
              </a:clrFrom>
              <a:clrTo>
                <a:srgbClr val="FFFFFF">
                  <a:alpha val="0"/>
                </a:srgbClr>
              </a:clrTo>
            </a:clrChange>
          </a:blip>
          <a:stretch>
            <a:fillRect/>
          </a:stretch>
        </p:blipFill>
        <p:spPr>
          <a:xfrm>
            <a:off x="6400800" y="3138616"/>
            <a:ext cx="5080000" cy="1647567"/>
          </a:xfrm>
          <a:prstGeom prst="rect">
            <a:avLst/>
          </a:prstGeom>
        </p:spPr>
      </p:pic>
      <p:pic>
        <p:nvPicPr>
          <p:cNvPr id="9" name="内容占位符 8"/>
          <p:cNvPicPr>
            <a:picLocks noGrp="1" noChangeAspect="1"/>
          </p:cNvPicPr>
          <p:nvPr>
            <p:ph sz="half" idx="1"/>
          </p:nvPr>
        </p:nvPicPr>
        <p:blipFill>
          <a:blip r:embed="rId3">
            <a:clrChange>
              <a:clrFrom>
                <a:srgbClr val="FFFFFF"/>
              </a:clrFrom>
              <a:clrTo>
                <a:srgbClr val="FFFFFF">
                  <a:alpha val="0"/>
                </a:srgbClr>
              </a:clrTo>
            </a:clrChange>
          </a:blip>
          <a:stretch>
            <a:fillRect/>
          </a:stretch>
        </p:blipFill>
        <p:spPr>
          <a:xfrm>
            <a:off x="1117600" y="3126206"/>
            <a:ext cx="5080000" cy="16723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5" name="内容占位符 4"/>
          <p:cNvPicPr>
            <a:picLocks noGrp="1" noChangeAspect="1"/>
          </p:cNvPicPr>
          <p:nvPr>
            <p:ph sz="half" idx="1"/>
          </p:nvPr>
        </p:nvPicPr>
        <p:blipFill>
          <a:blip r:embed="rId2">
            <a:clrChange>
              <a:clrFrom>
                <a:srgbClr val="FFFFFF"/>
              </a:clrFrom>
              <a:clrTo>
                <a:srgbClr val="FFFFFF">
                  <a:alpha val="0"/>
                </a:srgbClr>
              </a:clrTo>
            </a:clrChange>
          </a:blip>
          <a:stretch>
            <a:fillRect/>
          </a:stretch>
        </p:blipFill>
        <p:spPr>
          <a:xfrm>
            <a:off x="1117600" y="3030418"/>
            <a:ext cx="5080000" cy="1863964"/>
          </a:xfrm>
          <a:prstGeom prst="rect">
            <a:avLst/>
          </a:prstGeom>
        </p:spPr>
      </p:pic>
      <p:pic>
        <p:nvPicPr>
          <p:cNvPr id="6" name="内容占位符 5"/>
          <p:cNvPicPr>
            <a:picLocks noGrp="1" noChangeAspect="1"/>
          </p:cNvPicPr>
          <p:nvPr>
            <p:ph sz="half" idx="2"/>
          </p:nvPr>
        </p:nvPicPr>
        <p:blipFill>
          <a:blip r:embed="rId3">
            <a:clrChange>
              <a:clrFrom>
                <a:srgbClr val="FFFFFF"/>
              </a:clrFrom>
              <a:clrTo>
                <a:srgbClr val="FFFFFF">
                  <a:alpha val="0"/>
                </a:srgbClr>
              </a:clrTo>
            </a:clrChange>
          </a:blip>
          <a:stretch>
            <a:fillRect/>
          </a:stretch>
        </p:blipFill>
        <p:spPr>
          <a:xfrm>
            <a:off x="6384032" y="3030418"/>
            <a:ext cx="5080000" cy="10719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5" name="内容占位符 4"/>
          <p:cNvPicPr>
            <a:picLocks noGrp="1" noChangeAspect="1"/>
          </p:cNvPicPr>
          <p:nvPr>
            <p:ph sz="half" idx="1"/>
          </p:nvPr>
        </p:nvPicPr>
        <p:blipFill>
          <a:blip r:embed="rId2">
            <a:clrChange>
              <a:clrFrom>
                <a:srgbClr val="FFFFFF"/>
              </a:clrFrom>
              <a:clrTo>
                <a:srgbClr val="FFFFFF">
                  <a:alpha val="0"/>
                </a:srgbClr>
              </a:clrTo>
            </a:clrChange>
          </a:blip>
          <a:stretch>
            <a:fillRect/>
          </a:stretch>
        </p:blipFill>
        <p:spPr>
          <a:xfrm>
            <a:off x="1117600" y="3121322"/>
            <a:ext cx="5080000" cy="1682156"/>
          </a:xfrm>
          <a:prstGeom prst="rect">
            <a:avLst/>
          </a:prstGeom>
        </p:spPr>
      </p:pic>
      <p:pic>
        <p:nvPicPr>
          <p:cNvPr id="6" name="内容占位符 5"/>
          <p:cNvPicPr>
            <a:picLocks noGrp="1" noChangeAspect="1"/>
          </p:cNvPicPr>
          <p:nvPr>
            <p:ph sz="half" idx="2"/>
          </p:nvPr>
        </p:nvPicPr>
        <p:blipFill>
          <a:blip r:embed="rId3">
            <a:clrChange>
              <a:clrFrom>
                <a:srgbClr val="FFFFFF"/>
              </a:clrFrom>
              <a:clrTo>
                <a:srgbClr val="FFFFFF">
                  <a:alpha val="0"/>
                </a:srgbClr>
              </a:clrTo>
            </a:clrChange>
          </a:blip>
          <a:stretch>
            <a:fillRect/>
          </a:stretch>
        </p:blipFill>
        <p:spPr>
          <a:xfrm>
            <a:off x="6400800" y="3056082"/>
            <a:ext cx="5080000" cy="18126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a:t>
            </a:r>
          </a:p>
        </p:txBody>
      </p:sp>
      <p:pic>
        <p:nvPicPr>
          <p:cNvPr id="6" name="内容占位符 5"/>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522412" y="2409825"/>
            <a:ext cx="9553575" cy="31051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冒泡排序实现</a:t>
            </a:r>
          </a:p>
        </p:txBody>
      </p:sp>
      <p:pic>
        <p:nvPicPr>
          <p:cNvPr id="5" name="内容占位符 4"/>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469728" y="1447800"/>
            <a:ext cx="9658944" cy="5029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398887" y="1556792"/>
            <a:ext cx="9800626" cy="48112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比较次数：最少</a:t>
                </a:r>
                <a:r>
                  <a:rPr lang="en-US" altLang="zh-CN" dirty="0"/>
                  <a:t>n-1</a:t>
                </a:r>
                <a:r>
                  <a:rPr lang="zh-CN" altLang="en-US" dirty="0"/>
                  <a:t>，最多</a:t>
                </a:r>
                <a:r>
                  <a:rPr lang="en-US" altLang="zh-CN" dirty="0"/>
                  <a:t>n(n-1)/2</a:t>
                </a:r>
                <a:r>
                  <a:rPr lang="zh-CN" altLang="en-US" dirty="0"/>
                  <a:t>，平均</a:t>
                </a:r>
                <a14:m>
                  <m:oMath xmlns:m="http://schemas.openxmlformats.org/officeDocument/2006/math">
                    <m:r>
                      <a:rPr lang="en-US" altLang="zh-CN" i="1" dirty="0" smtClean="0">
                        <a:latin typeface="Cambria Math" panose="02040503050406030204" pitchFamily="18" charset="0"/>
                      </a:rPr>
                      <m:t>𝑂</m:t>
                    </m:r>
                    <m:d>
                      <m:dPr>
                        <m:ctrlPr>
                          <a:rPr lang="en-US" altLang="zh-CN" i="1" dirty="0" smtClean="0">
                            <a:latin typeface="Cambria Math" panose="02040503050406030204" pitchFamily="18" charset="0"/>
                          </a:rPr>
                        </m:ctrlPr>
                      </m:dPr>
                      <m:e>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𝑁</m:t>
                            </m:r>
                          </m:e>
                          <m:sup>
                            <m:r>
                              <a:rPr lang="en-US" altLang="zh-CN" i="1" dirty="0" smtClean="0">
                                <a:latin typeface="Cambria Math" panose="02040503050406030204" pitchFamily="18" charset="0"/>
                              </a:rPr>
                              <m:t>2</m:t>
                            </m:r>
                          </m:sup>
                        </m:sSup>
                      </m:e>
                    </m:d>
                  </m:oMath>
                </a14:m>
                <a:endParaRPr lang="en-US" altLang="zh-CN" dirty="0"/>
              </a:p>
              <a:p>
                <a:endParaRPr lang="en-US" altLang="zh-CN" dirty="0"/>
              </a:p>
              <a:p>
                <a:r>
                  <a:rPr lang="zh-CN" altLang="en-US" dirty="0"/>
                  <a:t>移动次数：最少</a:t>
                </a:r>
                <a:r>
                  <a:rPr lang="en-US" altLang="zh-CN" dirty="0"/>
                  <a:t>0</a:t>
                </a:r>
                <a:r>
                  <a:rPr lang="zh-CN" altLang="en-US" dirty="0"/>
                  <a:t>，最多</a:t>
                </a:r>
                <a:r>
                  <a:rPr lang="en-US" altLang="zh-CN" dirty="0"/>
                  <a:t>n(n-1)/2</a:t>
                </a:r>
                <a:r>
                  <a:rPr lang="zh-CN" altLang="en-US" dirty="0"/>
                  <a:t>，平均</a:t>
                </a:r>
                <a14:m>
                  <m:oMath xmlns:m="http://schemas.openxmlformats.org/officeDocument/2006/math">
                    <m:r>
                      <a:rPr lang="en-US" altLang="zh-CN" i="1" dirty="0" smtClean="0">
                        <a:latin typeface="Cambria Math" panose="02040503050406030204" pitchFamily="18" charset="0"/>
                      </a:rPr>
                      <m:t>𝑂</m:t>
                    </m:r>
                    <m:d>
                      <m:dPr>
                        <m:ctrlPr>
                          <a:rPr lang="en-US" altLang="zh-CN" i="1" dirty="0" smtClean="0">
                            <a:latin typeface="Cambria Math" panose="02040503050406030204" pitchFamily="18" charset="0"/>
                          </a:rPr>
                        </m:ctrlPr>
                      </m:dPr>
                      <m:e>
                        <m:sSup>
                          <m:sSupPr>
                            <m:ctrlPr>
                              <a:rPr lang="en-US" altLang="zh-CN" i="1" dirty="0" smtClean="0">
                                <a:latin typeface="Cambria Math" panose="02040503050406030204" pitchFamily="18" charset="0"/>
                              </a:rPr>
                            </m:ctrlPr>
                          </m:sSupPr>
                          <m:e>
                            <m:r>
                              <a:rPr lang="en-US" altLang="zh-CN" i="1" dirty="0" smtClean="0">
                                <a:latin typeface="Cambria Math" panose="02040503050406030204" pitchFamily="18" charset="0"/>
                              </a:rPr>
                              <m:t>𝑁</m:t>
                            </m:r>
                          </m:e>
                          <m:sup>
                            <m:r>
                              <a:rPr lang="en-US" altLang="zh-CN" i="1" dirty="0" smtClean="0">
                                <a:latin typeface="Cambria Math" panose="02040503050406030204" pitchFamily="18" charset="0"/>
                              </a:rPr>
                              <m:t>2</m:t>
                            </m:r>
                          </m:sup>
                        </m:sSup>
                      </m:e>
                    </m:d>
                  </m:oMath>
                </a14:m>
                <a:endParaRPr lang="en-US" altLang="zh-CN" dirty="0"/>
              </a:p>
              <a:p>
                <a:endParaRPr lang="en-US" altLang="zh-CN" dirty="0"/>
              </a:p>
              <a:p>
                <a:r>
                  <a:rPr lang="zh-CN" altLang="en-US" dirty="0"/>
                  <a:t>稳定性：稳定</a:t>
                </a:r>
                <a:endParaRPr lang="en-US" altLang="zh-CN" dirty="0"/>
              </a:p>
              <a:p>
                <a:endParaRPr lang="en-US" altLang="zh-CN" dirty="0"/>
              </a:p>
              <a:p>
                <a:r>
                  <a:rPr lang="zh-CN" altLang="en-US" dirty="0"/>
                  <a:t>适应性：适用于链表</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41" t="-1630"/>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812800" y="1518359"/>
            <a:ext cx="10972800" cy="48880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p>
        </p:txBody>
      </p:sp>
      <p:sp>
        <p:nvSpPr>
          <p:cNvPr id="3" name="内容占位符 2"/>
          <p:cNvSpPr>
            <a:spLocks noGrp="1"/>
          </p:cNvSpPr>
          <p:nvPr>
            <p:ph idx="1"/>
          </p:nvPr>
        </p:nvSpPr>
        <p:spPr/>
        <p:txBody>
          <a:bodyPr/>
          <a:lstStyle/>
          <a:p>
            <a:r>
              <a:rPr lang="zh-CN" altLang="en-US" dirty="0"/>
              <a:t>已知节点序列</a:t>
            </a:r>
            <a:r>
              <a:rPr lang="en-US" altLang="zh-CN" dirty="0"/>
              <a:t>(49,38,65,97,76,27,13,50)</a:t>
            </a:r>
            <a:r>
              <a:rPr lang="zh-CN" altLang="en-US" dirty="0"/>
              <a:t>，请给出冒泡排序的前三步结果</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0500" name="Rectangle 4"/>
          <p:cNvSpPr>
            <a:spLocks noGrp="1" noChangeArrowheads="1"/>
          </p:cNvSpPr>
          <p:nvPr>
            <p:ph type="ctrTitle"/>
          </p:nvPr>
        </p:nvSpPr>
        <p:spPr/>
        <p:txBody>
          <a:bodyPr/>
          <a:lstStyle/>
          <a:p>
            <a:r>
              <a:rPr lang="en-US" altLang="zh-CN" dirty="0"/>
              <a:t>Part II</a:t>
            </a:r>
          </a:p>
        </p:txBody>
      </p:sp>
      <p:sp>
        <p:nvSpPr>
          <p:cNvPr id="1130501" name="Rectangle 5" descr="Rectangle: Click to edit Master text styles&#10;Second level&#10;Third level&#10;Fourth level&#10;Fifth level"/>
          <p:cNvSpPr>
            <a:spLocks noGrp="1" noChangeArrowheads="1"/>
          </p:cNvSpPr>
          <p:nvPr>
            <p:ph type="subTitle" idx="1"/>
          </p:nvPr>
        </p:nvSpPr>
        <p:spPr/>
        <p:txBody>
          <a:bodyPr/>
          <a:lstStyle/>
          <a:p>
            <a:r>
              <a:rPr lang="zh-CN" altLang="en-US" dirty="0">
                <a:highlight>
                  <a:srgbClr val="FFFF00"/>
                </a:highlight>
              </a:rPr>
              <a:t>快速排序</a:t>
            </a:r>
          </a:p>
        </p:txBody>
      </p:sp>
      <p:sp>
        <p:nvSpPr>
          <p:cNvPr id="2" name="文本框 1"/>
          <p:cNvSpPr txBox="1"/>
          <p:nvPr/>
        </p:nvSpPr>
        <p:spPr>
          <a:xfrm>
            <a:off x="5087620" y="769620"/>
            <a:ext cx="4064000" cy="768350"/>
          </a:xfrm>
          <a:prstGeom prst="rect">
            <a:avLst/>
          </a:prstGeom>
          <a:noFill/>
        </p:spPr>
        <p:txBody>
          <a:bodyPr wrap="square" rtlCol="0">
            <a:spAutoFit/>
          </a:bodyPr>
          <a:lstStyle/>
          <a:p>
            <a:r>
              <a:rPr lang="en-US" altLang="zh-CN" sz="4400">
                <a:highlight>
                  <a:srgbClr val="FFFF00"/>
                </a:highlight>
              </a:rPr>
              <a:t>  </a:t>
            </a:r>
            <a:r>
              <a:rPr lang="zh-CN" altLang="en-US" sz="4400">
                <a:highlight>
                  <a:srgbClr val="FFFF00"/>
                </a:highlight>
              </a:rPr>
              <a:t>重要</a:t>
            </a:r>
            <a:r>
              <a:rPr lang="en-US" altLang="zh-CN" sz="4400">
                <a:highlight>
                  <a:srgbClr val="FFFF00"/>
                </a:highlight>
              </a:rPr>
              <a:t>     &amp;</a:t>
            </a:r>
            <a:r>
              <a:rPr lang="zh-CN" altLang="en-US" sz="4400">
                <a:highlight>
                  <a:srgbClr val="FFFF00"/>
                </a:highlight>
              </a:rPr>
              <a:t>堆！</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快速排序</a:t>
            </a:r>
          </a:p>
        </p:txBody>
      </p:sp>
      <p:sp>
        <p:nvSpPr>
          <p:cNvPr id="3" name="内容占位符 2"/>
          <p:cNvSpPr>
            <a:spLocks noGrp="1"/>
          </p:cNvSpPr>
          <p:nvPr>
            <p:ph idx="1"/>
          </p:nvPr>
        </p:nvSpPr>
        <p:spPr/>
        <p:txBody>
          <a:bodyPr/>
          <a:lstStyle/>
          <a:p>
            <a:r>
              <a:rPr lang="en-US" altLang="zh-CN" dirty="0"/>
              <a:t>Quick Sort</a:t>
            </a:r>
            <a:r>
              <a:rPr lang="zh-CN" altLang="en-US" dirty="0"/>
              <a:t>，又称为分区排序</a:t>
            </a:r>
            <a:endParaRPr lang="en-US" altLang="zh-CN" dirty="0"/>
          </a:p>
          <a:p>
            <a:pPr lvl="1"/>
            <a:r>
              <a:rPr lang="en-US" altLang="zh-CN" dirty="0"/>
              <a:t>1962</a:t>
            </a:r>
            <a:r>
              <a:rPr lang="zh-CN" altLang="en-US" dirty="0"/>
              <a:t>年，</a:t>
            </a:r>
            <a:r>
              <a:rPr lang="en-US" altLang="zh-CN" dirty="0"/>
              <a:t>C. A. R. Hoare</a:t>
            </a:r>
            <a:r>
              <a:rPr lang="zh-CN" altLang="en-US" dirty="0"/>
              <a:t>发明，分治（</a:t>
            </a:r>
            <a:r>
              <a:rPr lang="en-US" altLang="zh-CN" dirty="0"/>
              <a:t>divide and conquer</a:t>
            </a:r>
            <a:r>
              <a:rPr lang="zh-CN" altLang="en-US" dirty="0"/>
              <a:t>）思想的体现</a:t>
            </a:r>
            <a:endParaRPr lang="en-US" altLang="zh-CN" dirty="0"/>
          </a:p>
          <a:p>
            <a:pPr lvl="1"/>
            <a:r>
              <a:rPr lang="zh-CN" altLang="en-US" dirty="0"/>
              <a:t>目前应用最广泛的排序算法</a:t>
            </a:r>
            <a:endParaRPr lang="en-US" altLang="zh-CN" dirty="0"/>
          </a:p>
          <a:p>
            <a:pPr lvl="2"/>
            <a:r>
              <a:rPr lang="en-US" altLang="zh-CN" dirty="0"/>
              <a:t>Unix</a:t>
            </a:r>
            <a:r>
              <a:rPr lang="zh-CN" altLang="en-US" dirty="0"/>
              <a:t>系统函数库所提供的标准排序方法</a:t>
            </a:r>
            <a:endParaRPr lang="en-US" altLang="zh-CN" dirty="0"/>
          </a:p>
          <a:p>
            <a:pPr lvl="2"/>
            <a:r>
              <a:rPr lang="en-US" altLang="zh-CN" dirty="0"/>
              <a:t>C</a:t>
            </a:r>
            <a:r>
              <a:rPr lang="zh-CN" altLang="en-US" dirty="0"/>
              <a:t>标准函数库和</a:t>
            </a:r>
            <a:r>
              <a:rPr lang="en-US" altLang="zh-CN" dirty="0"/>
              <a:t>C++</a:t>
            </a:r>
            <a:r>
              <a:rPr lang="zh-CN" altLang="en-US" dirty="0"/>
              <a:t>标准类库中的排序方法直接就命名为</a:t>
            </a:r>
            <a:r>
              <a:rPr lang="en-US" altLang="zh-CN" dirty="0" err="1"/>
              <a:t>qsort</a:t>
            </a:r>
            <a:endParaRPr lang="en-US" altLang="zh-CN" dirty="0"/>
          </a:p>
          <a:p>
            <a:pPr lvl="2"/>
            <a:r>
              <a:rPr lang="zh-CN" altLang="en-US" dirty="0"/>
              <a:t>最基本算法，在大部分计算机上都比其他算法快，空间占用小</a:t>
            </a:r>
            <a:endParaRPr lang="en-US" altLang="zh-CN" dirty="0"/>
          </a:p>
          <a:p>
            <a:pPr lvl="1"/>
            <a:r>
              <a:rPr lang="zh-CN" altLang="en-US" dirty="0"/>
              <a:t>基本思想：将待排序序列中某个对象作为基准，将序列分为前后两个部分，前面部分均比基准小，后面均比基准大，再递归处理</a:t>
            </a:r>
            <a:endParaRPr lang="en-US" altLang="zh-CN" dirty="0"/>
          </a:p>
          <a:p>
            <a:pPr lvl="2"/>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快速排序</a:t>
            </a:r>
          </a:p>
        </p:txBody>
      </p:sp>
      <p:sp>
        <p:nvSpPr>
          <p:cNvPr id="3" name="内容占位符 2"/>
          <p:cNvSpPr>
            <a:spLocks noGrp="1"/>
          </p:cNvSpPr>
          <p:nvPr>
            <p:ph idx="1"/>
          </p:nvPr>
        </p:nvSpPr>
        <p:spPr/>
        <p:txBody>
          <a:bodyPr/>
          <a:lstStyle/>
          <a:p>
            <a:r>
              <a:rPr lang="zh-CN" altLang="en-US" dirty="0"/>
              <a:t>基本概念</a:t>
            </a:r>
            <a:endParaRPr lang="en-US" altLang="zh-CN" dirty="0"/>
          </a:p>
          <a:p>
            <a:pPr lvl="1"/>
            <a:r>
              <a:rPr lang="zh-CN" altLang="en-US" b="1" dirty="0"/>
              <a:t>轴值</a:t>
            </a:r>
            <a:r>
              <a:rPr lang="en-US" altLang="zh-CN" b="1" dirty="0"/>
              <a:t>(pivot)</a:t>
            </a:r>
            <a:r>
              <a:rPr lang="zh-CN" altLang="en-US" b="1" dirty="0"/>
              <a:t>：</a:t>
            </a:r>
            <a:r>
              <a:rPr lang="zh-CN" altLang="en-US" dirty="0"/>
              <a:t>用于将序列“分割”为两个部分的那个基准键值</a:t>
            </a:r>
          </a:p>
          <a:p>
            <a:pPr lvl="1"/>
            <a:r>
              <a:rPr lang="zh-CN" altLang="en-US" b="1" dirty="0"/>
              <a:t>分割</a:t>
            </a:r>
            <a:r>
              <a:rPr lang="en-US" altLang="zh-CN" b="1" dirty="0"/>
              <a:t>(partition)</a:t>
            </a:r>
            <a:r>
              <a:rPr lang="zh-CN" altLang="en-US" b="1" dirty="0"/>
              <a:t>：</a:t>
            </a:r>
            <a:r>
              <a:rPr lang="zh-CN" altLang="en-US" dirty="0"/>
              <a:t>将序列分为前后两个部分，前面部分的关键字都比轴值小，后面部分的关键字都比轴值大</a:t>
            </a:r>
          </a:p>
          <a:p>
            <a:endParaRPr lang="zh-CN" altLang="en-US" dirty="0"/>
          </a:p>
        </p:txBody>
      </p:sp>
      <p:pic>
        <p:nvPicPr>
          <p:cNvPr id="4" name="Picture 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43673" y="3745957"/>
            <a:ext cx="6311054" cy="282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快速排序</a:t>
            </a:r>
          </a:p>
        </p:txBody>
      </p:sp>
      <p:sp>
        <p:nvSpPr>
          <p:cNvPr id="5" name="内容占位符 4"/>
          <p:cNvSpPr>
            <a:spLocks noGrp="1"/>
          </p:cNvSpPr>
          <p:nvPr>
            <p:ph sz="half" idx="1"/>
          </p:nvPr>
        </p:nvSpPr>
        <p:spPr/>
        <p:txBody>
          <a:bodyPr/>
          <a:lstStyle/>
          <a:p>
            <a:pPr algn="l"/>
            <a:r>
              <a:rPr lang="zh-CN" altLang="en-US" dirty="0"/>
              <a:t>口诀：</a:t>
            </a:r>
            <a:br>
              <a:rPr lang="en-US" altLang="zh-CN" dirty="0"/>
            </a:br>
            <a:r>
              <a:rPr lang="zh-CN" altLang="en-US" dirty="0"/>
              <a:t>前面有空格，从后往前看</a:t>
            </a:r>
            <a:br>
              <a:rPr lang="en-US" altLang="zh-CN" dirty="0"/>
            </a:br>
            <a:r>
              <a:rPr lang="zh-CN" altLang="en-US" dirty="0"/>
              <a:t>后面有空格，从前往后看</a:t>
            </a:r>
          </a:p>
        </p:txBody>
      </p:sp>
      <p:pic>
        <p:nvPicPr>
          <p:cNvPr id="6" name="内容占位符 3"/>
          <p:cNvPicPr>
            <a:picLocks noGrp="1" noChangeAspect="1"/>
          </p:cNvPicPr>
          <p:nvPr>
            <p:ph sz="half" idx="2"/>
          </p:nvPr>
        </p:nvPicPr>
        <p:blipFill>
          <a:blip r:embed="rId2"/>
          <a:stretch>
            <a:fillRect/>
          </a:stretch>
        </p:blipFill>
        <p:spPr>
          <a:xfrm>
            <a:off x="6465894" y="1905000"/>
            <a:ext cx="4949812" cy="4114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66"/>
                </a:solidFill>
                <a:highlight>
                  <a:srgbClr val="FFFF00"/>
                </a:highlight>
              </a:rPr>
              <a:t>快速排序的实现</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647639" y="2204864"/>
            <a:ext cx="11555222" cy="3346402"/>
          </a:xfrm>
          <a:prstGeom prst="rect">
            <a:avLst/>
          </a:prstGeom>
        </p:spPr>
      </p:pic>
      <p:sp>
        <p:nvSpPr>
          <p:cNvPr id="3" name="矩形 2">
            <a:extLst>
              <a:ext uri="{FF2B5EF4-FFF2-40B4-BE49-F238E27FC236}">
                <a16:creationId xmlns:a16="http://schemas.microsoft.com/office/drawing/2014/main" id="{C17661EE-8273-4FA9-A8F3-D4A3F68BC256}"/>
              </a:ext>
            </a:extLst>
          </p:cNvPr>
          <p:cNvSpPr/>
          <p:nvPr/>
        </p:nvSpPr>
        <p:spPr>
          <a:xfrm>
            <a:off x="191344" y="5373216"/>
            <a:ext cx="8352928" cy="1323439"/>
          </a:xfrm>
          <a:prstGeom prst="rect">
            <a:avLst/>
          </a:prstGeom>
        </p:spPr>
        <p:txBody>
          <a:bodyPr wrap="square">
            <a:spAutoFit/>
          </a:bodyPr>
          <a:lstStyle/>
          <a:p>
            <a:r>
              <a:rPr lang="zh-CN" altLang="en-US" sz="2000" dirty="0">
                <a:solidFill>
                  <a:srgbClr val="00B050"/>
                </a:solidFill>
              </a:rPr>
              <a:t>使用两个指针 </a:t>
            </a:r>
            <a:r>
              <a:rPr lang="en-US" altLang="zh-CN" sz="2000" dirty="0">
                <a:solidFill>
                  <a:srgbClr val="00B050"/>
                </a:solidFill>
              </a:rPr>
              <a:t>low </a:t>
            </a:r>
            <a:r>
              <a:rPr lang="zh-CN" altLang="en-US" sz="2000" dirty="0">
                <a:solidFill>
                  <a:srgbClr val="00B050"/>
                </a:solidFill>
              </a:rPr>
              <a:t>和 </a:t>
            </a:r>
            <a:r>
              <a:rPr lang="en-US" altLang="zh-CN" sz="2000" dirty="0">
                <a:solidFill>
                  <a:srgbClr val="00B050"/>
                </a:solidFill>
              </a:rPr>
              <a:t>high</a:t>
            </a:r>
            <a:r>
              <a:rPr lang="zh-CN" altLang="en-US" sz="2000" dirty="0">
                <a:solidFill>
                  <a:srgbClr val="00B050"/>
                </a:solidFill>
              </a:rPr>
              <a:t>，从两端向中间扫描，寻找枢轴的最终位置。</a:t>
            </a:r>
            <a:endParaRPr lang="en-US" altLang="zh-CN" sz="2000" dirty="0">
              <a:solidFill>
                <a:srgbClr val="00B050"/>
              </a:solidFill>
            </a:endParaRPr>
          </a:p>
          <a:p>
            <a:r>
              <a:rPr lang="zh-CN" altLang="en-US" sz="2000" dirty="0">
                <a:solidFill>
                  <a:srgbClr val="00B050"/>
                </a:solidFill>
              </a:rPr>
              <a:t>从右向左找第一个小于枢轴的元素，并将它放到左端空位。</a:t>
            </a:r>
            <a:endParaRPr lang="en-US" altLang="zh-CN" sz="2000" dirty="0">
              <a:solidFill>
                <a:srgbClr val="00B050"/>
              </a:solidFill>
            </a:endParaRPr>
          </a:p>
          <a:p>
            <a:r>
              <a:rPr lang="zh-CN" altLang="en-US" sz="2000" dirty="0">
                <a:solidFill>
                  <a:srgbClr val="00B050"/>
                </a:solidFill>
              </a:rPr>
              <a:t>从左向右找第一个大于枢轴的元素，并将它放到右端空位。</a:t>
            </a:r>
            <a:endParaRPr lang="en-US" altLang="zh-CN" sz="2000" dirty="0">
              <a:solidFill>
                <a:srgbClr val="00B050"/>
              </a:solidFill>
            </a:endParaRPr>
          </a:p>
          <a:p>
            <a:r>
              <a:rPr lang="zh-CN" altLang="en-US" sz="2000" dirty="0">
                <a:solidFill>
                  <a:srgbClr val="00B050"/>
                </a:solidFill>
              </a:rPr>
              <a:t>当 </a:t>
            </a:r>
            <a:r>
              <a:rPr lang="en-US" altLang="zh-CN" sz="2000" dirty="0">
                <a:solidFill>
                  <a:srgbClr val="00B050"/>
                </a:solidFill>
              </a:rPr>
              <a:t>low == high </a:t>
            </a:r>
            <a:r>
              <a:rPr lang="zh-CN" altLang="en-US" sz="2000" dirty="0">
                <a:solidFill>
                  <a:srgbClr val="00B050"/>
                </a:solidFill>
              </a:rPr>
              <a:t>时，将枢轴放入该位置，此位置即为枢轴的最终位置。</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559496" y="1538615"/>
            <a:ext cx="9479408" cy="48475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343472" y="1535946"/>
            <a:ext cx="10081120" cy="484538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052429" y="1556792"/>
            <a:ext cx="10493542" cy="481121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222102" y="1556792"/>
            <a:ext cx="10154196" cy="481121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1238171" y="1556792"/>
            <a:ext cx="10122058" cy="481121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2008751" y="1556792"/>
            <a:ext cx="8580898" cy="481121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算法性能分析</a:t>
            </a:r>
          </a:p>
        </p:txBody>
      </p:sp>
      <p:sp>
        <p:nvSpPr>
          <p:cNvPr id="3" name="内容占位符 2"/>
          <p:cNvSpPr>
            <a:spLocks noGrp="1"/>
          </p:cNvSpPr>
          <p:nvPr>
            <p:ph idx="1"/>
          </p:nvPr>
        </p:nvSpPr>
        <p:spPr/>
        <p:txBody>
          <a:bodyPr/>
          <a:lstStyle/>
          <a:p>
            <a:r>
              <a:rPr lang="zh-CN" altLang="en-US" dirty="0"/>
              <a:t>比较次数</a:t>
            </a:r>
            <a:endParaRPr lang="en-US" altLang="zh-CN" dirty="0"/>
          </a:p>
          <a:p>
            <a:pPr lvl="1"/>
            <a:r>
              <a:rPr lang="zh-CN" altLang="en-US" dirty="0"/>
              <a:t>最差情况：轴值每次都把数组分为</a:t>
            </a:r>
            <a:r>
              <a:rPr lang="en-US" altLang="zh-CN" dirty="0"/>
              <a:t>0</a:t>
            </a:r>
            <a:r>
              <a:rPr lang="zh-CN" altLang="en-US" dirty="0"/>
              <a:t>和</a:t>
            </a:r>
            <a:r>
              <a:rPr lang="en-US" altLang="zh-CN" dirty="0"/>
              <a:t>i-1</a:t>
            </a:r>
            <a:r>
              <a:rPr lang="zh-CN" altLang="en-US" dirty="0"/>
              <a:t>个两部分（当数组已经按关键字排好序时会出现），此时将退化为冒泡排序，</a:t>
            </a:r>
            <a:r>
              <a:rPr lang="en-US" altLang="zh-CN" dirty="0"/>
              <a:t>O(n</a:t>
            </a:r>
            <a:r>
              <a:rPr lang="en-US" altLang="zh-CN" baseline="30000" dirty="0"/>
              <a:t>2</a:t>
            </a:r>
            <a:r>
              <a:rPr lang="en-US" altLang="zh-CN" dirty="0"/>
              <a:t>)</a:t>
            </a:r>
          </a:p>
          <a:p>
            <a:pPr lvl="1"/>
            <a:r>
              <a:rPr lang="zh-CN" altLang="en-US" dirty="0"/>
              <a:t>最佳情况：轴值每次把数组等分，此时为</a:t>
            </a:r>
            <a:r>
              <a:rPr lang="en-US" altLang="zh-CN" dirty="0"/>
              <a:t>O(</a:t>
            </a:r>
            <a:r>
              <a:rPr lang="en-US" altLang="zh-CN" dirty="0" err="1"/>
              <a:t>nlogn</a:t>
            </a:r>
            <a:r>
              <a:rPr lang="en-US" altLang="zh-CN" dirty="0"/>
              <a:t>)</a:t>
            </a:r>
          </a:p>
          <a:p>
            <a:pPr lvl="1"/>
            <a:r>
              <a:rPr lang="zh-CN" altLang="en-US" dirty="0"/>
              <a:t>平均：</a:t>
            </a:r>
            <a:r>
              <a:rPr lang="en-US" altLang="zh-CN" dirty="0"/>
              <a:t> O(</a:t>
            </a:r>
            <a:r>
              <a:rPr lang="en-US" altLang="zh-CN" dirty="0" err="1"/>
              <a:t>nlogn</a:t>
            </a:r>
            <a:r>
              <a:rPr lang="en-US" altLang="zh-CN" dirty="0"/>
              <a:t>)</a:t>
            </a:r>
          </a:p>
          <a:p>
            <a:r>
              <a:rPr lang="zh-CN" altLang="en-US" dirty="0"/>
              <a:t>移动：类似于比较次数的分析</a:t>
            </a:r>
          </a:p>
          <a:p>
            <a:r>
              <a:rPr lang="zh-CN" altLang="en-US" dirty="0">
                <a:highlight>
                  <a:srgbClr val="FFFF00"/>
                </a:highlight>
              </a:rPr>
              <a:t>稳定性：不稳定</a:t>
            </a:r>
            <a:endParaRPr lang="en-US" altLang="zh-CN" dirty="0">
              <a:highlight>
                <a:srgbClr val="FFFF00"/>
              </a:highlight>
            </a:endParaRPr>
          </a:p>
          <a:p>
            <a:r>
              <a:rPr lang="zh-CN" altLang="en-US" dirty="0"/>
              <a:t>适应性</a:t>
            </a:r>
            <a:r>
              <a:rPr lang="zh-CN" altLang="en-US"/>
              <a:t>：适用于链表</a:t>
            </a:r>
            <a:endParaRPr lang="zh-CN" altLang="en-US" dirty="0"/>
          </a:p>
          <a:p>
            <a:endParaRPr lang="zh-CN" altLang="en-US" dirty="0"/>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4871865" y="4634748"/>
            <a:ext cx="7320136" cy="189431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快速排序算法的改进</a:t>
            </a:r>
          </a:p>
        </p:txBody>
      </p:sp>
      <p:sp>
        <p:nvSpPr>
          <p:cNvPr id="3" name="内容占位符 2"/>
          <p:cNvSpPr>
            <a:spLocks noGrp="1"/>
          </p:cNvSpPr>
          <p:nvPr>
            <p:ph idx="1"/>
          </p:nvPr>
        </p:nvSpPr>
        <p:spPr/>
        <p:txBody>
          <a:bodyPr/>
          <a:lstStyle/>
          <a:p>
            <a:r>
              <a:rPr lang="zh-CN" altLang="en-US" dirty="0"/>
              <a:t>对轴值选取方法的改进</a:t>
            </a:r>
            <a:endParaRPr lang="en-US" altLang="zh-CN" dirty="0"/>
          </a:p>
          <a:p>
            <a:pPr lvl="1"/>
            <a:r>
              <a:rPr lang="zh-CN" altLang="en-US" dirty="0"/>
              <a:t>随机法</a:t>
            </a:r>
          </a:p>
          <a:p>
            <a:pPr lvl="1"/>
            <a:r>
              <a:rPr lang="zh-CN" altLang="en-US" dirty="0"/>
              <a:t>首尾数取中法</a:t>
            </a:r>
          </a:p>
          <a:p>
            <a:pPr lvl="1"/>
            <a:r>
              <a:rPr lang="zh-CN" altLang="en-US" dirty="0"/>
              <a:t>三者取中法：首尾数，中数三者取中</a:t>
            </a:r>
          </a:p>
          <a:p>
            <a:r>
              <a:rPr lang="zh-CN" altLang="en-US" dirty="0"/>
              <a:t>对分治法改进</a:t>
            </a:r>
            <a:endParaRPr lang="en-US" altLang="zh-CN" dirty="0"/>
          </a:p>
          <a:p>
            <a:pPr lvl="1"/>
            <a:r>
              <a:rPr lang="zh-CN" altLang="en-US" dirty="0"/>
              <a:t>当数组长度减小至</a:t>
            </a:r>
            <a:r>
              <a:rPr lang="en-US" altLang="zh-CN" dirty="0"/>
              <a:t>9</a:t>
            </a:r>
            <a:r>
              <a:rPr lang="zh-CN" altLang="en-US" dirty="0"/>
              <a:t>或更小时，改为插入排序</a:t>
            </a:r>
          </a:p>
          <a:p>
            <a:pPr lvl="1"/>
            <a:r>
              <a:rPr lang="zh-CN" altLang="en-US" dirty="0"/>
              <a:t>避免对小数组继续递归，减少函数调用数</a:t>
            </a:r>
          </a:p>
          <a:p>
            <a:r>
              <a:rPr lang="zh-CN" altLang="en-US" dirty="0"/>
              <a:t>用栈替代递归</a:t>
            </a:r>
            <a:endParaRPr lang="en-US" altLang="zh-CN" dirty="0"/>
          </a:p>
          <a:p>
            <a:pPr lvl="1"/>
            <a:r>
              <a:rPr lang="zh-CN" altLang="en-US" dirty="0"/>
              <a:t>算法过于复杂，且当已经改进分治法时效果不明显</a:t>
            </a:r>
          </a:p>
          <a:p>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快速排序算法的改进</a:t>
            </a:r>
          </a:p>
        </p:txBody>
      </p:sp>
      <p:sp>
        <p:nvSpPr>
          <p:cNvPr id="3" name="内容占位符 2"/>
          <p:cNvSpPr>
            <a:spLocks noGrp="1"/>
          </p:cNvSpPr>
          <p:nvPr>
            <p:ph idx="1"/>
          </p:nvPr>
        </p:nvSpPr>
        <p:spPr/>
        <p:txBody>
          <a:bodyPr/>
          <a:lstStyle/>
          <a:p>
            <a:r>
              <a:rPr lang="zh-CN" altLang="en-US" dirty="0"/>
              <a:t>同步冒泡法</a:t>
            </a:r>
            <a:endParaRPr lang="en-US" altLang="zh-CN" dirty="0"/>
          </a:p>
          <a:p>
            <a:pPr lvl="1"/>
            <a:r>
              <a:rPr lang="zh-CN" altLang="en-US" dirty="0"/>
              <a:t>当</a:t>
            </a:r>
            <a:r>
              <a:rPr lang="en-US" altLang="zh-CN" dirty="0"/>
              <a:t>low</a:t>
            </a:r>
            <a:r>
              <a:rPr lang="zh-CN" altLang="en-US" dirty="0"/>
              <a:t>或</a:t>
            </a:r>
            <a:r>
              <a:rPr lang="en-US" altLang="zh-CN" dirty="0"/>
              <a:t>high</a:t>
            </a:r>
            <a:r>
              <a:rPr lang="zh-CN" altLang="en-US" dirty="0"/>
              <a:t>在移动时，如果前后两个记录为逆序，则进行交换</a:t>
            </a:r>
          </a:p>
          <a:p>
            <a:pPr lvl="1"/>
            <a:r>
              <a:rPr lang="zh-CN" altLang="en-US" dirty="0"/>
              <a:t>同时用两个布尔变量记录是否发生过交换，如果没有发生过就可以不用处理相应一侧记录（因为实际已经排好序了，不用继续递归了）</a:t>
            </a:r>
            <a:endParaRPr lang="en-US" altLang="zh-CN" dirty="0"/>
          </a:p>
          <a:p>
            <a:r>
              <a:rPr lang="zh-CN" altLang="en-US" dirty="0"/>
              <a:t>完成一次分割后，优先处理长度较短一侧数组</a:t>
            </a:r>
          </a:p>
          <a:p>
            <a:endParaRPr lang="zh-CN" altLang="en-US" dirty="0"/>
          </a:p>
          <a:p>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pic>
        <p:nvPicPr>
          <p:cNvPr id="4" name="内容占位符 3"/>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668122" y="1628800"/>
            <a:ext cx="11262156" cy="4667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例题</a:t>
            </a:r>
          </a:p>
        </p:txBody>
      </p:sp>
      <p:sp>
        <p:nvSpPr>
          <p:cNvPr id="3" name="内容占位符 2"/>
          <p:cNvSpPr>
            <a:spLocks noGrp="1"/>
          </p:cNvSpPr>
          <p:nvPr>
            <p:ph idx="1"/>
          </p:nvPr>
        </p:nvSpPr>
        <p:spPr/>
        <p:txBody>
          <a:bodyPr/>
          <a:lstStyle/>
          <a:p>
            <a:r>
              <a:rPr lang="zh-CN" altLang="en-US" dirty="0"/>
              <a:t>为实现快速排序算法，待排序序列宜采用的存储方式是（）。</a:t>
            </a:r>
            <a:endParaRPr lang="en-US" altLang="zh-CN" dirty="0"/>
          </a:p>
          <a:p>
            <a:pPr marL="914400" lvl="1" indent="-457200">
              <a:buFont typeface="+mj-lt"/>
              <a:buAutoNum type="alphaUcPeriod"/>
            </a:pPr>
            <a:r>
              <a:rPr lang="zh-CN" altLang="en-US" dirty="0">
                <a:highlight>
                  <a:srgbClr val="FFFF00"/>
                </a:highlight>
              </a:rPr>
              <a:t>顺序存储</a:t>
            </a:r>
            <a:endParaRPr lang="en-US" altLang="zh-CN" dirty="0">
              <a:highlight>
                <a:srgbClr val="FFFF00"/>
              </a:highlight>
            </a:endParaRPr>
          </a:p>
          <a:p>
            <a:pPr marL="914400" lvl="1" indent="-457200">
              <a:buFont typeface="+mj-lt"/>
              <a:buAutoNum type="alphaUcPeriod"/>
            </a:pPr>
            <a:r>
              <a:rPr lang="zh-CN" altLang="en-US" dirty="0"/>
              <a:t>散列存储</a:t>
            </a:r>
            <a:endParaRPr lang="en-US" altLang="zh-CN" dirty="0"/>
          </a:p>
          <a:p>
            <a:pPr marL="914400" lvl="1" indent="-457200">
              <a:buFont typeface="+mj-lt"/>
              <a:buAutoNum type="alphaUcPeriod"/>
            </a:pPr>
            <a:r>
              <a:rPr lang="zh-CN" altLang="en-US" dirty="0"/>
              <a:t>链式存储</a:t>
            </a:r>
            <a:endParaRPr lang="en-US" altLang="zh-CN" dirty="0"/>
          </a:p>
          <a:p>
            <a:pPr marL="914400" lvl="1" indent="-457200">
              <a:buFont typeface="+mj-lt"/>
              <a:buAutoNum type="alphaUcPeriod"/>
            </a:pPr>
            <a:r>
              <a:rPr lang="zh-CN" altLang="en-US" dirty="0"/>
              <a:t>索引存储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例题</a:t>
            </a:r>
            <a:endParaRPr lang="zh-CN" altLang="en-US" dirty="0"/>
          </a:p>
        </p:txBody>
      </p:sp>
      <p:sp>
        <p:nvSpPr>
          <p:cNvPr id="3" name="内容占位符 2"/>
          <p:cNvSpPr>
            <a:spLocks noGrp="1"/>
          </p:cNvSpPr>
          <p:nvPr>
            <p:ph idx="1"/>
          </p:nvPr>
        </p:nvSpPr>
        <p:spPr/>
        <p:txBody>
          <a:bodyPr/>
          <a:lstStyle/>
          <a:p>
            <a:r>
              <a:rPr lang="zh-CN" altLang="en-US" dirty="0"/>
              <a:t>下列选项中，不可能是快速排序第</a:t>
            </a:r>
            <a:r>
              <a:rPr lang="en-US" altLang="zh-CN" dirty="0"/>
              <a:t>2</a:t>
            </a:r>
            <a:r>
              <a:rPr lang="zh-CN" altLang="en-US" dirty="0"/>
              <a:t>趟排序结果的是（）。</a:t>
            </a:r>
            <a:endParaRPr lang="en-US" altLang="zh-CN" dirty="0"/>
          </a:p>
          <a:p>
            <a:pPr marL="858520" lvl="1" indent="-514350">
              <a:buFont typeface="+mj-lt"/>
              <a:buAutoNum type="alphaUcPeriod"/>
            </a:pP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4</a:t>
            </a:r>
            <a:r>
              <a:rPr lang="zh-CN" altLang="en-US" dirty="0"/>
              <a:t>，</a:t>
            </a:r>
            <a:r>
              <a:rPr lang="en-US" altLang="zh-CN" dirty="0"/>
              <a:t>6</a:t>
            </a:r>
            <a:r>
              <a:rPr lang="zh-CN" altLang="en-US" dirty="0"/>
              <a:t>，</a:t>
            </a:r>
            <a:r>
              <a:rPr lang="en-US" altLang="zh-CN" dirty="0"/>
              <a:t>7</a:t>
            </a:r>
            <a:r>
              <a:rPr lang="zh-CN" altLang="en-US" dirty="0"/>
              <a:t>，</a:t>
            </a:r>
            <a:r>
              <a:rPr lang="en-US" altLang="zh-CN" dirty="0"/>
              <a:t>9</a:t>
            </a:r>
          </a:p>
          <a:p>
            <a:pPr marL="858520" lvl="1" indent="-514350">
              <a:buFont typeface="+mj-lt"/>
              <a:buAutoNum type="alphaUcPeriod"/>
            </a:pPr>
            <a:r>
              <a:rPr lang="en-US" altLang="zh-CN" dirty="0"/>
              <a:t>2</a:t>
            </a:r>
            <a:r>
              <a:rPr lang="zh-CN" altLang="en-US" dirty="0"/>
              <a:t>，</a:t>
            </a:r>
            <a:r>
              <a:rPr lang="en-US" altLang="zh-CN" dirty="0"/>
              <a:t>7</a:t>
            </a:r>
            <a:r>
              <a:rPr lang="zh-CN" altLang="en-US" dirty="0"/>
              <a:t>，</a:t>
            </a:r>
            <a:r>
              <a:rPr lang="en-US" altLang="zh-CN" dirty="0"/>
              <a:t>5</a:t>
            </a:r>
            <a:r>
              <a:rPr lang="zh-CN" altLang="en-US" dirty="0"/>
              <a:t>，</a:t>
            </a:r>
            <a:r>
              <a:rPr lang="en-US" altLang="zh-CN" dirty="0"/>
              <a:t>6</a:t>
            </a:r>
            <a:r>
              <a:rPr lang="zh-CN" altLang="en-US" dirty="0"/>
              <a:t>，</a:t>
            </a:r>
            <a:r>
              <a:rPr lang="en-US" altLang="zh-CN" dirty="0"/>
              <a:t>4</a:t>
            </a:r>
            <a:r>
              <a:rPr lang="zh-CN" altLang="en-US" dirty="0"/>
              <a:t>，</a:t>
            </a:r>
            <a:r>
              <a:rPr lang="en-US" altLang="zh-CN" dirty="0"/>
              <a:t>3</a:t>
            </a:r>
            <a:r>
              <a:rPr lang="zh-CN" altLang="en-US" dirty="0"/>
              <a:t>，</a:t>
            </a:r>
            <a:r>
              <a:rPr lang="en-US" altLang="zh-CN" dirty="0"/>
              <a:t>9</a:t>
            </a:r>
          </a:p>
          <a:p>
            <a:pPr marL="858520" lvl="1" indent="-514350">
              <a:buFont typeface="+mj-lt"/>
              <a:buAutoNum type="alphaUcPeriod"/>
            </a:pPr>
            <a:r>
              <a:rPr lang="en-US" altLang="zh-CN" dirty="0">
                <a:highlight>
                  <a:srgbClr val="FFFF00"/>
                </a:highlight>
              </a:rPr>
              <a:t>3</a:t>
            </a:r>
            <a:r>
              <a:rPr lang="zh-CN" altLang="en-US" dirty="0">
                <a:highlight>
                  <a:srgbClr val="FFFF00"/>
                </a:highlight>
              </a:rPr>
              <a:t>，</a:t>
            </a:r>
            <a:r>
              <a:rPr lang="en-US" altLang="zh-CN" dirty="0">
                <a:highlight>
                  <a:srgbClr val="FFFF00"/>
                </a:highlight>
              </a:rPr>
              <a:t>2</a:t>
            </a:r>
            <a:r>
              <a:rPr lang="zh-CN" altLang="en-US" dirty="0">
                <a:highlight>
                  <a:srgbClr val="FFFF00"/>
                </a:highlight>
              </a:rPr>
              <a:t>，</a:t>
            </a:r>
            <a:r>
              <a:rPr lang="en-US" altLang="zh-CN" dirty="0">
                <a:highlight>
                  <a:srgbClr val="FFFF00"/>
                </a:highlight>
              </a:rPr>
              <a:t>5</a:t>
            </a:r>
            <a:r>
              <a:rPr lang="zh-CN" altLang="en-US" dirty="0">
                <a:highlight>
                  <a:srgbClr val="FFFF00"/>
                </a:highlight>
              </a:rPr>
              <a:t>，</a:t>
            </a:r>
            <a:r>
              <a:rPr lang="en-US" altLang="zh-CN" dirty="0">
                <a:highlight>
                  <a:srgbClr val="FFFF00"/>
                </a:highlight>
              </a:rPr>
              <a:t>4</a:t>
            </a:r>
            <a:r>
              <a:rPr lang="zh-CN" altLang="en-US" dirty="0">
                <a:highlight>
                  <a:srgbClr val="FFFF00"/>
                </a:highlight>
              </a:rPr>
              <a:t>，</a:t>
            </a:r>
            <a:r>
              <a:rPr lang="en-US" altLang="zh-CN" dirty="0">
                <a:highlight>
                  <a:srgbClr val="FFFF00"/>
                </a:highlight>
              </a:rPr>
              <a:t>7</a:t>
            </a:r>
            <a:r>
              <a:rPr lang="zh-CN" altLang="en-US" dirty="0">
                <a:highlight>
                  <a:srgbClr val="FFFF00"/>
                </a:highlight>
              </a:rPr>
              <a:t>，</a:t>
            </a:r>
            <a:r>
              <a:rPr lang="en-US" altLang="zh-CN" dirty="0">
                <a:highlight>
                  <a:srgbClr val="FFFF00"/>
                </a:highlight>
              </a:rPr>
              <a:t>6</a:t>
            </a:r>
            <a:r>
              <a:rPr lang="zh-CN" altLang="en-US" dirty="0">
                <a:highlight>
                  <a:srgbClr val="FFFF00"/>
                </a:highlight>
              </a:rPr>
              <a:t>，</a:t>
            </a:r>
            <a:r>
              <a:rPr lang="en-US" altLang="zh-CN" dirty="0">
                <a:highlight>
                  <a:srgbClr val="FFFF00"/>
                </a:highlight>
              </a:rPr>
              <a:t>9</a:t>
            </a:r>
          </a:p>
          <a:p>
            <a:pPr marL="858520" lvl="1" indent="-514350">
              <a:buFont typeface="+mj-lt"/>
              <a:buAutoNum type="alphaUcPeriod"/>
            </a:pPr>
            <a:r>
              <a:rPr lang="en-US" altLang="zh-CN" dirty="0"/>
              <a:t>4</a:t>
            </a:r>
            <a:r>
              <a:rPr lang="zh-CN" altLang="en-US" dirty="0"/>
              <a:t>，</a:t>
            </a: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7</a:t>
            </a:r>
            <a:r>
              <a:rPr lang="zh-CN" altLang="en-US" dirty="0"/>
              <a:t>，</a:t>
            </a:r>
            <a:r>
              <a:rPr lang="en-US" altLang="zh-CN" dirty="0"/>
              <a:t>6</a:t>
            </a:r>
            <a:r>
              <a:rPr lang="zh-CN" altLang="en-US" dirty="0"/>
              <a:t>，</a:t>
            </a:r>
            <a:r>
              <a:rPr lang="en-US" altLang="zh-CN" dirty="0"/>
              <a:t>9</a:t>
            </a:r>
          </a:p>
          <a:p>
            <a:endParaRPr lang="en-US" altLang="zh-CN" dirty="0"/>
          </a:p>
          <a:p>
            <a:r>
              <a:rPr lang="zh-CN" altLang="en-US" dirty="0">
                <a:solidFill>
                  <a:srgbClr val="00B050"/>
                </a:solidFill>
              </a:rPr>
              <a:t>重要不变量：</a:t>
            </a:r>
            <a:endParaRPr lang="en-US" altLang="zh-CN" dirty="0">
              <a:solidFill>
                <a:srgbClr val="00B050"/>
              </a:solidFill>
            </a:endParaRPr>
          </a:p>
          <a:p>
            <a:pPr lvl="1"/>
            <a:r>
              <a:rPr lang="zh-CN" altLang="en-US" dirty="0">
                <a:solidFill>
                  <a:srgbClr val="00B050"/>
                </a:solidFill>
              </a:rPr>
              <a:t>每一趟结束后，</a:t>
            </a:r>
            <a:r>
              <a:rPr lang="zh-CN" altLang="en-US" b="1" dirty="0">
                <a:solidFill>
                  <a:srgbClr val="00B050"/>
                </a:solidFill>
              </a:rPr>
              <a:t>至少有一个元素被放到最终位置</a:t>
            </a:r>
            <a:endParaRPr lang="en-US" altLang="zh-CN" b="1" dirty="0">
              <a:solidFill>
                <a:srgbClr val="00B050"/>
              </a:solidFill>
            </a:endParaRPr>
          </a:p>
          <a:p>
            <a:pPr lvl="1"/>
            <a:r>
              <a:rPr lang="zh-CN" altLang="en-US" dirty="0">
                <a:solidFill>
                  <a:srgbClr val="00B050"/>
                </a:solidFill>
              </a:rPr>
              <a:t>已确定位置的枢轴，其左右相对关系不会再被破坏</a:t>
            </a:r>
            <a:endParaRPr lang="en-US" altLang="zh-CN" dirty="0">
              <a:solidFill>
                <a:srgbClr val="00B05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r>
              <a:rPr lang="zh-CN" altLang="en-US"/>
              <a:t>例题</a:t>
            </a:r>
            <a:endParaRPr lang="zh-CN" altLang="en-US" dirty="0"/>
          </a:p>
        </p:txBody>
      </p:sp>
      <p:sp>
        <p:nvSpPr>
          <p:cNvPr id="596995" name="Rectangle 3"/>
          <p:cNvSpPr>
            <a:spLocks noGrp="1" noChangeArrowheads="1"/>
          </p:cNvSpPr>
          <p:nvPr>
            <p:ph type="body" idx="1"/>
          </p:nvPr>
        </p:nvSpPr>
        <p:spPr/>
        <p:txBody>
          <a:bodyPr/>
          <a:lstStyle/>
          <a:p>
            <a:r>
              <a:rPr lang="zh-CN" altLang="en-US" dirty="0"/>
              <a:t>已知由</a:t>
            </a:r>
            <a:r>
              <a:rPr lang="en-US" altLang="zh-CN" dirty="0"/>
              <a:t>n(n&gt;=2)</a:t>
            </a:r>
            <a:r>
              <a:rPr lang="zh-CN" altLang="en-US" dirty="0"/>
              <a:t>个正整数构成的集合</a:t>
            </a:r>
            <a:r>
              <a:rPr lang="en-US" altLang="zh-CN" dirty="0"/>
              <a:t>A = {a</a:t>
            </a:r>
            <a:r>
              <a:rPr lang="en-US" altLang="zh-CN" baseline="-25000" dirty="0"/>
              <a:t>k</a:t>
            </a:r>
            <a:r>
              <a:rPr lang="en-US" altLang="zh-CN" dirty="0"/>
              <a:t>|0&lt;=k&lt;n}</a:t>
            </a:r>
            <a:r>
              <a:rPr lang="zh-CN" altLang="en-US" dirty="0"/>
              <a:t>，将其划分为两个不相交的子集</a:t>
            </a:r>
            <a:r>
              <a:rPr lang="en-US" altLang="zh-CN" dirty="0"/>
              <a:t>A</a:t>
            </a:r>
            <a:r>
              <a:rPr lang="en-US" altLang="zh-CN" baseline="-25000" dirty="0"/>
              <a:t>1</a:t>
            </a:r>
            <a:r>
              <a:rPr lang="zh-CN" altLang="en-US" dirty="0"/>
              <a:t>和</a:t>
            </a:r>
            <a:r>
              <a:rPr lang="en-US" altLang="zh-CN" dirty="0"/>
              <a:t>A</a:t>
            </a:r>
            <a:r>
              <a:rPr lang="en-US" altLang="zh-CN" baseline="-25000" dirty="0"/>
              <a:t>2</a:t>
            </a:r>
            <a:r>
              <a:rPr lang="zh-CN" altLang="en-US" dirty="0"/>
              <a:t>，元素个数分别是</a:t>
            </a:r>
            <a:r>
              <a:rPr lang="en-US" altLang="zh-CN" dirty="0"/>
              <a:t>n</a:t>
            </a:r>
            <a:r>
              <a:rPr lang="en-US" altLang="zh-CN" baseline="-25000" dirty="0"/>
              <a:t>1</a:t>
            </a:r>
            <a:r>
              <a:rPr lang="zh-CN" altLang="en-US" dirty="0"/>
              <a:t>和</a:t>
            </a:r>
            <a:r>
              <a:rPr lang="en-US" altLang="zh-CN" dirty="0"/>
              <a:t>n</a:t>
            </a:r>
            <a:r>
              <a:rPr lang="en-US" altLang="zh-CN" baseline="-25000" dirty="0"/>
              <a:t>2</a:t>
            </a:r>
            <a:r>
              <a:rPr lang="zh-CN" altLang="en-US" dirty="0"/>
              <a:t>，</a:t>
            </a:r>
            <a:r>
              <a:rPr lang="en-US" altLang="zh-CN" dirty="0"/>
              <a:t>A</a:t>
            </a:r>
            <a:r>
              <a:rPr lang="en-US" altLang="zh-CN" baseline="-25000" dirty="0"/>
              <a:t>1</a:t>
            </a:r>
            <a:r>
              <a:rPr lang="zh-CN" altLang="en-US" dirty="0"/>
              <a:t>和</a:t>
            </a:r>
            <a:r>
              <a:rPr lang="en-US" altLang="zh-CN" dirty="0"/>
              <a:t>A</a:t>
            </a:r>
            <a:r>
              <a:rPr lang="en-US" altLang="zh-CN" baseline="-25000" dirty="0"/>
              <a:t>2</a:t>
            </a:r>
            <a:r>
              <a:rPr lang="zh-CN" altLang="en-US" dirty="0"/>
              <a:t>中的元素之和分别为</a:t>
            </a:r>
            <a:r>
              <a:rPr lang="en-US" altLang="zh-CN" dirty="0"/>
              <a:t>S</a:t>
            </a:r>
            <a:r>
              <a:rPr lang="en-US" altLang="zh-CN" baseline="-25000" dirty="0"/>
              <a:t>1</a:t>
            </a:r>
            <a:r>
              <a:rPr lang="zh-CN" altLang="en-US" dirty="0"/>
              <a:t>和</a:t>
            </a:r>
            <a:r>
              <a:rPr lang="en-US" altLang="zh-CN" dirty="0"/>
              <a:t>S</a:t>
            </a:r>
            <a:r>
              <a:rPr lang="en-US" altLang="zh-CN" baseline="-25000" dirty="0"/>
              <a:t>2</a:t>
            </a:r>
            <a:r>
              <a:rPr lang="zh-CN" altLang="en-US" dirty="0"/>
              <a:t>。试设计一个尽可能高效的划分算法，满足</a:t>
            </a:r>
            <a:r>
              <a:rPr lang="en-US" altLang="zh-CN" dirty="0"/>
              <a:t>|n</a:t>
            </a:r>
            <a:r>
              <a:rPr lang="en-US" altLang="zh-CN" baseline="-25000" dirty="0"/>
              <a:t>1</a:t>
            </a:r>
            <a:r>
              <a:rPr lang="en-US" altLang="zh-CN" dirty="0"/>
              <a:t>-n</a:t>
            </a:r>
            <a:r>
              <a:rPr lang="en-US" altLang="zh-CN" baseline="-25000" dirty="0"/>
              <a:t>2</a:t>
            </a:r>
            <a:r>
              <a:rPr lang="en-US" altLang="zh-CN" dirty="0"/>
              <a:t>|</a:t>
            </a:r>
            <a:r>
              <a:rPr lang="zh-CN" altLang="en-US" dirty="0"/>
              <a:t>最小且</a:t>
            </a:r>
            <a:r>
              <a:rPr lang="en-US" altLang="zh-CN" dirty="0"/>
              <a:t>|S</a:t>
            </a:r>
            <a:r>
              <a:rPr lang="en-US" altLang="zh-CN" baseline="-25000" dirty="0"/>
              <a:t>1</a:t>
            </a:r>
            <a:r>
              <a:rPr lang="en-US" altLang="zh-CN" dirty="0"/>
              <a:t>-S</a:t>
            </a:r>
            <a:r>
              <a:rPr lang="en-US" altLang="zh-CN" baseline="-25000" dirty="0"/>
              <a:t>2</a:t>
            </a:r>
            <a:r>
              <a:rPr lang="en-US" altLang="zh-CN" dirty="0"/>
              <a:t>|</a:t>
            </a:r>
            <a:r>
              <a:rPr lang="zh-CN" altLang="en-US" dirty="0"/>
              <a:t>最大，并说明所设计算法的时间复杂度和空间复杂度。</a:t>
            </a:r>
          </a:p>
        </p:txBody>
      </p:sp>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72354A97-DDDA-43CD-99F3-EB823EDB0249}"/>
                  </a:ext>
                </a:extLst>
              </p:cNvPr>
              <p:cNvSpPr/>
              <p:nvPr/>
            </p:nvSpPr>
            <p:spPr>
              <a:xfrm>
                <a:off x="812800" y="4437112"/>
                <a:ext cx="11043840" cy="1938992"/>
              </a:xfrm>
              <a:prstGeom prst="rect">
                <a:avLst/>
              </a:prstGeom>
            </p:spPr>
            <p:txBody>
              <a:bodyPr wrap="square">
                <a:spAutoFit/>
              </a:bodyPr>
              <a:lstStyle/>
              <a:p>
                <a:r>
                  <a:rPr lang="zh-CN" altLang="en-US" sz="2400" dirty="0">
                    <a:solidFill>
                      <a:srgbClr val="00B050"/>
                    </a:solidFill>
                  </a:rPr>
                  <a:t>先满足元素个数尽量相等：若 </a:t>
                </a:r>
                <a14:m>
                  <m:oMath xmlns:m="http://schemas.openxmlformats.org/officeDocument/2006/math">
                    <m:r>
                      <a:rPr lang="en-US" altLang="zh-CN" sz="2400" i="1" dirty="0" smtClean="0">
                        <a:solidFill>
                          <a:srgbClr val="00B050"/>
                        </a:solidFill>
                        <a:latin typeface="Cambria Math" panose="02040503050406030204" pitchFamily="18" charset="0"/>
                      </a:rPr>
                      <m:t>𝑛</m:t>
                    </m:r>
                  </m:oMath>
                </a14:m>
                <a:r>
                  <a:rPr lang="en-US" altLang="zh-CN" sz="2400" dirty="0">
                    <a:solidFill>
                      <a:srgbClr val="00B050"/>
                    </a:solidFill>
                  </a:rPr>
                  <a:t> </a:t>
                </a:r>
                <a:r>
                  <a:rPr lang="zh-CN" altLang="en-US" sz="2400" dirty="0">
                    <a:solidFill>
                      <a:srgbClr val="00B050"/>
                    </a:solidFill>
                  </a:rPr>
                  <a:t>为偶数，</a:t>
                </a:r>
                <a14:m>
                  <m:oMath xmlns:m="http://schemas.openxmlformats.org/officeDocument/2006/math">
                    <m:sSub>
                      <m:sSubPr>
                        <m:ctrlPr>
                          <a:rPr lang="en-US" altLang="zh-CN" sz="2400" b="0" i="1" dirty="0" smtClean="0">
                            <a:solidFill>
                              <a:srgbClr val="00B050"/>
                            </a:solidFill>
                            <a:latin typeface="Cambria Math" panose="02040503050406030204" pitchFamily="18" charset="0"/>
                          </a:rPr>
                        </m:ctrlPr>
                      </m:sSubPr>
                      <m:e>
                        <m:r>
                          <a:rPr lang="zh-CN" altLang="en-US" sz="2400" i="1" dirty="0" smtClean="0">
                            <a:solidFill>
                              <a:srgbClr val="00B050"/>
                            </a:solidFill>
                            <a:latin typeface="Cambria Math" panose="02040503050406030204" pitchFamily="18" charset="0"/>
                          </a:rPr>
                          <m:t>𝑛</m:t>
                        </m:r>
                      </m:e>
                      <m:sub>
                        <m:r>
                          <a:rPr lang="en-US" altLang="zh-CN" sz="2400" i="1" dirty="0">
                            <a:solidFill>
                              <a:srgbClr val="00B050"/>
                            </a:solidFill>
                            <a:latin typeface="Cambria Math" panose="02040503050406030204" pitchFamily="18" charset="0"/>
                          </a:rPr>
                          <m:t>1</m:t>
                        </m:r>
                      </m:sub>
                    </m:sSub>
                    <m:r>
                      <a:rPr lang="en-US" altLang="zh-CN" sz="2400" i="1" dirty="0">
                        <a:solidFill>
                          <a:srgbClr val="00B050"/>
                        </a:solidFill>
                        <a:latin typeface="Cambria Math" panose="02040503050406030204" pitchFamily="18" charset="0"/>
                      </a:rPr>
                      <m:t>=</m:t>
                    </m:r>
                    <m:sSub>
                      <m:sSubPr>
                        <m:ctrlPr>
                          <a:rPr lang="en-US" altLang="zh-CN" sz="2400" b="0" i="1" dirty="0" smtClean="0">
                            <a:solidFill>
                              <a:srgbClr val="00B050"/>
                            </a:solidFill>
                            <a:latin typeface="Cambria Math" panose="02040503050406030204" pitchFamily="18" charset="0"/>
                          </a:rPr>
                        </m:ctrlPr>
                      </m:sSubPr>
                      <m:e>
                        <m:r>
                          <a:rPr lang="zh-CN" altLang="en-US" sz="2400" i="1" dirty="0">
                            <a:solidFill>
                              <a:srgbClr val="00B050"/>
                            </a:solidFill>
                            <a:latin typeface="Cambria Math" panose="02040503050406030204" pitchFamily="18" charset="0"/>
                          </a:rPr>
                          <m:t>𝑛</m:t>
                        </m:r>
                      </m:e>
                      <m:sub>
                        <m:r>
                          <a:rPr lang="en-US" altLang="zh-CN" sz="2400" i="1" dirty="0" smtClean="0">
                            <a:solidFill>
                              <a:srgbClr val="00B050"/>
                            </a:solidFill>
                            <a:latin typeface="Cambria Math" panose="02040503050406030204" pitchFamily="18" charset="0"/>
                          </a:rPr>
                          <m:t>2</m:t>
                        </m:r>
                      </m:sub>
                    </m:sSub>
                  </m:oMath>
                </a14:m>
                <a:r>
                  <a:rPr lang="zh-CN" altLang="en-US" sz="2400" dirty="0">
                    <a:solidFill>
                      <a:srgbClr val="00B050"/>
                    </a:solidFill>
                  </a:rPr>
                  <a:t>；若 </a:t>
                </a:r>
                <a14:m>
                  <m:oMath xmlns:m="http://schemas.openxmlformats.org/officeDocument/2006/math">
                    <m:r>
                      <a:rPr lang="en-US" altLang="zh-CN" sz="2400" i="1" dirty="0" smtClean="0">
                        <a:solidFill>
                          <a:srgbClr val="00B050"/>
                        </a:solidFill>
                        <a:latin typeface="Cambria Math" panose="02040503050406030204" pitchFamily="18" charset="0"/>
                      </a:rPr>
                      <m:t>𝑛</m:t>
                    </m:r>
                  </m:oMath>
                </a14:m>
                <a:r>
                  <a:rPr lang="en-US" altLang="zh-CN" sz="2400" dirty="0">
                    <a:solidFill>
                      <a:srgbClr val="00B050"/>
                    </a:solidFill>
                  </a:rPr>
                  <a:t> </a:t>
                </a:r>
                <a:r>
                  <a:rPr lang="zh-CN" altLang="en-US" sz="2400" dirty="0">
                    <a:solidFill>
                      <a:srgbClr val="00B050"/>
                    </a:solidFill>
                  </a:rPr>
                  <a:t>为奇数，</a:t>
                </a:r>
                <a14:m>
                  <m:oMath xmlns:m="http://schemas.openxmlformats.org/officeDocument/2006/math">
                    <m:r>
                      <a:rPr lang="zh-CN" altLang="en-US" sz="2400" i="1" dirty="0" smtClean="0">
                        <a:solidFill>
                          <a:srgbClr val="00B050"/>
                        </a:solidFill>
                        <a:latin typeface="Cambria Math" panose="02040503050406030204" pitchFamily="18" charset="0"/>
                      </a:rPr>
                      <m:t>∣</m:t>
                    </m:r>
                    <m:sSub>
                      <m:sSubPr>
                        <m:ctrlPr>
                          <a:rPr lang="en-US" altLang="zh-CN" sz="2400" b="0" i="1" dirty="0" smtClean="0">
                            <a:solidFill>
                              <a:srgbClr val="00B050"/>
                            </a:solidFill>
                            <a:latin typeface="Cambria Math" panose="02040503050406030204" pitchFamily="18" charset="0"/>
                          </a:rPr>
                        </m:ctrlPr>
                      </m:sSubPr>
                      <m:e>
                        <m:r>
                          <a:rPr lang="zh-CN" altLang="en-US" sz="2400" i="1" dirty="0">
                            <a:solidFill>
                              <a:srgbClr val="00B050"/>
                            </a:solidFill>
                            <a:latin typeface="Cambria Math" panose="02040503050406030204" pitchFamily="18" charset="0"/>
                          </a:rPr>
                          <m:t>𝑛</m:t>
                        </m:r>
                      </m:e>
                      <m:sub>
                        <m:r>
                          <a:rPr lang="en-US" altLang="zh-CN" sz="2400" i="1" dirty="0">
                            <a:solidFill>
                              <a:srgbClr val="00B050"/>
                            </a:solidFill>
                            <a:latin typeface="Cambria Math" panose="02040503050406030204" pitchFamily="18" charset="0"/>
                          </a:rPr>
                          <m:t>1</m:t>
                        </m:r>
                      </m:sub>
                    </m:sSub>
                    <m:r>
                      <a:rPr lang="en-US" altLang="zh-CN" sz="2400" i="1" dirty="0">
                        <a:solidFill>
                          <a:srgbClr val="00B050"/>
                        </a:solidFill>
                        <a:latin typeface="Cambria Math" panose="02040503050406030204" pitchFamily="18" charset="0"/>
                      </a:rPr>
                      <m:t>−</m:t>
                    </m:r>
                    <m:sSub>
                      <m:sSubPr>
                        <m:ctrlPr>
                          <a:rPr lang="en-US" altLang="zh-CN" sz="2400" b="0" i="1" dirty="0" smtClean="0">
                            <a:solidFill>
                              <a:srgbClr val="00B050"/>
                            </a:solidFill>
                            <a:latin typeface="Cambria Math" panose="02040503050406030204" pitchFamily="18" charset="0"/>
                          </a:rPr>
                        </m:ctrlPr>
                      </m:sSubPr>
                      <m:e>
                        <m:r>
                          <a:rPr lang="zh-CN" altLang="en-US" sz="2400" i="1" dirty="0">
                            <a:solidFill>
                              <a:srgbClr val="00B050"/>
                            </a:solidFill>
                            <a:latin typeface="Cambria Math" panose="02040503050406030204" pitchFamily="18" charset="0"/>
                          </a:rPr>
                          <m:t>𝑛</m:t>
                        </m:r>
                      </m:e>
                      <m:sub>
                        <m:r>
                          <a:rPr lang="en-US" altLang="zh-CN" sz="2400" i="1" dirty="0">
                            <a:solidFill>
                              <a:srgbClr val="00B050"/>
                            </a:solidFill>
                            <a:latin typeface="Cambria Math" panose="02040503050406030204" pitchFamily="18" charset="0"/>
                          </a:rPr>
                          <m:t>2</m:t>
                        </m:r>
                      </m:sub>
                    </m:sSub>
                    <m:r>
                      <a:rPr lang="en-US" altLang="zh-CN" sz="2400" i="1" dirty="0">
                        <a:solidFill>
                          <a:srgbClr val="00B050"/>
                        </a:solidFill>
                        <a:latin typeface="Cambria Math" panose="02040503050406030204" pitchFamily="18" charset="0"/>
                      </a:rPr>
                      <m:t>∣=</m:t>
                    </m:r>
                    <m:r>
                      <a:rPr lang="en-US" altLang="zh-CN" sz="2400" i="1" dirty="0" smtClean="0">
                        <a:solidFill>
                          <a:srgbClr val="00B050"/>
                        </a:solidFill>
                        <a:latin typeface="Cambria Math" panose="02040503050406030204" pitchFamily="18" charset="0"/>
                      </a:rPr>
                      <m:t>1</m:t>
                    </m:r>
                  </m:oMath>
                </a14:m>
                <a:r>
                  <a:rPr lang="zh-CN" altLang="en-US" sz="2400" dirty="0">
                    <a:solidFill>
                      <a:srgbClr val="00B050"/>
                    </a:solidFill>
                  </a:rPr>
                  <a:t>。</a:t>
                </a:r>
                <a:endParaRPr lang="en-US" altLang="zh-CN" sz="2400" dirty="0">
                  <a:solidFill>
                    <a:srgbClr val="00B050"/>
                  </a:solidFill>
                </a:endParaRPr>
              </a:p>
              <a:p>
                <a:r>
                  <a:rPr lang="zh-CN" altLang="en-US" sz="2400" dirty="0">
                    <a:solidFill>
                      <a:srgbClr val="00B050"/>
                    </a:solidFill>
                  </a:rPr>
                  <a:t>在元素个数限制下，使两组元素和的差值 </a:t>
                </a:r>
                <a14:m>
                  <m:oMath xmlns:m="http://schemas.openxmlformats.org/officeDocument/2006/math">
                    <m:r>
                      <a:rPr lang="en-US" altLang="zh-CN" sz="2400" i="1" dirty="0" smtClean="0">
                        <a:solidFill>
                          <a:srgbClr val="00B050"/>
                        </a:solidFill>
                        <a:latin typeface="Cambria Math" panose="02040503050406030204" pitchFamily="18" charset="0"/>
                      </a:rPr>
                      <m:t>|</m:t>
                    </m:r>
                    <m:sSub>
                      <m:sSubPr>
                        <m:ctrlPr>
                          <a:rPr lang="en-US" altLang="zh-CN" sz="2400" b="0" i="1" dirty="0" smtClean="0">
                            <a:solidFill>
                              <a:srgbClr val="00B050"/>
                            </a:solidFill>
                            <a:latin typeface="Cambria Math" panose="02040503050406030204" pitchFamily="18" charset="0"/>
                          </a:rPr>
                        </m:ctrlPr>
                      </m:sSubPr>
                      <m:e>
                        <m:r>
                          <a:rPr lang="en-US" altLang="zh-CN" sz="2400" i="1" dirty="0">
                            <a:solidFill>
                              <a:srgbClr val="00B050"/>
                            </a:solidFill>
                            <a:latin typeface="Cambria Math" panose="02040503050406030204" pitchFamily="18" charset="0"/>
                          </a:rPr>
                          <m:t>𝑆</m:t>
                        </m:r>
                      </m:e>
                      <m:sub>
                        <m:r>
                          <a:rPr lang="en-US" altLang="zh-CN" sz="2400" i="1" dirty="0">
                            <a:solidFill>
                              <a:srgbClr val="00B050"/>
                            </a:solidFill>
                            <a:latin typeface="Cambria Math" panose="02040503050406030204" pitchFamily="18" charset="0"/>
                          </a:rPr>
                          <m:t>1</m:t>
                        </m:r>
                      </m:sub>
                    </m:sSub>
                    <m:r>
                      <a:rPr lang="en-US" altLang="zh-CN" sz="2400" i="1" dirty="0">
                        <a:solidFill>
                          <a:srgbClr val="00B050"/>
                        </a:solidFill>
                        <a:latin typeface="Cambria Math" panose="02040503050406030204" pitchFamily="18" charset="0"/>
                      </a:rPr>
                      <m:t> − </m:t>
                    </m:r>
                    <m:sSub>
                      <m:sSubPr>
                        <m:ctrlPr>
                          <a:rPr lang="en-US" altLang="zh-CN" sz="2400" b="0" i="1" dirty="0" smtClean="0">
                            <a:solidFill>
                              <a:srgbClr val="00B050"/>
                            </a:solidFill>
                            <a:latin typeface="Cambria Math" panose="02040503050406030204" pitchFamily="18" charset="0"/>
                          </a:rPr>
                        </m:ctrlPr>
                      </m:sSubPr>
                      <m:e>
                        <m:r>
                          <a:rPr lang="en-US" altLang="zh-CN" sz="2400" i="1" dirty="0">
                            <a:solidFill>
                              <a:srgbClr val="00B050"/>
                            </a:solidFill>
                            <a:latin typeface="Cambria Math" panose="02040503050406030204" pitchFamily="18" charset="0"/>
                          </a:rPr>
                          <m:t>𝑆</m:t>
                        </m:r>
                      </m:e>
                      <m:sub>
                        <m:r>
                          <a:rPr lang="en-US" altLang="zh-CN" sz="2400" i="1" dirty="0">
                            <a:solidFill>
                              <a:srgbClr val="00B050"/>
                            </a:solidFill>
                            <a:latin typeface="Cambria Math" panose="02040503050406030204" pitchFamily="18" charset="0"/>
                          </a:rPr>
                          <m:t>2</m:t>
                        </m:r>
                      </m:sub>
                    </m:sSub>
                    <m:r>
                      <a:rPr lang="en-US" altLang="zh-CN" sz="2400" i="1" dirty="0">
                        <a:solidFill>
                          <a:srgbClr val="00B050"/>
                        </a:solidFill>
                        <a:latin typeface="Cambria Math" panose="02040503050406030204" pitchFamily="18" charset="0"/>
                      </a:rPr>
                      <m:t>|</m:t>
                    </m:r>
                  </m:oMath>
                </a14:m>
                <a:r>
                  <a:rPr lang="en-US" altLang="zh-CN" sz="2400" dirty="0">
                    <a:solidFill>
                      <a:srgbClr val="00B050"/>
                    </a:solidFill>
                  </a:rPr>
                  <a:t> </a:t>
                </a:r>
                <a:r>
                  <a:rPr lang="zh-CN" altLang="en-US" sz="2400" dirty="0">
                    <a:solidFill>
                      <a:srgbClr val="00B050"/>
                    </a:solidFill>
                  </a:rPr>
                  <a:t>最大，策略：贪心 </a:t>
                </a:r>
                <a:r>
                  <a:rPr lang="en-US" altLang="zh-CN" sz="2400" dirty="0">
                    <a:solidFill>
                      <a:srgbClr val="00B050"/>
                    </a:solidFill>
                  </a:rPr>
                  <a:t>+ </a:t>
                </a:r>
                <a:r>
                  <a:rPr lang="zh-CN" altLang="en-US" sz="2400" dirty="0">
                    <a:solidFill>
                      <a:srgbClr val="00B050"/>
                    </a:solidFill>
                  </a:rPr>
                  <a:t>排序</a:t>
                </a:r>
                <a:endParaRPr lang="en-US" altLang="zh-CN" sz="2400" dirty="0">
                  <a:solidFill>
                    <a:srgbClr val="00B050"/>
                  </a:solidFill>
                </a:endParaRPr>
              </a:p>
              <a:p>
                <a:pPr marL="342900" indent="-342900">
                  <a:buFont typeface="Arial" panose="020B0604020202020204" pitchFamily="34" charset="0"/>
                  <a:buChar char="•"/>
                </a:pPr>
                <a:r>
                  <a:rPr lang="zh-CN" altLang="en-US" sz="2400" dirty="0">
                    <a:solidFill>
                      <a:srgbClr val="00B050"/>
                    </a:solidFill>
                  </a:rPr>
                  <a:t>将数组按从小到大排序</a:t>
                </a:r>
                <a:endParaRPr lang="en-US" altLang="zh-CN" sz="2400" dirty="0">
                  <a:solidFill>
                    <a:srgbClr val="00B050"/>
                  </a:solidFill>
                </a:endParaRPr>
              </a:p>
              <a:p>
                <a:pPr marL="342900" indent="-342900">
                  <a:buFont typeface="Arial" panose="020B0604020202020204" pitchFamily="34" charset="0"/>
                  <a:buChar char="•"/>
                </a:pPr>
                <a:r>
                  <a:rPr lang="zh-CN" altLang="en-US" sz="2400" dirty="0">
                    <a:solidFill>
                      <a:srgbClr val="00B050"/>
                    </a:solidFill>
                  </a:rPr>
                  <a:t>把最大的 </a:t>
                </a:r>
                <a14:m>
                  <m:oMath xmlns:m="http://schemas.openxmlformats.org/officeDocument/2006/math">
                    <m:r>
                      <a:rPr lang="zh-CN" altLang="en-US" sz="2400" i="1" dirty="0" smtClean="0">
                        <a:solidFill>
                          <a:srgbClr val="00B050"/>
                        </a:solidFill>
                        <a:latin typeface="Cambria Math" panose="02040503050406030204" pitchFamily="18" charset="0"/>
                      </a:rPr>
                      <m:t>⌈</m:t>
                    </m:r>
                    <m:r>
                      <a:rPr lang="en-US" altLang="zh-CN" sz="2400" i="1" dirty="0">
                        <a:solidFill>
                          <a:srgbClr val="00B050"/>
                        </a:solidFill>
                        <a:latin typeface="Cambria Math" panose="02040503050406030204" pitchFamily="18" charset="0"/>
                      </a:rPr>
                      <m:t>𝑛</m:t>
                    </m:r>
                    <m:r>
                      <a:rPr lang="en-US" altLang="zh-CN" sz="2400" i="1" dirty="0">
                        <a:solidFill>
                          <a:srgbClr val="00B050"/>
                        </a:solidFill>
                        <a:latin typeface="Cambria Math" panose="02040503050406030204" pitchFamily="18" charset="0"/>
                      </a:rPr>
                      <m:t>/2⌉</m:t>
                    </m:r>
                  </m:oMath>
                </a14:m>
                <a:r>
                  <a:rPr lang="en-US" altLang="zh-CN" sz="2400" dirty="0">
                    <a:solidFill>
                      <a:srgbClr val="00B050"/>
                    </a:solidFill>
                  </a:rPr>
                  <a:t> </a:t>
                </a:r>
                <a:r>
                  <a:rPr lang="zh-CN" altLang="en-US" sz="2400" dirty="0">
                    <a:solidFill>
                      <a:srgbClr val="00B050"/>
                    </a:solidFill>
                  </a:rPr>
                  <a:t>个元素分到一组</a:t>
                </a:r>
                <a:endParaRPr lang="en-US" altLang="zh-CN" sz="2400" dirty="0">
                  <a:solidFill>
                    <a:srgbClr val="00B050"/>
                  </a:solidFill>
                </a:endParaRPr>
              </a:p>
              <a:p>
                <a:pPr marL="342900" indent="-342900">
                  <a:buFont typeface="Arial" panose="020B0604020202020204" pitchFamily="34" charset="0"/>
                  <a:buChar char="•"/>
                </a:pPr>
                <a:r>
                  <a:rPr lang="zh-CN" altLang="en-US" sz="2400" dirty="0">
                    <a:solidFill>
                      <a:srgbClr val="00B050"/>
                    </a:solidFill>
                  </a:rPr>
                  <a:t>把最小的 </a:t>
                </a:r>
                <a14:m>
                  <m:oMath xmlns:m="http://schemas.openxmlformats.org/officeDocument/2006/math">
                    <m:r>
                      <a:rPr lang="zh-CN" altLang="en-US" sz="2400" i="1" dirty="0" smtClean="0">
                        <a:solidFill>
                          <a:srgbClr val="00B050"/>
                        </a:solidFill>
                        <a:latin typeface="Cambria Math" panose="02040503050406030204" pitchFamily="18" charset="0"/>
                      </a:rPr>
                      <m:t>⌊</m:t>
                    </m:r>
                    <m:r>
                      <a:rPr lang="en-US" altLang="zh-CN" sz="2400" i="1" dirty="0">
                        <a:solidFill>
                          <a:srgbClr val="00B050"/>
                        </a:solidFill>
                        <a:latin typeface="Cambria Math" panose="02040503050406030204" pitchFamily="18" charset="0"/>
                      </a:rPr>
                      <m:t>𝑛</m:t>
                    </m:r>
                    <m:r>
                      <a:rPr lang="en-US" altLang="zh-CN" sz="2400" i="1" dirty="0">
                        <a:solidFill>
                          <a:srgbClr val="00B050"/>
                        </a:solidFill>
                        <a:latin typeface="Cambria Math" panose="02040503050406030204" pitchFamily="18" charset="0"/>
                      </a:rPr>
                      <m:t>/2⌋</m:t>
                    </m:r>
                  </m:oMath>
                </a14:m>
                <a:r>
                  <a:rPr lang="en-US" altLang="zh-CN" sz="2400" dirty="0">
                    <a:solidFill>
                      <a:srgbClr val="00B050"/>
                    </a:solidFill>
                  </a:rPr>
                  <a:t> </a:t>
                </a:r>
                <a:r>
                  <a:rPr lang="zh-CN" altLang="en-US" sz="2400" dirty="0">
                    <a:solidFill>
                      <a:srgbClr val="00B050"/>
                    </a:solidFill>
                  </a:rPr>
                  <a:t>个元素分到另一组</a:t>
                </a:r>
              </a:p>
            </p:txBody>
          </p:sp>
        </mc:Choice>
        <mc:Fallback>
          <p:sp>
            <p:nvSpPr>
              <p:cNvPr id="2" name="矩形 1">
                <a:extLst>
                  <a:ext uri="{FF2B5EF4-FFF2-40B4-BE49-F238E27FC236}">
                    <a16:creationId xmlns:a16="http://schemas.microsoft.com/office/drawing/2014/main" id="{72354A97-DDDA-43CD-99F3-EB823EDB0249}"/>
                  </a:ext>
                </a:extLst>
              </p:cNvPr>
              <p:cNvSpPr>
                <a:spLocks noRot="1" noChangeAspect="1" noMove="1" noResize="1" noEditPoints="1" noAdjustHandles="1" noChangeArrowheads="1" noChangeShapeType="1" noTextEdit="1"/>
              </p:cNvSpPr>
              <p:nvPr/>
            </p:nvSpPr>
            <p:spPr>
              <a:xfrm>
                <a:off x="812800" y="4437112"/>
                <a:ext cx="11043840" cy="1938992"/>
              </a:xfrm>
              <a:prstGeom prst="rect">
                <a:avLst/>
              </a:prstGeom>
              <a:blipFill>
                <a:blip r:embed="rId2"/>
                <a:stretch>
                  <a:fillRect l="-828" t="-3459" r="-773" b="-6604"/>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lstStyle/>
          <a:p>
            <a:r>
              <a:rPr lang="zh-CN" altLang="en-US" dirty="0"/>
              <a:t>习题</a:t>
            </a:r>
          </a:p>
        </p:txBody>
      </p:sp>
      <p:sp>
        <p:nvSpPr>
          <p:cNvPr id="596995" name="Rectangle 3"/>
          <p:cNvSpPr>
            <a:spLocks noGrp="1" noChangeArrowheads="1"/>
          </p:cNvSpPr>
          <p:nvPr>
            <p:ph type="body" idx="1"/>
          </p:nvPr>
        </p:nvSpPr>
        <p:spPr/>
        <p:txBody>
          <a:bodyPr/>
          <a:lstStyle/>
          <a:p>
            <a:r>
              <a:rPr lang="zh-CN" altLang="en-US" dirty="0"/>
              <a:t>已知节点序列</a:t>
            </a:r>
            <a:r>
              <a:rPr lang="en-US" altLang="zh-CN" dirty="0"/>
              <a:t>(49,38,65,97,76,27,13,50)</a:t>
            </a:r>
            <a:r>
              <a:rPr lang="zh-CN" altLang="en-US" dirty="0"/>
              <a:t>，请给出以第一个节点为轴值进行快速排序时第一次分割后序列的情况，注意列出步骤的每一步</a:t>
            </a:r>
            <a:endParaRPr lang="en-US" altLang="zh-CN" dirty="0"/>
          </a:p>
          <a:p>
            <a:r>
              <a:rPr lang="zh-CN" altLang="en-US" dirty="0"/>
              <a:t>已知节点序列</a:t>
            </a:r>
            <a:r>
              <a:rPr lang="en-US" altLang="zh-CN" dirty="0"/>
              <a:t>(49,38,65,97,76,27,13,50)</a:t>
            </a:r>
            <a:r>
              <a:rPr lang="zh-CN" altLang="en-US" dirty="0"/>
              <a:t>，请给出以最后一个节点为轴值进行快速排序时第一次分割后序列的情况，注意列出步骤的每一步</a:t>
            </a:r>
          </a:p>
          <a:p>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dirty="0"/>
              <a:t>Q &amp; A</a:t>
            </a:r>
            <a:endParaRPr lang="zh-CN" altLang="en-US" dirty="0"/>
          </a:p>
        </p:txBody>
      </p:sp>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Arial"/>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1187</Words>
  <Application>Microsoft Office PowerPoint</Application>
  <PresentationFormat>宽屏</PresentationFormat>
  <Paragraphs>126</Paragraphs>
  <Slides>40</Slides>
  <Notes>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40</vt:i4>
      </vt:variant>
    </vt:vector>
  </HeadingPairs>
  <TitlesOfParts>
    <vt:vector size="48" baseType="lpstr">
      <vt:lpstr>华文行楷</vt:lpstr>
      <vt:lpstr>宋体</vt:lpstr>
      <vt:lpstr>Arial</vt:lpstr>
      <vt:lpstr>Cambria Math</vt:lpstr>
      <vt:lpstr>Tahoma</vt:lpstr>
      <vt:lpstr>Times New Roman</vt:lpstr>
      <vt:lpstr>Wingdings</vt:lpstr>
      <vt:lpstr>Blueprint</vt:lpstr>
      <vt:lpstr>Data Structure</vt:lpstr>
      <vt:lpstr>Lecture 7</vt:lpstr>
      <vt:lpstr>Part I</vt:lpstr>
      <vt:lpstr>交换排序</vt:lpstr>
      <vt:lpstr>冒泡排序</vt:lpstr>
      <vt:lpstr>冒泡排序</vt:lpstr>
      <vt:lpstr>冒泡排序</vt:lpstr>
      <vt:lpstr>冒泡排序</vt:lpstr>
      <vt:lpstr>冒泡排序</vt:lpstr>
      <vt:lpstr>冒泡排序</vt:lpstr>
      <vt:lpstr>冒泡排序</vt:lpstr>
      <vt:lpstr>冒泡排序</vt:lpstr>
      <vt:lpstr>冒泡排序</vt:lpstr>
      <vt:lpstr>冒泡排序</vt:lpstr>
      <vt:lpstr>冒泡排序</vt:lpstr>
      <vt:lpstr>冒泡排序实现</vt:lpstr>
      <vt:lpstr>算法性能分析</vt:lpstr>
      <vt:lpstr>算法性能分析</vt:lpstr>
      <vt:lpstr>小结</vt:lpstr>
      <vt:lpstr>习题</vt:lpstr>
      <vt:lpstr>Part II</vt:lpstr>
      <vt:lpstr>快速排序</vt:lpstr>
      <vt:lpstr>快速排序</vt:lpstr>
      <vt:lpstr>快速排序</vt:lpstr>
      <vt:lpstr>快速排序的实现</vt:lpstr>
      <vt:lpstr>算法性能分析</vt:lpstr>
      <vt:lpstr>算法性能分析</vt:lpstr>
      <vt:lpstr>算法性能分析</vt:lpstr>
      <vt:lpstr>算法性能分析</vt:lpstr>
      <vt:lpstr>算法性能分析</vt:lpstr>
      <vt:lpstr>算法性能分析</vt:lpstr>
      <vt:lpstr>算法性能分析</vt:lpstr>
      <vt:lpstr>快速排序算法的改进</vt:lpstr>
      <vt:lpstr>快速排序算法的改进</vt:lpstr>
      <vt:lpstr>小结</vt:lpstr>
      <vt:lpstr>例题</vt:lpstr>
      <vt:lpstr>例题</vt:lpstr>
      <vt:lpstr>例题</vt:lpstr>
      <vt:lpstr>习题</vt:lpstr>
      <vt:lpstr>Q &amp; A</vt:lpstr>
    </vt:vector>
  </TitlesOfParts>
  <Company>113-501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Web Application</dc:title>
  <dc:creator>robin</dc:creator>
  <cp:lastModifiedBy>陈奕嘉</cp:lastModifiedBy>
  <cp:revision>1747</cp:revision>
  <dcterms:created xsi:type="dcterms:W3CDTF">2002-06-03T10:03:00Z</dcterms:created>
  <dcterms:modified xsi:type="dcterms:W3CDTF">2025-12-23T14:44:24Z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0783284B4AE14B2D8115CF77E428D5E5_12</vt:lpwstr>
  </property>
  <property fmtid="{D5CDD505-2E9C-101B-9397-08002B2CF9AE}" pid="3" name="KSOProductBuildVer">
    <vt:lpwstr>2052-12.1.0.23542</vt:lpwstr>
  </property>
</Properties>
</file>