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357" r:id="rId4"/>
    <p:sldId id="590" r:id="rId5"/>
    <p:sldId id="591" r:id="rId6"/>
    <p:sldId id="592" r:id="rId7"/>
    <p:sldId id="596" r:id="rId8"/>
    <p:sldId id="593" r:id="rId9"/>
    <p:sldId id="594" r:id="rId10"/>
    <p:sldId id="597" r:id="rId11"/>
    <p:sldId id="595" r:id="rId12"/>
    <p:sldId id="367" r:id="rId13"/>
    <p:sldId id="541" r:id="rId14"/>
    <p:sldId id="542" r:id="rId15"/>
    <p:sldId id="543" r:id="rId16"/>
    <p:sldId id="544" r:id="rId17"/>
    <p:sldId id="545" r:id="rId18"/>
    <p:sldId id="546" r:id="rId19"/>
    <p:sldId id="547" r:id="rId20"/>
    <p:sldId id="548" r:id="rId21"/>
    <p:sldId id="549" r:id="rId22"/>
    <p:sldId id="550" r:id="rId23"/>
    <p:sldId id="551" r:id="rId24"/>
    <p:sldId id="552" r:id="rId25"/>
    <p:sldId id="589" r:id="rId26"/>
    <p:sldId id="553" r:id="rId27"/>
    <p:sldId id="554" r:id="rId28"/>
    <p:sldId id="555" r:id="rId29"/>
    <p:sldId id="556" r:id="rId30"/>
    <p:sldId id="572" r:id="rId31"/>
    <p:sldId id="557" r:id="rId32"/>
    <p:sldId id="558" r:id="rId33"/>
    <p:sldId id="560" r:id="rId34"/>
    <p:sldId id="561" r:id="rId35"/>
    <p:sldId id="562" r:id="rId36"/>
    <p:sldId id="563" r:id="rId37"/>
    <p:sldId id="564" r:id="rId38"/>
    <p:sldId id="565" r:id="rId39"/>
    <p:sldId id="566" r:id="rId40"/>
    <p:sldId id="567" r:id="rId41"/>
    <p:sldId id="568" r:id="rId42"/>
    <p:sldId id="570" r:id="rId43"/>
    <p:sldId id="598" r:id="rId44"/>
    <p:sldId id="384" r:id="rId45"/>
    <p:sldId id="571" r:id="rId46"/>
    <p:sldId id="575" r:id="rId47"/>
    <p:sldId id="576" r:id="rId48"/>
    <p:sldId id="577" r:id="rId49"/>
    <p:sldId id="578" r:id="rId50"/>
    <p:sldId id="579" r:id="rId51"/>
    <p:sldId id="580" r:id="rId52"/>
    <p:sldId id="581" r:id="rId53"/>
    <p:sldId id="582" r:id="rId54"/>
    <p:sldId id="583" r:id="rId55"/>
    <p:sldId id="584" r:id="rId56"/>
    <p:sldId id="585" r:id="rId57"/>
    <p:sldId id="586" r:id="rId58"/>
    <p:sldId id="587" r:id="rId59"/>
    <p:sldId id="573" r:id="rId60"/>
    <p:sldId id="574" r:id="rId61"/>
    <p:sldId id="588" r:id="rId62"/>
    <p:sldId id="599" r:id="rId63"/>
    <p:sldId id="540" r:id="rId64"/>
  </p:sldIdLst>
  <p:sldSz cx="12192000" cy="6858000"/>
  <p:notesSz cx="6648450" cy="97821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189C332-5D43-4A60-A3F4-80866F5E9B56}">
          <p14:sldIdLst>
            <p14:sldId id="256"/>
            <p14:sldId id="257"/>
          </p14:sldIdLst>
        </p14:section>
        <p14:section name="排序的基本概念" id="{D23FD877-47E3-4561-A0B9-21DFE45B40FF}">
          <p14:sldIdLst>
            <p14:sldId id="357"/>
            <p14:sldId id="590"/>
            <p14:sldId id="591"/>
            <p14:sldId id="592"/>
            <p14:sldId id="596"/>
            <p14:sldId id="593"/>
            <p14:sldId id="594"/>
            <p14:sldId id="597"/>
            <p14:sldId id="595"/>
          </p14:sldIdLst>
        </p14:section>
        <p14:section name="插入排序" id="{5758271F-E5C1-44CF-AA38-3E519AEE3AA1}">
          <p14:sldIdLst>
            <p14:sldId id="367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89"/>
            <p14:sldId id="553"/>
            <p14:sldId id="554"/>
            <p14:sldId id="555"/>
            <p14:sldId id="556"/>
            <p14:sldId id="572"/>
            <p14:sldId id="557"/>
            <p14:sldId id="558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70"/>
            <p14:sldId id="598"/>
          </p14:sldIdLst>
        </p14:section>
        <p14:section name="希尔排序" id="{192923B8-86CB-4328-A890-E6340C477F97}">
          <p14:sldIdLst>
            <p14:sldId id="384"/>
            <p14:sldId id="571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73"/>
            <p14:sldId id="574"/>
            <p14:sldId id="588"/>
            <p14:sldId id="599"/>
            <p14:sldId id="5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FF00"/>
    <a:srgbClr val="030305"/>
    <a:srgbClr val="EA2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3374" autoAdjust="0"/>
  </p:normalViewPr>
  <p:slideViewPr>
    <p:cSldViewPr showGuides="1">
      <p:cViewPr varScale="1">
        <p:scale>
          <a:sx n="72" d="100"/>
          <a:sy n="72" d="100"/>
        </p:scale>
        <p:origin x="67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9596"/>
    </p:cViewPr>
  </p:sorterViewPr>
  <p:notesViewPr>
    <p:cSldViewPr>
      <p:cViewPr varScale="1">
        <p:scale>
          <a:sx n="78" d="100"/>
          <a:sy n="78" d="100"/>
        </p:scale>
        <p:origin x="3440" y="5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088" y="733425"/>
            <a:ext cx="6519862" cy="3668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4192EF7-8FAB-4DBB-ABF4-5586931266F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3A8806F-00E4-4B0F-8129-1EF3D61F8955}" type="slidenum">
              <a:rPr lang="en-US" altLang="zh-CN">
                <a:latin typeface="Tahoma" panose="020B0604030504040204" pitchFamily="34" charset="0"/>
              </a:rPr>
              <a:t>1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有的资料上要求</a:t>
            </a:r>
            <a:r>
              <a:rPr lang="en-US" altLang="zh-CN" dirty="0"/>
              <a:t>key</a:t>
            </a:r>
            <a:r>
              <a:rPr lang="zh-CN" altLang="en-US" dirty="0"/>
              <a:t>一定具有全序关系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查找和排序其实是不可分的，在排序的过程中也需要查找满足条件的记录的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前面提到的排序方法，对算法执行所需要的附加空间有直接影响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zh-CN" dirty="0"/>
              <a:t>1. </a:t>
            </a:r>
            <a:r>
              <a:rPr lang="zh-CN" altLang="en-US" dirty="0"/>
              <a:t>目的是减少排序过程中移动记录的次数，但是需要</a:t>
            </a:r>
            <a:r>
              <a:rPr lang="en-US" altLang="zh-CN" dirty="0"/>
              <a:t>n</a:t>
            </a:r>
            <a:r>
              <a:rPr lang="zh-CN" altLang="en-US" dirty="0"/>
              <a:t>个记录的辅助空间</a:t>
            </a:r>
          </a:p>
          <a:p>
            <a:pPr marL="228600" indent="-228600"/>
            <a:r>
              <a:rPr lang="en-US" altLang="zh-CN" dirty="0"/>
              <a:t>2. </a:t>
            </a:r>
            <a:r>
              <a:rPr lang="zh-CN" altLang="en-US" dirty="0"/>
              <a:t>用于对单链表进行排序，最后结果是求得一个有序链表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831555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1320800" y="17526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831556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320800" y="3309938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E8257D-4324-4B54-84F1-9DF7643E6C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E908A-4C76-459A-A336-37A616541AF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F5805-154D-4E02-8BA6-8EF81656EB5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D377F-8464-43C9-A800-6DC803F35E6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B7E49-A5DE-4565-B108-DFEFBDF55E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9E671-B5A5-44DF-9119-2707DFA0BA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954A3-4CD6-4380-9755-D58C5B8234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66700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304800"/>
            <a:ext cx="77978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51B09-66EC-45E5-AE1C-5A8D558185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1032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/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0" name="Group 27"/>
              <p:cNvGrpSpPr/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5" name="Group 59"/>
            <p:cNvGrpSpPr/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Arc 62"/>
              <p:cNvSpPr/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3048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9050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30529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8" name="页脚占位符 3"/>
          <p:cNvSpPr txBox="1"/>
          <p:nvPr userDrawn="1"/>
        </p:nvSpPr>
        <p:spPr bwMode="auto">
          <a:xfrm>
            <a:off x="4461835" y="6240257"/>
            <a:ext cx="701896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 dirty="0" smtClean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/>
              <a:t>复旦大学软件学院</a:t>
            </a:r>
            <a:r>
              <a:rPr lang="en-US" altLang="zh-CN" sz="1400" dirty="0"/>
              <a:t>2025</a:t>
            </a:r>
            <a:r>
              <a:rPr lang="zh-CN" altLang="en-US" sz="1400" dirty="0"/>
              <a:t>秋 </a:t>
            </a:r>
            <a:r>
              <a:rPr lang="en-US" altLang="zh-CN" sz="1400" dirty="0"/>
              <a:t>Data Structure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anose="05000000000000000000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/>
              <a:t>Data Structure</a:t>
            </a:r>
          </a:p>
        </p:txBody>
      </p:sp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sz="3600" dirty="0">
                <a:ea typeface="华文行楷" panose="02010800040101010101" pitchFamily="2" charset="-122"/>
              </a:rPr>
              <a:t>复旦大学软件学院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7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排序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5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Part I</a:t>
            </a:r>
          </a:p>
        </p:txBody>
      </p:sp>
      <p:sp>
        <p:nvSpPr>
          <p:cNvPr id="1130501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排序的基本概念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记录序列</a:t>
            </a:r>
            <a:r>
              <a:rPr lang="en-US" altLang="zh-CN" dirty="0"/>
              <a:t>/</a:t>
            </a:r>
            <a:r>
              <a:rPr lang="zh-CN" altLang="en-US" dirty="0"/>
              <a:t>数据表（</a:t>
            </a:r>
            <a:r>
              <a:rPr lang="en-US" altLang="zh-CN" dirty="0"/>
              <a:t>Data List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待排序的记录</a:t>
            </a:r>
            <a:r>
              <a:rPr lang="en-US" altLang="zh-CN" dirty="0"/>
              <a:t>(</a:t>
            </a:r>
            <a:r>
              <a:rPr lang="zh-CN" altLang="en-US" dirty="0"/>
              <a:t>数据对象</a:t>
            </a:r>
            <a:r>
              <a:rPr lang="en-US" altLang="zh-CN" dirty="0"/>
              <a:t>)</a:t>
            </a:r>
            <a:r>
              <a:rPr lang="zh-CN" altLang="en-US" dirty="0"/>
              <a:t>的有限集合</a:t>
            </a:r>
          </a:p>
          <a:p>
            <a:r>
              <a:rPr lang="zh-CN" altLang="en-US" dirty="0"/>
              <a:t>排序关键字</a:t>
            </a:r>
            <a:r>
              <a:rPr lang="en-US" altLang="zh-CN" dirty="0"/>
              <a:t>/</a:t>
            </a:r>
            <a:r>
              <a:rPr lang="zh-CN" altLang="en-US" dirty="0"/>
              <a:t>排序码（</a:t>
            </a:r>
            <a:r>
              <a:rPr lang="en-US" altLang="zh-CN" dirty="0"/>
              <a:t>Sort key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作为排序依据的记录域</a:t>
            </a:r>
          </a:p>
          <a:p>
            <a:pPr lvl="1"/>
            <a:r>
              <a:rPr lang="zh-CN" altLang="en-US" dirty="0"/>
              <a:t>一般都可以按某种方式进行排序</a:t>
            </a:r>
          </a:p>
          <a:p>
            <a:pPr lvl="1"/>
            <a:r>
              <a:rPr lang="zh-CN" altLang="en-US" dirty="0"/>
              <a:t>关键字在记录集中可以重复出现</a:t>
            </a:r>
          </a:p>
          <a:p>
            <a:r>
              <a:rPr lang="zh-CN" altLang="en-US" dirty="0"/>
              <a:t>主关键字</a:t>
            </a:r>
            <a:r>
              <a:rPr lang="en-US" altLang="zh-CN" dirty="0"/>
              <a:t>/</a:t>
            </a:r>
            <a:r>
              <a:rPr lang="zh-CN" altLang="en-US" dirty="0"/>
              <a:t>主排序码（</a:t>
            </a:r>
            <a:r>
              <a:rPr lang="en-US" altLang="zh-CN" dirty="0"/>
              <a:t>Primary key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不同的记录若关键字也互不相同，则称这种关键字为主关键字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排序（</a:t>
            </a:r>
            <a:r>
              <a:rPr lang="en-US" altLang="zh-CN" dirty="0"/>
              <a:t>Sorting</a:t>
            </a:r>
            <a:r>
              <a:rPr lang="zh-CN" altLang="en-US" dirty="0"/>
              <a:t>）的定义</a:t>
            </a:r>
            <a:endParaRPr lang="en-US" altLang="zh-CN" dirty="0"/>
          </a:p>
          <a:p>
            <a:pPr lvl="1"/>
            <a:r>
              <a:rPr lang="zh-CN" altLang="en-US" dirty="0"/>
              <a:t>重排一个记录序列，使之成为按关键字有序</a:t>
            </a:r>
          </a:p>
          <a:p>
            <a:pPr lvl="1"/>
            <a:r>
              <a:rPr lang="zh-CN" altLang="en-US" dirty="0"/>
              <a:t>一般排序后关键字都是顺序的</a:t>
            </a:r>
          </a:p>
          <a:p>
            <a:r>
              <a:rPr lang="zh-CN" altLang="en-US" dirty="0"/>
              <a:t>排序的目的和用途</a:t>
            </a:r>
            <a:endParaRPr lang="en-US" altLang="zh-CN" dirty="0"/>
          </a:p>
          <a:p>
            <a:pPr lvl="1"/>
            <a:r>
              <a:rPr lang="zh-CN" altLang="en-US" dirty="0"/>
              <a:t>很多查询算法的基础</a:t>
            </a:r>
          </a:p>
          <a:p>
            <a:pPr lvl="1"/>
            <a:r>
              <a:rPr lang="zh-CN" altLang="en-US" dirty="0"/>
              <a:t>定位元素</a:t>
            </a:r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排序的方法</a:t>
            </a:r>
            <a:endParaRPr lang="en-US" altLang="zh-CN" dirty="0"/>
          </a:p>
          <a:p>
            <a:pPr lvl="1"/>
            <a:r>
              <a:rPr lang="zh-CN" altLang="en-US" dirty="0"/>
              <a:t>直接移动记录本身</a:t>
            </a:r>
          </a:p>
          <a:p>
            <a:pPr lvl="1"/>
            <a:r>
              <a:rPr lang="zh-CN" altLang="en-US" dirty="0"/>
              <a:t>移动指向记录的指针</a:t>
            </a:r>
          </a:p>
          <a:p>
            <a:pPr lvl="2"/>
            <a:r>
              <a:rPr lang="zh-CN" altLang="en-US" dirty="0"/>
              <a:t>记录以链表方式存储</a:t>
            </a:r>
          </a:p>
          <a:p>
            <a:pPr lvl="1"/>
            <a:r>
              <a:rPr lang="zh-CN" altLang="en-US" dirty="0"/>
              <a:t>移动地址向量中指记录的“地址”</a:t>
            </a:r>
            <a:endParaRPr lang="en-US" altLang="zh-CN" dirty="0"/>
          </a:p>
          <a:p>
            <a:pPr lvl="2"/>
            <a:r>
              <a:rPr lang="zh-CN" altLang="en-US" dirty="0"/>
              <a:t>记录连续存储，另有一存储各记录地址的地址向量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排序的稳定性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700808"/>
            <a:ext cx="10363200" cy="4114800"/>
          </a:xfrm>
        </p:spPr>
        <p:txBody>
          <a:bodyPr/>
          <a:lstStyle/>
          <a:p>
            <a:r>
              <a:rPr lang="zh-CN" altLang="en-US" b="1" dirty="0"/>
              <a:t>稳定（</a:t>
            </a:r>
            <a:r>
              <a:rPr lang="en-US" altLang="zh-CN" b="1" dirty="0"/>
              <a:t>Stability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lvl="1"/>
            <a:r>
              <a:rPr lang="zh-CN" altLang="en-US" dirty="0"/>
              <a:t>关键字相等的两个记录在排序后仍能保持排序前的相对次序，则排序是稳定的，否则是不稳定的</a:t>
            </a:r>
            <a:endParaRPr lang="en-US" altLang="zh-CN" dirty="0"/>
          </a:p>
          <a:p>
            <a:pPr lvl="1"/>
            <a:r>
              <a:rPr lang="zh-CN" altLang="en-US" dirty="0"/>
              <a:t>如果在对象序列中有两 个对象</a:t>
            </a:r>
            <a:r>
              <a:rPr lang="en-US" altLang="zh-CN" dirty="0"/>
              <a:t>r[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r[j]</a:t>
            </a:r>
            <a:r>
              <a:rPr lang="zh-CN" altLang="en-US" dirty="0"/>
              <a:t>，它们的排序码 </a:t>
            </a:r>
            <a:r>
              <a:rPr lang="en-US" altLang="zh-CN" dirty="0"/>
              <a:t>k[</a:t>
            </a:r>
            <a:r>
              <a:rPr lang="en-US" altLang="zh-CN" dirty="0" err="1"/>
              <a:t>i</a:t>
            </a:r>
            <a:r>
              <a:rPr lang="en-US" altLang="zh-CN" dirty="0"/>
              <a:t>] == k[j]</a:t>
            </a:r>
            <a:r>
              <a:rPr lang="zh-CN" altLang="en-US" dirty="0"/>
              <a:t>，且在排序之前，对象</a:t>
            </a:r>
            <a:r>
              <a:rPr lang="en-US" altLang="zh-CN" dirty="0"/>
              <a:t>r[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排在</a:t>
            </a:r>
            <a:r>
              <a:rPr lang="en-US" altLang="zh-CN" dirty="0"/>
              <a:t>r[j]</a:t>
            </a:r>
            <a:r>
              <a:rPr lang="zh-CN" altLang="en-US" dirty="0"/>
              <a:t>前面。如果在排序之后，对象</a:t>
            </a:r>
            <a:r>
              <a:rPr lang="en-US" altLang="zh-CN" dirty="0"/>
              <a:t>r[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仍在对象</a:t>
            </a:r>
            <a:r>
              <a:rPr lang="en-US" altLang="zh-CN" dirty="0"/>
              <a:t>r[j]</a:t>
            </a:r>
            <a:r>
              <a:rPr lang="zh-CN" altLang="en-US" dirty="0"/>
              <a:t>的前面，则称这个排序方法是稳定的，否则称这个排序方法是不稳定的</a:t>
            </a:r>
          </a:p>
          <a:p>
            <a:r>
              <a:rPr lang="zh-CN" altLang="en-US" b="1" dirty="0"/>
              <a:t>反转（</a:t>
            </a:r>
            <a:r>
              <a:rPr lang="en-US" altLang="zh-CN" b="1" dirty="0"/>
              <a:t>Inversions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lvl="1"/>
            <a:r>
              <a:rPr lang="zh-CN" altLang="en-US" dirty="0"/>
              <a:t>在一个关键字次序为</a:t>
            </a:r>
            <a:r>
              <a:rPr lang="en-US" altLang="zh-CN" dirty="0"/>
              <a:t>k</a:t>
            </a:r>
            <a:r>
              <a:rPr lang="en-US" altLang="zh-CN" baseline="-25000" dirty="0"/>
              <a:t>0</a:t>
            </a:r>
            <a:r>
              <a:rPr lang="en-US" altLang="zh-CN" dirty="0"/>
              <a:t>,k</a:t>
            </a:r>
            <a:r>
              <a:rPr lang="en-US" altLang="zh-CN" baseline="-25000" dirty="0"/>
              <a:t>1</a:t>
            </a:r>
            <a:r>
              <a:rPr lang="en-US" altLang="zh-CN" dirty="0"/>
              <a:t>,k</a:t>
            </a:r>
            <a:r>
              <a:rPr lang="en-US" altLang="zh-CN" baseline="-25000" dirty="0"/>
              <a:t>2</a:t>
            </a:r>
            <a:r>
              <a:rPr lang="en-US" altLang="zh-CN" dirty="0"/>
              <a:t>…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n</a:t>
            </a:r>
            <a:r>
              <a:rPr lang="zh-CN" altLang="en-US" dirty="0"/>
              <a:t>的序列中，满足如下条件的整数对</a:t>
            </a:r>
            <a:r>
              <a:rPr lang="en-US" altLang="zh-CN" dirty="0"/>
              <a:t>(</a:t>
            </a:r>
            <a:r>
              <a:rPr lang="en-US" altLang="zh-CN" dirty="0" err="1"/>
              <a:t>i,j</a:t>
            </a:r>
            <a:r>
              <a:rPr lang="en-US" altLang="zh-CN" dirty="0"/>
              <a:t>)</a:t>
            </a:r>
            <a:r>
              <a:rPr lang="zh-CN" altLang="en-US" dirty="0"/>
              <a:t>的数目：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 &lt; j </a:t>
            </a:r>
            <a:r>
              <a:rPr lang="zh-CN" altLang="en-US" dirty="0">
                <a:solidFill>
                  <a:srgbClr val="FF0000"/>
                </a:solidFill>
              </a:rPr>
              <a:t>且 </a:t>
            </a:r>
            <a:r>
              <a:rPr lang="en-US" altLang="zh-CN" dirty="0" err="1">
                <a:solidFill>
                  <a:srgbClr val="FF0000"/>
                </a:solidFill>
              </a:rPr>
              <a:t>k</a:t>
            </a:r>
            <a:r>
              <a:rPr lang="en-US" altLang="zh-CN" baseline="-25000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 &gt; </a:t>
            </a:r>
            <a:r>
              <a:rPr lang="en-US" altLang="zh-CN" dirty="0" err="1">
                <a:solidFill>
                  <a:srgbClr val="FF0000"/>
                </a:solidFill>
              </a:rPr>
              <a:t>k</a:t>
            </a:r>
            <a:r>
              <a:rPr lang="en-US" altLang="zh-CN" baseline="-25000" dirty="0" err="1">
                <a:solidFill>
                  <a:srgbClr val="FF0000"/>
                </a:solidFill>
              </a:rPr>
              <a:t>j</a:t>
            </a:r>
            <a:endParaRPr lang="en-US" altLang="zh-CN" baseline="-25000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如序列</a:t>
            </a:r>
            <a:r>
              <a:rPr lang="en-US" altLang="zh-CN" dirty="0"/>
              <a:t>Charlie</a:t>
            </a:r>
            <a:r>
              <a:rPr lang="zh-CN" altLang="en-US" dirty="0"/>
              <a:t>，</a:t>
            </a:r>
            <a:r>
              <a:rPr lang="en-US" altLang="zh-CN" dirty="0"/>
              <a:t>Brawn</a:t>
            </a:r>
            <a:r>
              <a:rPr lang="zh-CN" altLang="en-US" dirty="0"/>
              <a:t>，</a:t>
            </a:r>
            <a:r>
              <a:rPr lang="en-US" altLang="zh-CN" dirty="0"/>
              <a:t>Alpha</a:t>
            </a:r>
            <a:r>
              <a:rPr lang="zh-CN" altLang="en-US" dirty="0"/>
              <a:t>中存在</a:t>
            </a:r>
            <a:r>
              <a:rPr lang="en-US" altLang="zh-CN" dirty="0"/>
              <a:t>3</a:t>
            </a:r>
            <a:r>
              <a:rPr lang="zh-CN" altLang="en-US" dirty="0"/>
              <a:t>个反转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排序的稳定性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8124" y="1447800"/>
            <a:ext cx="1080215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排序算法的选择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影响排序算法的因素</a:t>
            </a:r>
            <a:endParaRPr lang="en-US" altLang="zh-CN" dirty="0"/>
          </a:p>
          <a:p>
            <a:pPr lvl="1"/>
            <a:r>
              <a:rPr lang="zh-CN" altLang="en-US" dirty="0"/>
              <a:t>记录数量</a:t>
            </a:r>
          </a:p>
          <a:p>
            <a:pPr lvl="1"/>
            <a:r>
              <a:rPr lang="zh-CN" altLang="en-US" dirty="0"/>
              <a:t>记录大小</a:t>
            </a:r>
          </a:p>
          <a:p>
            <a:pPr lvl="1"/>
            <a:r>
              <a:rPr lang="en-US" altLang="zh-CN" dirty="0"/>
              <a:t>Key</a:t>
            </a:r>
            <a:r>
              <a:rPr lang="zh-CN" altLang="en-US" dirty="0"/>
              <a:t>的结构</a:t>
            </a:r>
          </a:p>
          <a:p>
            <a:pPr lvl="1"/>
            <a:r>
              <a:rPr lang="zh-CN" altLang="en-US" dirty="0"/>
              <a:t>记录集有序程度</a:t>
            </a:r>
          </a:p>
          <a:p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衡量排序算法好坏的因素</a:t>
            </a:r>
            <a:endParaRPr lang="en-US" altLang="zh-CN" dirty="0"/>
          </a:p>
          <a:p>
            <a:pPr lvl="1"/>
            <a:r>
              <a:rPr lang="zh-CN" altLang="en-US" dirty="0"/>
              <a:t>算法执行所需要的时间</a:t>
            </a:r>
          </a:p>
          <a:p>
            <a:pPr lvl="2"/>
            <a:r>
              <a:rPr lang="zh-CN" altLang="en-US" dirty="0"/>
              <a:t>数据比较次数</a:t>
            </a:r>
          </a:p>
          <a:p>
            <a:pPr lvl="2"/>
            <a:r>
              <a:rPr lang="zh-CN" altLang="en-US" dirty="0"/>
              <a:t>数据移动次数</a:t>
            </a:r>
          </a:p>
          <a:p>
            <a:pPr lvl="1"/>
            <a:r>
              <a:rPr lang="zh-CN" altLang="en-US" dirty="0"/>
              <a:t>算法执行所需要的附加空间</a:t>
            </a:r>
          </a:p>
          <a:p>
            <a:pPr lvl="1"/>
            <a:r>
              <a:rPr lang="zh-CN" altLang="en-US" dirty="0"/>
              <a:t>算法本身的复杂程度</a:t>
            </a:r>
          </a:p>
          <a:p>
            <a:pPr lvl="1"/>
            <a:r>
              <a:rPr lang="zh-CN" altLang="en-US" dirty="0"/>
              <a:t>其中时间开销是最重要的考虑因素</a:t>
            </a:r>
            <a:endParaRPr lang="en-US" altLang="zh-CN" dirty="0"/>
          </a:p>
          <a:p>
            <a:pPr lvl="2"/>
            <a:r>
              <a:rPr lang="zh-CN" altLang="en-US" dirty="0"/>
              <a:t>一般按平均算</a:t>
            </a:r>
            <a:endParaRPr lang="en-US" altLang="zh-CN" dirty="0"/>
          </a:p>
          <a:p>
            <a:pPr lvl="2"/>
            <a:r>
              <a:rPr lang="zh-CN" altLang="en-US" dirty="0"/>
              <a:t>有时也考虑最好和最坏情况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排序算法的分类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内部排序（</a:t>
            </a:r>
            <a:r>
              <a:rPr lang="en-US" altLang="zh-CN" dirty="0"/>
              <a:t>Internal sorting</a:t>
            </a:r>
            <a:r>
              <a:rPr lang="zh-CN" altLang="en-US" dirty="0"/>
              <a:t>）和外部排序（</a:t>
            </a:r>
            <a:r>
              <a:rPr lang="en-US" altLang="zh-CN" dirty="0"/>
              <a:t>External sorting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稳定排序和不稳定排序</a:t>
            </a:r>
            <a:endParaRPr lang="en-US" altLang="zh-CN" dirty="0"/>
          </a:p>
          <a:p>
            <a:r>
              <a:rPr lang="zh-CN" altLang="en-US" dirty="0"/>
              <a:t>基于关键字比较的排序和基于分配</a:t>
            </a:r>
            <a:r>
              <a:rPr lang="en-US" altLang="zh-CN" dirty="0"/>
              <a:t>/</a:t>
            </a:r>
            <a:r>
              <a:rPr lang="zh-CN" altLang="en-US" dirty="0"/>
              <a:t>收集方法的排序</a:t>
            </a:r>
          </a:p>
          <a:p>
            <a:r>
              <a:rPr lang="zh-CN" altLang="en-US" dirty="0"/>
              <a:t>需要知道关键字结构的排序和不需要知道关键字结构的排序</a:t>
            </a:r>
            <a:endParaRPr lang="en-US" altLang="zh-CN" dirty="0"/>
          </a:p>
          <a:p>
            <a:r>
              <a:rPr lang="zh-CN" altLang="en-US" dirty="0"/>
              <a:t>简单排序（插入、冒泡、选择）和高级排序（快速、堆、归并、（希尔））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排序算法的分类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43472" y="1420611"/>
            <a:ext cx="9911456" cy="50835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排序算法的分类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插入排序（简单插入排序、希尔排序）</a:t>
            </a:r>
          </a:p>
          <a:p>
            <a:r>
              <a:rPr lang="zh-CN" altLang="en-US" dirty="0"/>
              <a:t>交换排序（冒泡排序、快速排序）</a:t>
            </a:r>
          </a:p>
          <a:p>
            <a:r>
              <a:rPr lang="zh-CN" altLang="en-US" dirty="0"/>
              <a:t>选择排序（简单选择排序、堆排序）</a:t>
            </a:r>
          </a:p>
          <a:p>
            <a:r>
              <a:rPr lang="zh-CN" altLang="en-US" dirty="0"/>
              <a:t>归并排序</a:t>
            </a:r>
          </a:p>
          <a:p>
            <a:r>
              <a:rPr lang="zh-CN" altLang="en-US" dirty="0"/>
              <a:t>分配排序（桶式排序、基数排序）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5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Part II</a:t>
            </a:r>
          </a:p>
        </p:txBody>
      </p:sp>
      <p:sp>
        <p:nvSpPr>
          <p:cNvPr id="1130501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插入排序</a:t>
            </a: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Insert Sorting</a:t>
            </a:r>
          </a:p>
          <a:p>
            <a:pPr lvl="1" algn="just"/>
            <a:r>
              <a:rPr lang="zh-CN" altLang="en-US" dirty="0"/>
              <a:t>基本思想：每步将一个待排序的对象，按其排序码大小，插入到前面已经排好序的一组对象的适当位置上，直到对象全部插入为止</a:t>
            </a:r>
            <a:endParaRPr lang="en-US" altLang="zh-CN" dirty="0"/>
          </a:p>
          <a:p>
            <a:pPr lvl="1" algn="just"/>
            <a:r>
              <a:rPr lang="zh-CN" altLang="en-US" dirty="0"/>
              <a:t>直接插入排序：当插入第</a:t>
            </a:r>
            <a:r>
              <a:rPr lang="en-US" altLang="zh-CN" dirty="0" err="1"/>
              <a:t>i</a:t>
            </a:r>
            <a:r>
              <a:rPr lang="zh-CN" altLang="en-US" dirty="0"/>
              <a:t>个对象时，前面的</a:t>
            </a:r>
            <a:r>
              <a:rPr lang="en-US" altLang="zh-CN" dirty="0"/>
              <a:t>V[0]</a:t>
            </a:r>
            <a:r>
              <a:rPr lang="zh-CN" altLang="en-US" dirty="0"/>
              <a:t>，</a:t>
            </a:r>
            <a:r>
              <a:rPr lang="en-US" altLang="zh-CN" dirty="0"/>
              <a:t>V[1]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V[i-1]</a:t>
            </a:r>
            <a:r>
              <a:rPr lang="zh-CN" altLang="en-US" dirty="0"/>
              <a:t>已经排好序，此时，用</a:t>
            </a:r>
            <a:r>
              <a:rPr lang="en-US" altLang="zh-CN" dirty="0"/>
              <a:t>V[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的关键字与</a:t>
            </a:r>
            <a:r>
              <a:rPr lang="en-US" altLang="zh-CN" dirty="0"/>
              <a:t>V[i-1]</a:t>
            </a:r>
            <a:r>
              <a:rPr lang="zh-CN" altLang="en-US" dirty="0"/>
              <a:t>，</a:t>
            </a:r>
            <a:r>
              <a:rPr lang="en-US" altLang="zh-CN" dirty="0"/>
              <a:t>V[i-2]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的关键字顺序进行比较，找到插入位置即将</a:t>
            </a:r>
            <a:r>
              <a:rPr lang="en-US" altLang="zh-CN" dirty="0"/>
              <a:t>V[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插入，原来位置上对象向后顺移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1844824"/>
            <a:ext cx="5080000" cy="1729057"/>
          </a:xfrm>
          <a:prstGeom prst="rect">
            <a:avLst/>
          </a:prstGeom>
        </p:spPr>
      </p:pic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3861048"/>
            <a:ext cx="5080000" cy="2736504"/>
          </a:xfrm>
          <a:prstGeom prst="rect">
            <a:avLst/>
          </a:prstGeom>
        </p:spPr>
      </p:pic>
      <p:pic>
        <p:nvPicPr>
          <p:cNvPr id="8" name="内容占位符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600056" y="1847116"/>
            <a:ext cx="5080000" cy="27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内容占位符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600056" y="4707650"/>
            <a:ext cx="5080000" cy="188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</a:t>
            </a: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1905000"/>
            <a:ext cx="5080000" cy="2422881"/>
          </a:xfrm>
          <a:prstGeom prst="rect">
            <a:avLst/>
          </a:prstGeom>
        </p:spPr>
      </p:pic>
      <p:pic>
        <p:nvPicPr>
          <p:cNvPr id="10" name="内容占位符 9"/>
          <p:cNvPicPr>
            <a:picLocks noGrp="1" noChangeAspect="1"/>
          </p:cNvPicPr>
          <p:nvPr>
            <p:ph sz="half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4653136"/>
            <a:ext cx="5080000" cy="1873475"/>
          </a:xfrm>
          <a:prstGeom prst="rect">
            <a:avLst/>
          </a:prstGeom>
        </p:spPr>
      </p:pic>
      <p:pic>
        <p:nvPicPr>
          <p:cNvPr id="11" name="内容占位符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456040" y="1769608"/>
            <a:ext cx="5080000" cy="2558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内容占位符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423641" y="4623381"/>
            <a:ext cx="5080000" cy="1823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</a:t>
            </a:r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sz="half" idx="2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4293096"/>
            <a:ext cx="5080000" cy="2486110"/>
          </a:xfrm>
          <a:prstGeom prst="rect">
            <a:avLst/>
          </a:prstGeom>
        </p:spPr>
      </p:pic>
      <p:pic>
        <p:nvPicPr>
          <p:cNvPr id="9" name="内容占位符 8"/>
          <p:cNvPicPr>
            <a:picLocks noGrp="1" noChangeAspect="1"/>
          </p:cNvPicPr>
          <p:nvPr>
            <p:ph sz="half"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1666986"/>
            <a:ext cx="5080000" cy="2496581"/>
          </a:xfrm>
          <a:prstGeom prst="rect">
            <a:avLst/>
          </a:prstGeom>
        </p:spPr>
      </p:pic>
      <p:pic>
        <p:nvPicPr>
          <p:cNvPr id="11" name="内容占位符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528048" y="1666986"/>
            <a:ext cx="5080000" cy="1783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22887" y="4293096"/>
            <a:ext cx="5027483" cy="22445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</a:t>
            </a:r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sz="half" idx="2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8" y="4653136"/>
            <a:ext cx="5080000" cy="1722279"/>
          </a:xfrm>
          <a:prstGeom prst="rect">
            <a:avLst/>
          </a:prstGeom>
        </p:spPr>
      </p:pic>
      <p:pic>
        <p:nvPicPr>
          <p:cNvPr id="9" name="内容占位符 8"/>
          <p:cNvPicPr>
            <a:picLocks noGrp="1" noChangeAspect="1"/>
          </p:cNvPicPr>
          <p:nvPr>
            <p:ph sz="half"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8" y="1772816"/>
            <a:ext cx="5080000" cy="2422109"/>
          </a:xfrm>
          <a:prstGeom prst="rect">
            <a:avLst/>
          </a:prstGeom>
        </p:spPr>
      </p:pic>
      <p:pic>
        <p:nvPicPr>
          <p:cNvPr id="11" name="内容占位符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312024" y="1772816"/>
            <a:ext cx="5080000" cy="2401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内容占位符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384032" y="4653136"/>
            <a:ext cx="5080000" cy="1690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</a:t>
            </a:r>
          </a:p>
        </p:txBody>
      </p:sp>
      <p:pic>
        <p:nvPicPr>
          <p:cNvPr id="12" name="内容占位符 11"/>
          <p:cNvPicPr>
            <a:picLocks noGrp="1" noChangeAspect="1"/>
          </p:cNvPicPr>
          <p:nvPr>
            <p:ph sz="half" idx="2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2024" y="3501008"/>
            <a:ext cx="5080000" cy="1804178"/>
          </a:xfrm>
          <a:prstGeom prst="rect">
            <a:avLst/>
          </a:prstGeom>
        </p:spPr>
      </p:pic>
      <p:pic>
        <p:nvPicPr>
          <p:cNvPr id="11" name="内容占位符 10"/>
          <p:cNvPicPr>
            <a:picLocks noGrp="1" noChangeAspect="1"/>
          </p:cNvPicPr>
          <p:nvPr>
            <p:ph sz="half"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0" y="2688882"/>
            <a:ext cx="5080000" cy="25470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4422" y="1988840"/>
            <a:ext cx="10369556" cy="3947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插入排序实现改进一：哨兵结点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06153" y="1556792"/>
            <a:ext cx="7986094" cy="48112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72FADDE-BCE9-4182-A5A4-70410199FC4A}"/>
              </a:ext>
            </a:extLst>
          </p:cNvPr>
          <p:cNvSpPr/>
          <p:nvPr/>
        </p:nvSpPr>
        <p:spPr>
          <a:xfrm>
            <a:off x="263352" y="4725144"/>
            <a:ext cx="35283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插入排序中引入哨兵，是将待插入元素暂存于 </a:t>
            </a:r>
            <a:r>
              <a:rPr lang="en-US" altLang="zh-CN" sz="2000" dirty="0">
                <a:solidFill>
                  <a:srgbClr val="00B050"/>
                </a:solidFill>
              </a:rPr>
              <a:t>A[0]</a:t>
            </a:r>
            <a:r>
              <a:rPr lang="zh-CN" altLang="en-US" sz="2000" dirty="0">
                <a:solidFill>
                  <a:srgbClr val="00B050"/>
                </a:solidFill>
              </a:rPr>
              <a:t>，使得在查找插入位置时不必进行下标越界判断（原来每次循环都要判断 </a:t>
            </a:r>
            <a:r>
              <a:rPr lang="en-US" altLang="zh-CN" sz="2000" dirty="0">
                <a:solidFill>
                  <a:srgbClr val="00B050"/>
                </a:solidFill>
              </a:rPr>
              <a:t>j &gt;= 1</a:t>
            </a:r>
            <a:r>
              <a:rPr lang="zh-CN" altLang="en-US" sz="2000" dirty="0">
                <a:solidFill>
                  <a:srgbClr val="00B050"/>
                </a:solidFill>
              </a:rPr>
              <a:t>），从而简化程序结构并减少比较次数。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插入排序实现改进一：哨兵结点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18844" y="1556792"/>
            <a:ext cx="8160712" cy="481121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E41E50A-F8FA-4C23-A3CE-EDEC6FABD095}"/>
              </a:ext>
            </a:extLst>
          </p:cNvPr>
          <p:cNvSpPr/>
          <p:nvPr/>
        </p:nvSpPr>
        <p:spPr>
          <a:xfrm>
            <a:off x="263352" y="4725144"/>
            <a:ext cx="35283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插入排序中引入哨兵，是将待插入元素暂存于 </a:t>
            </a:r>
            <a:r>
              <a:rPr lang="en-US" altLang="zh-CN" sz="2000" dirty="0">
                <a:solidFill>
                  <a:srgbClr val="00B050"/>
                </a:solidFill>
              </a:rPr>
              <a:t>A[0]</a:t>
            </a:r>
            <a:r>
              <a:rPr lang="zh-CN" altLang="en-US" sz="2000" dirty="0">
                <a:solidFill>
                  <a:srgbClr val="00B050"/>
                </a:solidFill>
              </a:rPr>
              <a:t>，使得在查找插入位置时不必进行下标越界判断（原来每次循环都要判断 </a:t>
            </a:r>
            <a:r>
              <a:rPr lang="en-US" altLang="zh-CN" sz="2000" dirty="0">
                <a:solidFill>
                  <a:srgbClr val="00B050"/>
                </a:solidFill>
              </a:rPr>
              <a:t>j &gt;= 1</a:t>
            </a:r>
            <a:r>
              <a:rPr lang="zh-CN" altLang="en-US" sz="2000" dirty="0">
                <a:solidFill>
                  <a:srgbClr val="00B050"/>
                </a:solidFill>
              </a:rPr>
              <a:t>），从而简化程序结构并减少比较次数。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插入排序实现改进一：哨兵结点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89238" y="1556792"/>
            <a:ext cx="7619924" cy="481121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4755196-58D0-4610-ABD8-E6032F3F1242}"/>
              </a:ext>
            </a:extLst>
          </p:cNvPr>
          <p:cNvSpPr/>
          <p:nvPr/>
        </p:nvSpPr>
        <p:spPr>
          <a:xfrm>
            <a:off x="263352" y="4725144"/>
            <a:ext cx="35283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插入排序中引入哨兵，是将待插入元素暂存于 </a:t>
            </a:r>
            <a:r>
              <a:rPr lang="en-US" altLang="zh-CN" sz="2000" dirty="0">
                <a:solidFill>
                  <a:srgbClr val="00B050"/>
                </a:solidFill>
              </a:rPr>
              <a:t>A[0]</a:t>
            </a:r>
            <a:r>
              <a:rPr lang="zh-CN" altLang="en-US" sz="2000" dirty="0">
                <a:solidFill>
                  <a:srgbClr val="00B050"/>
                </a:solidFill>
              </a:rPr>
              <a:t>，使得在查找插入位置时不必进行下标越界判断（原来每次循环都要判断 </a:t>
            </a:r>
            <a:r>
              <a:rPr lang="en-US" altLang="zh-CN" sz="2000" dirty="0">
                <a:solidFill>
                  <a:srgbClr val="00B050"/>
                </a:solidFill>
              </a:rPr>
              <a:t>j &gt;= 1</a:t>
            </a:r>
            <a:r>
              <a:rPr lang="zh-CN" altLang="en-US" sz="2000" dirty="0">
                <a:solidFill>
                  <a:srgbClr val="00B050"/>
                </a:solidFill>
              </a:rPr>
              <a:t>），从而简化程序结构并减少比较次数。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插入排序实现改进一：哨兵结点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64360" y="1556792"/>
            <a:ext cx="7669680" cy="481121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392A17F-07D2-4AEC-9371-B5E1BE7B4B5E}"/>
              </a:ext>
            </a:extLst>
          </p:cNvPr>
          <p:cNvSpPr/>
          <p:nvPr/>
        </p:nvSpPr>
        <p:spPr>
          <a:xfrm>
            <a:off x="263352" y="4725144"/>
            <a:ext cx="35283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插入排序中引入哨兵，是将待插入元素暂存于 </a:t>
            </a:r>
            <a:r>
              <a:rPr lang="en-US" altLang="zh-CN" sz="2000" dirty="0">
                <a:solidFill>
                  <a:srgbClr val="00B050"/>
                </a:solidFill>
              </a:rPr>
              <a:t>A[0]</a:t>
            </a:r>
            <a:r>
              <a:rPr lang="zh-CN" altLang="en-US" sz="2000" dirty="0">
                <a:solidFill>
                  <a:srgbClr val="00B050"/>
                </a:solidFill>
              </a:rPr>
              <a:t>，使得在查找插入位置时不必进行下标越界判断（原来每次循环都要判断 </a:t>
            </a:r>
            <a:r>
              <a:rPr lang="en-US" altLang="zh-CN" sz="2000" dirty="0">
                <a:solidFill>
                  <a:srgbClr val="00B050"/>
                </a:solidFill>
              </a:rPr>
              <a:t>j &gt;= 1</a:t>
            </a:r>
            <a:r>
              <a:rPr lang="zh-CN" altLang="en-US" sz="2000" dirty="0">
                <a:solidFill>
                  <a:srgbClr val="00B050"/>
                </a:solidFill>
              </a:rPr>
              <a:t>），从而简化程序结构并减少比较次数。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插入排序实现改进一：哨兵结点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3670" y="1556792"/>
            <a:ext cx="7911060" cy="481121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9002FC3-2010-472B-890A-C94F89C86102}"/>
              </a:ext>
            </a:extLst>
          </p:cNvPr>
          <p:cNvSpPr/>
          <p:nvPr/>
        </p:nvSpPr>
        <p:spPr>
          <a:xfrm>
            <a:off x="263352" y="4725144"/>
            <a:ext cx="35283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插入排序中引入哨兵，是将待插入元素暂存于 </a:t>
            </a:r>
            <a:r>
              <a:rPr lang="en-US" altLang="zh-CN" sz="2000" dirty="0">
                <a:solidFill>
                  <a:srgbClr val="00B050"/>
                </a:solidFill>
              </a:rPr>
              <a:t>A[0]</a:t>
            </a:r>
            <a:r>
              <a:rPr lang="zh-CN" altLang="en-US" sz="2000" dirty="0">
                <a:solidFill>
                  <a:srgbClr val="00B050"/>
                </a:solidFill>
              </a:rPr>
              <a:t>，使得在查找插入位置时不必进行下标越界判断（原来每次循环都要判断 </a:t>
            </a:r>
            <a:r>
              <a:rPr lang="en-US" altLang="zh-CN" sz="2000" dirty="0">
                <a:solidFill>
                  <a:srgbClr val="00B050"/>
                </a:solidFill>
              </a:rPr>
              <a:t>j &gt;= 1</a:t>
            </a:r>
            <a:r>
              <a:rPr lang="zh-CN" altLang="en-US" sz="2000" dirty="0">
                <a:solidFill>
                  <a:srgbClr val="00B050"/>
                </a:solidFill>
              </a:rPr>
              <a:t>），从而简化程序结构并减少比较次数。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对链表进行插入排序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1596482"/>
            <a:ext cx="10487520" cy="47318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算法性能分析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19931" y="1556792"/>
            <a:ext cx="10158538" cy="48112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算法性能分析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8" y="1556792"/>
            <a:ext cx="10305802" cy="481121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算法性能分析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1464" y="1568068"/>
            <a:ext cx="9911456" cy="48852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算法性能分析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1464" y="1567178"/>
            <a:ext cx="9433048" cy="501685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比较次数：最少</a:t>
            </a:r>
            <a:r>
              <a:rPr lang="en-US" altLang="zh-CN" dirty="0"/>
              <a:t>n-1</a:t>
            </a:r>
            <a:r>
              <a:rPr lang="zh-CN" altLang="en-US" dirty="0"/>
              <a:t>，最多</a:t>
            </a:r>
            <a:r>
              <a:rPr lang="en-US" altLang="zh-CN" dirty="0"/>
              <a:t>n(n-1)/2</a:t>
            </a:r>
            <a:r>
              <a:rPr lang="zh-CN" altLang="en-US" dirty="0"/>
              <a:t>，平均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移动次数：最少</a:t>
            </a:r>
            <a:r>
              <a:rPr lang="en-US" altLang="zh-CN" dirty="0"/>
              <a:t>0</a:t>
            </a:r>
            <a:r>
              <a:rPr lang="zh-CN" altLang="en-US" dirty="0"/>
              <a:t>，最多</a:t>
            </a:r>
            <a:r>
              <a:rPr lang="en-US" altLang="zh-CN" dirty="0"/>
              <a:t>n(n-1)/2</a:t>
            </a:r>
            <a:r>
              <a:rPr lang="zh-CN" altLang="en-US" dirty="0"/>
              <a:t>，平均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稳定性：稳定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适应性：适用于链表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插入排序实现改进二：折半插入排序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Binary Insert Sorting</a:t>
            </a:r>
          </a:p>
          <a:p>
            <a:pPr lvl="1"/>
            <a:r>
              <a:rPr lang="zh-CN" altLang="en-US" dirty="0"/>
              <a:t>基本思想：当在前面已经排好序的</a:t>
            </a:r>
            <a:r>
              <a:rPr lang="en-US" altLang="zh-CN" dirty="0"/>
              <a:t>V[0],V[1],…,V[i-1]</a:t>
            </a:r>
            <a:r>
              <a:rPr lang="zh-CN" altLang="en-US" dirty="0"/>
              <a:t>中查找插入</a:t>
            </a:r>
            <a:r>
              <a:rPr lang="en-US" altLang="zh-CN" dirty="0"/>
              <a:t>V[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的位置时，采用折半查找法</a:t>
            </a:r>
            <a:endParaRPr lang="en-US" altLang="zh-CN" dirty="0"/>
          </a:p>
          <a:p>
            <a:pPr lvl="1"/>
            <a:r>
              <a:rPr lang="zh-CN" altLang="en-US" dirty="0"/>
              <a:t>其他类似改进思路</a:t>
            </a:r>
            <a:endParaRPr lang="en-US" altLang="zh-CN" dirty="0"/>
          </a:p>
          <a:p>
            <a:pPr lvl="2"/>
            <a:r>
              <a:rPr lang="en-US" altLang="zh-CN" dirty="0"/>
              <a:t>2-</a:t>
            </a:r>
            <a:r>
              <a:rPr lang="zh-CN" altLang="en-US" dirty="0"/>
              <a:t>路插入排序</a:t>
            </a:r>
          </a:p>
          <a:p>
            <a:pPr lvl="2"/>
            <a:r>
              <a:rPr lang="zh-CN" altLang="en-US" dirty="0"/>
              <a:t>表插入排序</a:t>
            </a: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7818" y="1556792"/>
            <a:ext cx="10042764" cy="481121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0" y="2978057"/>
            <a:ext cx="5080000" cy="1968685"/>
          </a:xfrm>
          <a:prstGeom prst="rect">
            <a:avLst/>
          </a:prstGeom>
        </p:spPr>
      </p:pic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00800" y="2960359"/>
            <a:ext cx="5080000" cy="200408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0" y="2985671"/>
            <a:ext cx="5080000" cy="1953458"/>
          </a:xfrm>
          <a:prstGeom prst="rect">
            <a:avLst/>
          </a:prstGeom>
        </p:spPr>
      </p:pic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00800" y="2375229"/>
            <a:ext cx="5080000" cy="317434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3340" y="1916832"/>
            <a:ext cx="10851720" cy="409113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0" y="1979549"/>
            <a:ext cx="10363200" cy="396570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0" y="3004094"/>
            <a:ext cx="5080000" cy="1916612"/>
          </a:xfrm>
          <a:prstGeom prst="rect">
            <a:avLst/>
          </a:prstGeom>
        </p:spPr>
      </p:pic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00800" y="2970997"/>
            <a:ext cx="5080000" cy="198280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49182" y="1905000"/>
            <a:ext cx="950003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58548" y="1905000"/>
            <a:ext cx="948130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88143" y="1905000"/>
            <a:ext cx="1002211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插入排序实现改进二：折半插入排序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0" y="1919861"/>
            <a:ext cx="10363200" cy="408507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1199" y="1772816"/>
            <a:ext cx="11553119" cy="424074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已知节点序列</a:t>
            </a:r>
            <a:r>
              <a:rPr lang="en-US" altLang="zh-CN" dirty="0"/>
              <a:t>(49,38,65,97,76,27,13,50)</a:t>
            </a:r>
            <a:r>
              <a:rPr lang="zh-CN" altLang="en-US" dirty="0"/>
              <a:t>，请给出插入排序的前三步结果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5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Part III</a:t>
            </a:r>
          </a:p>
        </p:txBody>
      </p:sp>
      <p:sp>
        <p:nvSpPr>
          <p:cNvPr id="1130501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  <a:endParaRPr lang="en-US" altLang="zh-C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Shell Sort</a:t>
            </a:r>
            <a:r>
              <a:rPr lang="zh-CN" altLang="en-US" dirty="0"/>
              <a:t>，</a:t>
            </a:r>
            <a:r>
              <a:rPr lang="en-US" altLang="zh-CN" dirty="0"/>
              <a:t>1959</a:t>
            </a:r>
            <a:r>
              <a:rPr lang="zh-CN" altLang="en-US" dirty="0"/>
              <a:t>年由</a:t>
            </a:r>
            <a:r>
              <a:rPr lang="en-US" altLang="zh-CN" dirty="0"/>
              <a:t>D.L. Shell</a:t>
            </a:r>
            <a:r>
              <a:rPr lang="zh-CN" altLang="en-US" dirty="0"/>
              <a:t>提出</a:t>
            </a:r>
            <a:endParaRPr lang="en-US" altLang="zh-CN" dirty="0"/>
          </a:p>
          <a:p>
            <a:pPr lvl="1"/>
            <a:r>
              <a:rPr lang="zh-CN" altLang="en-US" dirty="0"/>
              <a:t>又称为缩小增量排序（</a:t>
            </a:r>
            <a:r>
              <a:rPr lang="en-US" altLang="zh-CN" dirty="0"/>
              <a:t>diminishing-increment sort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algn="just"/>
            <a:r>
              <a:rPr lang="zh-CN" altLang="en-US" dirty="0"/>
              <a:t>基本思想：将整个待排序序列按照某个增量序列分隔为若干子序列，对子序列分别进行直接插入排序；待整个序列中的记录“基本有序”时，再对全体记录进行一次直接插入排序</a:t>
            </a:r>
          </a:p>
          <a:p>
            <a:pPr lvl="1"/>
            <a:r>
              <a:rPr lang="zh-CN" altLang="en-US" dirty="0"/>
              <a:t>基本算法</a:t>
            </a:r>
            <a:endParaRPr lang="en-US" altLang="zh-CN" dirty="0"/>
          </a:p>
          <a:p>
            <a:pPr lvl="2" algn="just"/>
            <a:r>
              <a:rPr lang="zh-CN" altLang="en-US" dirty="0"/>
              <a:t>设待排序的对象序列有</a:t>
            </a:r>
            <a:r>
              <a:rPr lang="en-US" altLang="zh-CN" dirty="0"/>
              <a:t>n</a:t>
            </a:r>
            <a:r>
              <a:rPr lang="zh-CN" altLang="en-US" dirty="0"/>
              <a:t>个对象，首先取一个整数</a:t>
            </a:r>
            <a:r>
              <a:rPr lang="en-US" altLang="zh-CN" dirty="0"/>
              <a:t>gap</a:t>
            </a:r>
            <a:r>
              <a:rPr lang="en-US" altLang="zh-CN" baseline="-25000" dirty="0"/>
              <a:t>0</a:t>
            </a:r>
            <a:r>
              <a:rPr lang="en-US" altLang="zh-CN" dirty="0"/>
              <a:t>&lt;n</a:t>
            </a:r>
            <a:r>
              <a:rPr lang="zh-CN" altLang="en-US" dirty="0"/>
              <a:t>作为间隔，将全部对象分为</a:t>
            </a:r>
            <a:r>
              <a:rPr lang="en-US" altLang="zh-CN" dirty="0"/>
              <a:t>gap</a:t>
            </a:r>
            <a:r>
              <a:rPr lang="en-US" altLang="zh-CN" baseline="-25000" dirty="0"/>
              <a:t>0</a:t>
            </a:r>
            <a:r>
              <a:rPr lang="zh-CN" altLang="en-US" dirty="0"/>
              <a:t>个子序列，所有距离为</a:t>
            </a:r>
            <a:r>
              <a:rPr lang="en-US" altLang="zh-CN" dirty="0"/>
              <a:t>gap</a:t>
            </a:r>
            <a:r>
              <a:rPr lang="en-US" altLang="zh-CN" baseline="-25000" dirty="0"/>
              <a:t>0</a:t>
            </a:r>
            <a:r>
              <a:rPr lang="zh-CN" altLang="en-US" dirty="0"/>
              <a:t>的对象放在同一个序列中，在每一个子序列中分别施行直接插入排序，然后缩小间隔</a:t>
            </a:r>
            <a:r>
              <a:rPr lang="en-US" altLang="zh-CN" dirty="0"/>
              <a:t>gap</a:t>
            </a:r>
            <a:r>
              <a:rPr lang="en-US" altLang="zh-CN" baseline="-25000" dirty="0"/>
              <a:t>0</a:t>
            </a:r>
            <a:r>
              <a:rPr lang="zh-CN" altLang="en-US" dirty="0"/>
              <a:t>，如取</a:t>
            </a:r>
            <a:r>
              <a:rPr lang="en-US" altLang="zh-CN" dirty="0"/>
              <a:t>gap</a:t>
            </a:r>
            <a:r>
              <a:rPr lang="en-US" altLang="zh-CN" baseline="-25000" dirty="0"/>
              <a:t>1</a:t>
            </a:r>
            <a:r>
              <a:rPr lang="en-US" altLang="zh-CN" dirty="0"/>
              <a:t>=gap</a:t>
            </a:r>
            <a:r>
              <a:rPr lang="en-US" altLang="zh-CN" baseline="-25000" dirty="0"/>
              <a:t>0</a:t>
            </a:r>
            <a:r>
              <a:rPr lang="en-US" altLang="zh-CN" dirty="0"/>
              <a:t>/2</a:t>
            </a:r>
            <a:r>
              <a:rPr lang="zh-CN" altLang="en-US" dirty="0"/>
              <a:t>，重复上述的子序列划分和排序工作，直到最后取</a:t>
            </a:r>
            <a:r>
              <a:rPr lang="en-US" altLang="zh-CN" dirty="0" err="1"/>
              <a:t>gap</a:t>
            </a:r>
            <a:r>
              <a:rPr lang="en-US" altLang="zh-CN" baseline="-25000" dirty="0" err="1"/>
              <a:t>i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r>
              <a:rPr lang="zh-CN" altLang="en-US" dirty="0"/>
              <a:t>为止</a:t>
            </a:r>
          </a:p>
          <a:p>
            <a:pPr lvl="2" algn="just"/>
            <a:r>
              <a:rPr lang="zh-CN" altLang="en-US" dirty="0"/>
              <a:t>这里</a:t>
            </a:r>
            <a:r>
              <a:rPr lang="en-US" altLang="zh-CN" dirty="0"/>
              <a:t>gap</a:t>
            </a:r>
            <a:r>
              <a:rPr lang="en-US" altLang="zh-CN" baseline="-25000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gap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 err="1"/>
              <a:t>gap</a:t>
            </a:r>
            <a:r>
              <a:rPr lang="en-US" altLang="zh-CN" baseline="-25000" dirty="0" err="1"/>
              <a:t>i</a:t>
            </a:r>
            <a:r>
              <a:rPr lang="zh-CN" altLang="en-US" dirty="0"/>
              <a:t>被称之为增量序列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88289" y="218222"/>
            <a:ext cx="2793736" cy="235941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21818" y="1556792"/>
            <a:ext cx="9154764" cy="481121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26765" y="1905000"/>
            <a:ext cx="874487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29193" y="1905000"/>
            <a:ext cx="854001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28595" y="1905000"/>
            <a:ext cx="874120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45514" y="1905000"/>
            <a:ext cx="830737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0" y="2289914"/>
            <a:ext cx="10363200" cy="334497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0" y="2288678"/>
            <a:ext cx="10363200" cy="334744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600" y="2272560"/>
            <a:ext cx="10363200" cy="337967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0625" y="1905000"/>
            <a:ext cx="923714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98035" y="1905000"/>
            <a:ext cx="92023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5233" y="1628800"/>
            <a:ext cx="8487934" cy="46672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4369" y="1905000"/>
            <a:ext cx="890966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希尔排序实现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7463" y="1628800"/>
            <a:ext cx="9523474" cy="4667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增量序列</a:t>
            </a:r>
            <a:r>
              <a:rPr lang="en-US" altLang="zh-CN" dirty="0"/>
              <a:t>gap</a:t>
            </a:r>
            <a:r>
              <a:rPr lang="zh-CN" altLang="en-US" dirty="0"/>
              <a:t>的取法研究</a:t>
            </a:r>
            <a:endParaRPr lang="en-US" altLang="zh-CN" dirty="0"/>
          </a:p>
          <a:p>
            <a:pPr lvl="1"/>
            <a:r>
              <a:rPr lang="en-US" altLang="zh-CN" dirty="0"/>
              <a:t>Shell</a:t>
            </a:r>
            <a:r>
              <a:rPr lang="zh-CN" altLang="en-US" dirty="0"/>
              <a:t>最初的方案是</a:t>
            </a:r>
            <a:r>
              <a:rPr lang="en-US" altLang="zh-CN" dirty="0"/>
              <a:t>gap= n/2</a:t>
            </a:r>
            <a:r>
              <a:rPr lang="zh-CN" altLang="en-US" dirty="0"/>
              <a:t>，</a:t>
            </a:r>
            <a:r>
              <a:rPr lang="en-US" altLang="zh-CN" dirty="0"/>
              <a:t>gap=gap/2</a:t>
            </a:r>
            <a:r>
              <a:rPr lang="zh-CN" altLang="en-US" dirty="0"/>
              <a:t>，直到</a:t>
            </a:r>
            <a:r>
              <a:rPr lang="en-US" altLang="zh-CN" dirty="0"/>
              <a:t>gap=1</a:t>
            </a:r>
          </a:p>
          <a:p>
            <a:pPr lvl="1"/>
            <a:r>
              <a:rPr lang="en-US" altLang="zh-CN" dirty="0"/>
              <a:t>Knuth</a:t>
            </a:r>
            <a:r>
              <a:rPr lang="zh-CN" altLang="en-US" dirty="0"/>
              <a:t>的方案是</a:t>
            </a:r>
            <a:r>
              <a:rPr lang="en-US" altLang="zh-CN" dirty="0"/>
              <a:t>gap = gap/3+1</a:t>
            </a:r>
          </a:p>
          <a:p>
            <a:pPr lvl="1"/>
            <a:r>
              <a:rPr lang="zh-CN" altLang="en-US" dirty="0"/>
              <a:t>研究认为都取奇数为好，</a:t>
            </a:r>
            <a:r>
              <a:rPr lang="en-US" altLang="zh-CN" dirty="0"/>
              <a:t>gap</a:t>
            </a:r>
            <a:r>
              <a:rPr lang="zh-CN" altLang="en-US" dirty="0"/>
              <a:t>互质为好</a:t>
            </a:r>
          </a:p>
          <a:p>
            <a:pPr lvl="1"/>
            <a:r>
              <a:rPr lang="en-US" altLang="zh-CN" dirty="0"/>
              <a:t>gap = [2</a:t>
            </a:r>
            <a:r>
              <a:rPr lang="en-US" altLang="zh-CN" baseline="30000" dirty="0"/>
              <a:t>[</a:t>
            </a:r>
            <a:r>
              <a:rPr lang="en-US" altLang="zh-CN" baseline="30000" dirty="0" err="1"/>
              <a:t>lgN</a:t>
            </a:r>
            <a:r>
              <a:rPr lang="en-US" altLang="zh-CN" baseline="30000" dirty="0"/>
              <a:t>]-j</a:t>
            </a:r>
            <a:r>
              <a:rPr lang="en-US" altLang="zh-CN" dirty="0"/>
              <a:t>-1]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具体分析比较困难，依赖于所取增量序列</a:t>
            </a:r>
          </a:p>
          <a:p>
            <a:pPr lvl="1"/>
            <a:r>
              <a:rPr lang="zh-CN" altLang="en-US" dirty="0"/>
              <a:t>但一般认为比直接插入排序快</a:t>
            </a:r>
          </a:p>
          <a:p>
            <a:pPr lvl="1"/>
            <a:r>
              <a:rPr lang="en-US" altLang="zh-CN" dirty="0"/>
              <a:t>Knuth</a:t>
            </a:r>
            <a:r>
              <a:rPr lang="zh-CN" altLang="en-US" dirty="0"/>
              <a:t>的统计结论是，平均比较次数和对象平均移动次数在</a:t>
            </a:r>
            <a:r>
              <a:rPr lang="en-US" altLang="zh-CN" dirty="0"/>
              <a:t>n</a:t>
            </a:r>
            <a:r>
              <a:rPr lang="en-US" altLang="zh-CN" baseline="30000" dirty="0"/>
              <a:t>1.25</a:t>
            </a:r>
            <a:r>
              <a:rPr lang="en-US" altLang="zh-CN" dirty="0"/>
              <a:t> </a:t>
            </a:r>
            <a:r>
              <a:rPr lang="zh-CN" altLang="en-US" dirty="0"/>
              <a:t>与</a:t>
            </a:r>
            <a:r>
              <a:rPr lang="en-US" altLang="zh-CN" dirty="0"/>
              <a:t>1.6n</a:t>
            </a:r>
            <a:r>
              <a:rPr lang="en-US" altLang="zh-CN" baseline="30000" dirty="0"/>
              <a:t>1.25</a:t>
            </a:r>
            <a:r>
              <a:rPr lang="zh-CN" altLang="en-US" dirty="0"/>
              <a:t>之间</a:t>
            </a:r>
          </a:p>
          <a:p>
            <a:pPr lvl="1"/>
            <a:r>
              <a:rPr lang="zh-CN" altLang="en-US" dirty="0"/>
              <a:t>如果取上页最后一种序列的话，已有证明为</a:t>
            </a:r>
            <a:r>
              <a:rPr lang="en-US" altLang="zh-CN" dirty="0"/>
              <a:t>O(N</a:t>
            </a:r>
            <a:r>
              <a:rPr lang="en-US" altLang="zh-CN" baseline="30000" dirty="0"/>
              <a:t>3/2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最坏时间复杂度：</a:t>
            </a: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空间复杂度：</a:t>
            </a:r>
            <a:r>
              <a:rPr lang="en-US" altLang="zh-CN" dirty="0"/>
              <a:t>O(1)</a:t>
            </a:r>
          </a:p>
          <a:p>
            <a:pPr lvl="1"/>
            <a:r>
              <a:rPr lang="zh-CN" altLang="en-US" dirty="0"/>
              <a:t>稳定性：不稳定</a:t>
            </a:r>
            <a:endParaRPr lang="en-US" altLang="zh-CN" dirty="0"/>
          </a:p>
          <a:p>
            <a:pPr lvl="1"/>
            <a:r>
              <a:rPr lang="zh-CN" altLang="en-US" dirty="0"/>
              <a:t>适应性：不适用于链表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2800" y="2146783"/>
            <a:ext cx="10972800" cy="363123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用希尔排序方法对一个序列进行排序时，若第一趟排序结果是</a:t>
            </a:r>
            <a:br>
              <a:rPr lang="en-US" altLang="zh-CN" dirty="0"/>
            </a:b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13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20</a:t>
            </a:r>
            <a:r>
              <a:rPr lang="zh-CN" altLang="en-US" dirty="0"/>
              <a:t>，</a:t>
            </a:r>
            <a:r>
              <a:rPr lang="en-US" altLang="zh-CN" dirty="0"/>
              <a:t>23</a:t>
            </a:r>
            <a:r>
              <a:rPr lang="zh-CN" altLang="en-US" dirty="0"/>
              <a:t>，</a:t>
            </a:r>
            <a:r>
              <a:rPr lang="en-US" altLang="zh-CN" dirty="0"/>
              <a:t>15</a:t>
            </a:r>
            <a:r>
              <a:rPr lang="zh-CN" altLang="en-US" dirty="0"/>
              <a:t>，则该趟排序采用的增量（间隔）可能是（）。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>
                <a:highlight>
                  <a:srgbClr val="FFFF00"/>
                </a:highlight>
              </a:rPr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 &amp; A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Arial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1606</Words>
  <Application>Microsoft Office PowerPoint</Application>
  <PresentationFormat>宽屏</PresentationFormat>
  <Paragraphs>180</Paragraphs>
  <Slides>63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0" baseType="lpstr">
      <vt:lpstr>华文行楷</vt:lpstr>
      <vt:lpstr>宋体</vt:lpstr>
      <vt:lpstr>Arial</vt:lpstr>
      <vt:lpstr>Tahoma</vt:lpstr>
      <vt:lpstr>Times New Roman</vt:lpstr>
      <vt:lpstr>Wingdings</vt:lpstr>
      <vt:lpstr>Blueprint</vt:lpstr>
      <vt:lpstr>Data Structure</vt:lpstr>
      <vt:lpstr>Lecture 7</vt:lpstr>
      <vt:lpstr>Part I</vt:lpstr>
      <vt:lpstr>排序的基本概念</vt:lpstr>
      <vt:lpstr>排序的基本概念</vt:lpstr>
      <vt:lpstr>排序的稳定性</vt:lpstr>
      <vt:lpstr>排序的稳定性</vt:lpstr>
      <vt:lpstr>排序算法的选择</vt:lpstr>
      <vt:lpstr>排序算法的分类</vt:lpstr>
      <vt:lpstr>排序算法的分类</vt:lpstr>
      <vt:lpstr>排序算法的分类</vt:lpstr>
      <vt:lpstr>Part II</vt:lpstr>
      <vt:lpstr>插入排序</vt:lpstr>
      <vt:lpstr>插入排序</vt:lpstr>
      <vt:lpstr>插入排序</vt:lpstr>
      <vt:lpstr>插入排序</vt:lpstr>
      <vt:lpstr>插入排序</vt:lpstr>
      <vt:lpstr>插入排序</vt:lpstr>
      <vt:lpstr>插入排序实现</vt:lpstr>
      <vt:lpstr>插入排序实现改进一：哨兵结点</vt:lpstr>
      <vt:lpstr>插入排序实现改进一：哨兵结点</vt:lpstr>
      <vt:lpstr>插入排序实现改进一：哨兵结点</vt:lpstr>
      <vt:lpstr>插入排序实现改进一：哨兵结点</vt:lpstr>
      <vt:lpstr>插入排序实现改进一：哨兵结点</vt:lpstr>
      <vt:lpstr>对链表进行插入排序</vt:lpstr>
      <vt:lpstr>算法性能分析</vt:lpstr>
      <vt:lpstr>算法性能分析</vt:lpstr>
      <vt:lpstr>算法性能分析</vt:lpstr>
      <vt:lpstr>算法性能分析</vt:lpstr>
      <vt:lpstr>算法性能分析</vt:lpstr>
      <vt:lpstr>插入排序实现改进二：折半插入排序</vt:lpstr>
      <vt:lpstr>插入排序实现改进二：折半插入排序</vt:lpstr>
      <vt:lpstr>插入排序实现改进二：折半插入排序</vt:lpstr>
      <vt:lpstr>插入排序实现改进二：折半插入排序</vt:lpstr>
      <vt:lpstr>插入排序实现改进二：折半插入排序</vt:lpstr>
      <vt:lpstr>插入排序实现改进二：折半插入排序</vt:lpstr>
      <vt:lpstr>插入排序实现改进二：折半插入排序</vt:lpstr>
      <vt:lpstr>插入排序实现改进二：折半插入排序</vt:lpstr>
      <vt:lpstr>插入排序实现改进二：折半插入排序</vt:lpstr>
      <vt:lpstr>插入排序实现改进二：折半插入排序</vt:lpstr>
      <vt:lpstr>插入排序实现改进二：折半插入排序</vt:lpstr>
      <vt:lpstr>小结</vt:lpstr>
      <vt:lpstr>习题</vt:lpstr>
      <vt:lpstr>Part III</vt:lpstr>
      <vt:lpstr>希尔排序</vt:lpstr>
      <vt:lpstr>希尔排序</vt:lpstr>
      <vt:lpstr>希尔排序</vt:lpstr>
      <vt:lpstr>希尔排序</vt:lpstr>
      <vt:lpstr>希尔排序</vt:lpstr>
      <vt:lpstr>希尔排序</vt:lpstr>
      <vt:lpstr>希尔排序</vt:lpstr>
      <vt:lpstr>希尔排序</vt:lpstr>
      <vt:lpstr>希尔排序</vt:lpstr>
      <vt:lpstr>希尔排序</vt:lpstr>
      <vt:lpstr>希尔排序</vt:lpstr>
      <vt:lpstr>希尔排序</vt:lpstr>
      <vt:lpstr>希尔排序</vt:lpstr>
      <vt:lpstr>希尔排序实现</vt:lpstr>
      <vt:lpstr>算法性能分析</vt:lpstr>
      <vt:lpstr>算法性能分析</vt:lpstr>
      <vt:lpstr>小结</vt:lpstr>
      <vt:lpstr>例题</vt:lpstr>
      <vt:lpstr>Q &amp; A</vt:lpstr>
    </vt:vector>
  </TitlesOfParts>
  <Company>113-501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Application</dc:title>
  <dc:creator>robin</dc:creator>
  <cp:lastModifiedBy>陈奕嘉</cp:lastModifiedBy>
  <cp:revision>1768</cp:revision>
  <dcterms:created xsi:type="dcterms:W3CDTF">2002-06-03T10:03:00Z</dcterms:created>
  <dcterms:modified xsi:type="dcterms:W3CDTF">2025-12-23T11:51:51Z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3071CD5F943B478384D37099920C25D9_12</vt:lpwstr>
  </property>
  <property fmtid="{D5CDD505-2E9C-101B-9397-08002B2CF9AE}" pid="3" name="KSOProductBuildVer">
    <vt:lpwstr>2052-12.1.0.23542</vt:lpwstr>
  </property>
</Properties>
</file>