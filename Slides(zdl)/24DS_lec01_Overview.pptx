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18"/>
  </p:notesMasterIdLst>
  <p:sldIdLst>
    <p:sldId id="256" r:id="rId2"/>
    <p:sldId id="311" r:id="rId3"/>
    <p:sldId id="283" r:id="rId4"/>
    <p:sldId id="295" r:id="rId5"/>
    <p:sldId id="285" r:id="rId6"/>
    <p:sldId id="286" r:id="rId7"/>
    <p:sldId id="287" r:id="rId8"/>
    <p:sldId id="289" r:id="rId9"/>
    <p:sldId id="297" r:id="rId10"/>
    <p:sldId id="323" r:id="rId11"/>
    <p:sldId id="315" r:id="rId12"/>
    <p:sldId id="316" r:id="rId13"/>
    <p:sldId id="322" r:id="rId14"/>
    <p:sldId id="327" r:id="rId15"/>
    <p:sldId id="328" r:id="rId16"/>
    <p:sldId id="277" r:id="rId17"/>
  </p:sldIdLst>
  <p:sldSz cx="12192000" cy="6858000"/>
  <p:notesSz cx="6648450" cy="97821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30305"/>
    <a:srgbClr val="EA2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80933" autoAdjust="0"/>
  </p:normalViewPr>
  <p:slideViewPr>
    <p:cSldViewPr>
      <p:cViewPr varScale="1">
        <p:scale>
          <a:sx n="85" d="100"/>
          <a:sy n="85" d="100"/>
        </p:scale>
        <p:origin x="648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152"/>
    </p:cViewPr>
  </p:sorterViewPr>
  <p:notesViewPr>
    <p:cSldViewPr>
      <p:cViewPr varScale="1">
        <p:scale>
          <a:sx n="83" d="100"/>
          <a:sy n="83" d="100"/>
        </p:scale>
        <p:origin x="3324" y="44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5088" y="733425"/>
            <a:ext cx="6519862" cy="3668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6613"/>
            <a:ext cx="4876800" cy="440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44192EF7-8FAB-4DBB-ABF4-5586931266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88667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3A8806F-00E4-4B0F-8129-1EF3D61F8955}" type="slidenum">
              <a:rPr lang="en-US" altLang="zh-CN">
                <a:latin typeface="Tahoma" pitchFamily="34" charset="0"/>
              </a:rPr>
              <a:pPr/>
              <a:t>1</a:t>
            </a:fld>
            <a:endParaRPr lang="en-US" altLang="zh-CN">
              <a:latin typeface="Tahoma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5088" y="733425"/>
            <a:ext cx="6519862" cy="3668713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39348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各位同学，大家如果还没有入群的，可以扫左边的二维码入课程微信群，课程答疑在这个地方。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2467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2654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先自我介绍下，我叫朱东来，从软院创立以来，从</a:t>
            </a:r>
            <a:r>
              <a:rPr lang="en-US" altLang="zh-CN" dirty="0"/>
              <a:t>00</a:t>
            </a:r>
            <a:r>
              <a:rPr lang="zh-CN" altLang="en-US" dirty="0"/>
              <a:t>级开始，是软件学院最早上程序设计和数据结构的老师，后来转向专上</a:t>
            </a:r>
            <a:r>
              <a:rPr lang="en-US" altLang="zh-CN" dirty="0"/>
              <a:t>Web</a:t>
            </a:r>
            <a:r>
              <a:rPr lang="zh-CN" altLang="en-US" dirty="0"/>
              <a:t>，现在又继续上数据结构了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下面是本学期的两位帅哥助教，他们也在微信群中。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注意：大家如果对于课程本身有什么建议和意见，欢迎直接和我联系；如果对</a:t>
            </a:r>
            <a:r>
              <a:rPr lang="en-US" altLang="zh-CN" dirty="0"/>
              <a:t>TA</a:t>
            </a:r>
            <a:r>
              <a:rPr lang="zh-CN" altLang="en-US" dirty="0"/>
              <a:t>有什么意见，也可以跟我说；如果做</a:t>
            </a:r>
            <a:r>
              <a:rPr lang="en-US" altLang="zh-CN" dirty="0"/>
              <a:t>PJ</a:t>
            </a:r>
            <a:r>
              <a:rPr lang="zh-CN" altLang="en-US" dirty="0"/>
              <a:t>过程中碰上什么具体技术问题，对不起，请直接与</a:t>
            </a:r>
            <a:r>
              <a:rPr lang="en-US" altLang="zh-CN" dirty="0"/>
              <a:t>TA</a:t>
            </a:r>
            <a:r>
              <a:rPr lang="zh-CN" altLang="en-US" dirty="0"/>
              <a:t>联系。也就是说，我只负责解答面上问题，而不是技术细节。此外，如果大家愿意聊聊人生，聊聊行业，倒是随时欢迎。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8486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目前这个阶段，对大家来说核心是网上平台渠道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根据学校的要求，网上平台有多个。首先按照要求，</a:t>
            </a:r>
            <a:r>
              <a:rPr lang="en-US" altLang="zh-CN" dirty="0" err="1"/>
              <a:t>elearning</a:t>
            </a:r>
            <a:r>
              <a:rPr lang="zh-CN" altLang="en-US" dirty="0"/>
              <a:t>是主站，老师必须将所有的</a:t>
            </a:r>
            <a:r>
              <a:rPr lang="en-US" altLang="zh-CN" dirty="0"/>
              <a:t>PPT</a:t>
            </a:r>
            <a:r>
              <a:rPr lang="zh-CN" altLang="en-US" dirty="0"/>
              <a:t>、视频和课程资料放在上面，同时也鼓励大家通过其讨论区进行讨论；微信群我们用于课程的答疑讨论。根据学校要求，我们会在上课时间段内守在群里，大家有什么问题可以问。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总之，鼓励大家在</a:t>
            </a:r>
            <a:r>
              <a:rPr lang="en-US" altLang="zh-CN" dirty="0" err="1"/>
              <a:t>elearning</a:t>
            </a:r>
            <a:r>
              <a:rPr lang="zh-CN" altLang="en-US" dirty="0"/>
              <a:t>的讨论区提问，这样可以避免在群里信息被冲掉，也可以减轻</a:t>
            </a:r>
            <a:r>
              <a:rPr lang="en-US" altLang="zh-CN" dirty="0"/>
              <a:t>TA</a:t>
            </a:r>
            <a:r>
              <a:rPr lang="zh-CN" altLang="en-US" dirty="0"/>
              <a:t>的负担，而且问题和回答大家都能看到。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456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58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6789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课程的学习和考核是持续</a:t>
            </a:r>
            <a:r>
              <a:rPr lang="zh-CN" altLang="en-US"/>
              <a:t>的，光靠期末突击是不行的。</a:t>
            </a:r>
            <a:endParaRPr lang="en-US" altLang="zh-CN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再次重复：学习是为了自己，是自主性学习，课堂学习和成绩是下限</a:t>
            </a:r>
            <a:r>
              <a:rPr lang="en-US" altLang="zh-CN" dirty="0"/>
              <a:t>……</a:t>
            </a: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9633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我们会从基本数据结构和基本算法动作两个角度入手展开课程，然后视进度而言看展开那些高级话题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0607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学院部分教师认为这本书比较好，也是国内考研的主要参考教材之一。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缺点是理论内容偏多。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0588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学习非常重要的一点就是内容广泛，技术升级换代快；因此自己寻找资源，评估资源，快速学习能力非常重要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对于每个技术而言，可能最好有三方面的图书或者资料：语法学习类，（属性）参考类（或者说参考手册类），应用类或者说最佳实践类；此外还有不针对具体技术的综述类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我们后面所有提到的书籍均提供英文电子版，如果有中文版电子版尽可能提供，顺便提供核心书籍的相关代码。</a:t>
            </a:r>
            <a:endParaRPr lang="en-US" altLang="zh-CN" dirty="0"/>
          </a:p>
          <a:p>
            <a:r>
              <a:rPr lang="zh-CN" altLang="en-US" dirty="0"/>
              <a:t>（知识产权问题：作为知识工作者，应尽量尊重知识产权，买正版书；作为教育，鼓励大家帮我提供最新版的电子版，帮助大家学习）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840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选书，首选作者，其次是系列，再次是出版社。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另外历史上，</a:t>
            </a:r>
            <a:r>
              <a:rPr lang="en-US" altLang="zh-CN" dirty="0"/>
              <a:t>Jolt</a:t>
            </a:r>
            <a:r>
              <a:rPr lang="zh-CN" altLang="en-US" dirty="0"/>
              <a:t>大奖是图书质量的有力佐证，相当于计算机图书的奥斯卡（可惜已经没有了，但是历史得奖的作者、图书和系列还是可以参考的）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1577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左边这本书的缺点是</a:t>
            </a:r>
            <a:r>
              <a:rPr lang="en-US" altLang="zh-CN" dirty="0"/>
              <a:t>C++</a:t>
            </a:r>
            <a:r>
              <a:rPr lang="zh-CN" altLang="en-US" dirty="0"/>
              <a:t>细节太多，试图体现现代</a:t>
            </a:r>
            <a:r>
              <a:rPr lang="en-US" altLang="zh-CN" dirty="0"/>
              <a:t>C++</a:t>
            </a:r>
            <a:r>
              <a:rPr lang="zh-CN" altLang="en-US" dirty="0"/>
              <a:t>思想下的工程编程实践，但影响了对数据结构的专注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453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831555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1320800" y="17526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831556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320800" y="3309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E8257D-4324-4B54-84F1-9DF7643E6C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449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46223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E908A-4C76-459A-A336-37A616541A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92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1311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F5805-154D-4E02-8BA6-8EF81656EB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32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82238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D377F-8464-43C9-A800-6DC803F35E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927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B7E49-A5DE-4565-B108-DFEFBDF55E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230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9E671-B5A5-44DF-9119-2707DFA0BA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671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954A3-4CD6-4380-9755-D58C5B8234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016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66700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304800"/>
            <a:ext cx="77978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51B09-66EC-45E5-AE1C-5A8D558185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965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3048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9050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30529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3053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711411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 smtClean="0">
                <a:latin typeface="+mn-lt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30531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fld id="{A9383992-8E9F-402F-903C-68A540BFA1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8" name="页脚占位符 3"/>
          <p:cNvSpPr txBox="1">
            <a:spLocks/>
          </p:cNvSpPr>
          <p:nvPr userDrawn="1"/>
        </p:nvSpPr>
        <p:spPr bwMode="auto">
          <a:xfrm>
            <a:off x="4165600" y="6248400"/>
            <a:ext cx="701896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 dirty="0" smtClean="0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/>
              <a:t>复旦大学软件学院</a:t>
            </a:r>
            <a:r>
              <a:rPr lang="en-US" altLang="zh-CN" sz="1400" dirty="0"/>
              <a:t>2025</a:t>
            </a:r>
            <a:r>
              <a:rPr lang="zh-CN" altLang="en-US" sz="1400" dirty="0"/>
              <a:t>秋 </a:t>
            </a:r>
            <a:r>
              <a:rPr lang="en-US" altLang="zh-CN" sz="1400" dirty="0"/>
              <a:t>Data Structure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itchFamily="2" charset="2"/>
        <a:buChar char="Ø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zhudl@fudan.edu.c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23210240098@fudan.edu.cn" TargetMode="External"/><Relationship Id="rId4" Type="http://schemas.openxmlformats.org/officeDocument/2006/relationships/hyperlink" Target="mailto:23210240083@fudan.edu.cn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/>
              <a:t>Data Structure</a:t>
            </a:r>
          </a:p>
        </p:txBody>
      </p:sp>
      <p:sp>
        <p:nvSpPr>
          <p:cNvPr id="3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sz="3600" dirty="0">
                <a:ea typeface="华文行楷" pitchFamily="2" charset="-122"/>
              </a:rPr>
              <a:t>复旦大学软件学院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课程群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22F8F3B-E1F8-7A02-9707-F66826A8B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435" y="1905000"/>
            <a:ext cx="2655530" cy="4114800"/>
          </a:xfrm>
        </p:spPr>
      </p:pic>
    </p:spTree>
    <p:extLst>
      <p:ext uri="{BB962C8B-B14F-4D97-AF65-F5344CB8AC3E}">
        <p14:creationId xmlns:p14="http://schemas.microsoft.com/office/powerpoint/2010/main" val="2235000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 1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课程介绍</a:t>
            </a:r>
          </a:p>
        </p:txBody>
      </p:sp>
    </p:spTree>
    <p:extLst>
      <p:ext uri="{BB962C8B-B14F-4D97-AF65-F5344CB8AC3E}">
        <p14:creationId xmlns:p14="http://schemas.microsoft.com/office/powerpoint/2010/main" val="2295384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Who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7791969"/>
              </p:ext>
            </p:extLst>
          </p:nvPr>
        </p:nvGraphicFramePr>
        <p:xfrm>
          <a:off x="2351584" y="2204864"/>
          <a:ext cx="7776864" cy="1828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姓名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Email</a:t>
                      </a:r>
                      <a:endParaRPr lang="zh-CN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教师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朱东来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hlinkClick r:id="rId3"/>
                        </a:rPr>
                        <a:t>zhudl@fudan.edu.cn</a:t>
                      </a:r>
                      <a:endParaRPr lang="zh-CN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助教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覃逸成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hlinkClick r:id="rId4"/>
                        </a:rPr>
                        <a:t>23210240424@fudan.edu.cn</a:t>
                      </a:r>
                      <a:r>
                        <a:rPr lang="en-US" altLang="zh-CN" sz="2400" dirty="0"/>
                        <a:t> </a:t>
                      </a:r>
                      <a:r>
                        <a:rPr lang="en-US" altLang="zh-CN" sz="2400" baseline="0" dirty="0"/>
                        <a:t> </a:t>
                      </a:r>
                      <a:r>
                        <a:rPr lang="en-US" altLang="zh-CN" sz="2400" dirty="0"/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于海涛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hlinkClick r:id="rId5"/>
                        </a:rPr>
                        <a:t>24210240385@fudan.edu.cn</a:t>
                      </a:r>
                      <a:r>
                        <a:rPr lang="en-US" altLang="zh-CN" sz="2400" dirty="0"/>
                        <a:t> 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68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 &amp; Where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700808"/>
            <a:ext cx="10363200" cy="4114800"/>
          </a:xfrm>
        </p:spPr>
        <p:txBody>
          <a:bodyPr/>
          <a:lstStyle/>
          <a:p>
            <a:r>
              <a:rPr lang="zh-CN" altLang="en-US" dirty="0"/>
              <a:t>授课</a:t>
            </a:r>
            <a:endParaRPr lang="en-US" altLang="zh-CN" dirty="0"/>
          </a:p>
          <a:p>
            <a:pPr lvl="1"/>
            <a:r>
              <a:rPr lang="zh-CN" altLang="en-US" dirty="0"/>
              <a:t>周一下午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/>
            <a:r>
              <a:rPr lang="en-US" altLang="zh-CN" dirty="0"/>
              <a:t>H6101</a:t>
            </a:r>
          </a:p>
          <a:p>
            <a:r>
              <a:rPr lang="zh-CN" altLang="en-US" dirty="0"/>
              <a:t>实验</a:t>
            </a:r>
            <a:endParaRPr lang="en-US" altLang="zh-CN" dirty="0"/>
          </a:p>
          <a:p>
            <a:pPr lvl="1"/>
            <a:r>
              <a:rPr lang="zh-CN" altLang="en-US" dirty="0"/>
              <a:t>周二上午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/>
            <a:r>
              <a:rPr lang="zh-CN" altLang="en-US" dirty="0"/>
              <a:t>逸夫楼</a:t>
            </a:r>
            <a:r>
              <a:rPr lang="en-US" altLang="zh-CN" dirty="0"/>
              <a:t>202</a:t>
            </a:r>
          </a:p>
          <a:p>
            <a:r>
              <a:rPr lang="zh-CN" altLang="en-US" dirty="0"/>
              <a:t>网上平台</a:t>
            </a:r>
            <a:endParaRPr lang="en-US" altLang="zh-CN" dirty="0"/>
          </a:p>
          <a:p>
            <a:pPr lvl="1"/>
            <a:r>
              <a:rPr lang="en-US" altLang="zh-CN" dirty="0" err="1"/>
              <a:t>elearning</a:t>
            </a:r>
            <a:r>
              <a:rPr lang="zh-CN" altLang="en-US" dirty="0"/>
              <a:t>：主站；</a:t>
            </a:r>
            <a:r>
              <a:rPr lang="en-US" altLang="zh-CN" dirty="0"/>
              <a:t>PPT</a:t>
            </a:r>
            <a:r>
              <a:rPr lang="zh-CN" altLang="en-US" dirty="0"/>
              <a:t>和课程参考资料；讨论区</a:t>
            </a:r>
            <a:endParaRPr lang="en-US" altLang="zh-CN" dirty="0"/>
          </a:p>
          <a:p>
            <a:pPr lvl="1"/>
            <a:r>
              <a:rPr lang="zh-CN" altLang="en-US" dirty="0"/>
              <a:t>微信群：答疑、讨论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30395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计算机学科的基础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面试和考研的核心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计算思维和认知模式的改进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2558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宏观的视角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宽广的视野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完整的体系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实际的应用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86402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非常困难，需要额外努力</a:t>
            </a:r>
            <a:endParaRPr lang="en-US" altLang="zh-CN" dirty="0"/>
          </a:p>
          <a:p>
            <a:r>
              <a:rPr lang="en-US" altLang="zh-CN" dirty="0"/>
              <a:t>F</a:t>
            </a:r>
            <a:r>
              <a:rPr lang="zh-CN" altLang="en-US" dirty="0"/>
              <a:t>非常困难，需要屡交白卷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Lab		15</a:t>
            </a:r>
            <a:br>
              <a:rPr lang="en-US" altLang="zh-CN" dirty="0"/>
            </a:br>
            <a:r>
              <a:rPr lang="en-US" altLang="zh-CN" dirty="0"/>
              <a:t>Project	20</a:t>
            </a:r>
            <a:br>
              <a:rPr lang="en-US" altLang="zh-CN" dirty="0"/>
            </a:br>
            <a:r>
              <a:rPr lang="en-US" altLang="zh-CN" dirty="0"/>
              <a:t>Midterm	15</a:t>
            </a:r>
            <a:r>
              <a:rPr lang="zh-CN" altLang="en-US" dirty="0"/>
              <a:t>（</a:t>
            </a:r>
            <a:r>
              <a:rPr lang="zh-CN" altLang="en-US"/>
              <a:t>中文）</a:t>
            </a:r>
            <a:br>
              <a:rPr lang="en-US" altLang="zh-CN" dirty="0"/>
            </a:br>
            <a:r>
              <a:rPr lang="en-US" altLang="zh-CN" dirty="0"/>
              <a:t>Final	50</a:t>
            </a:r>
            <a:r>
              <a:rPr lang="zh-CN" altLang="en-US" dirty="0"/>
              <a:t>（中文）</a:t>
            </a:r>
            <a:br>
              <a:rPr lang="en-US" altLang="zh-CN" dirty="0"/>
            </a:br>
            <a:r>
              <a:rPr lang="en-US" altLang="zh-CN" dirty="0"/>
              <a:t>——————————</a:t>
            </a:r>
            <a:br>
              <a:rPr lang="en-US" altLang="zh-CN" dirty="0"/>
            </a:br>
            <a:r>
              <a:rPr lang="en-US" altLang="zh-CN" dirty="0"/>
              <a:t>		100</a:t>
            </a:r>
          </a:p>
        </p:txBody>
      </p:sp>
    </p:spTree>
    <p:extLst>
      <p:ext uri="{BB962C8B-B14F-4D97-AF65-F5344CB8AC3E}">
        <p14:creationId xmlns:p14="http://schemas.microsoft.com/office/powerpoint/2010/main" val="234310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学习内容展望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基本概念（</a:t>
            </a:r>
            <a:r>
              <a:rPr lang="en-US" altLang="zh-CN" dirty="0"/>
              <a:t>Concepts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线性表、栈和队列（</a:t>
            </a:r>
            <a:r>
              <a:rPr lang="en-US" altLang="zh-CN" dirty="0"/>
              <a:t>List</a:t>
            </a:r>
            <a:r>
              <a:rPr lang="zh-CN" altLang="en-US" dirty="0"/>
              <a:t>、</a:t>
            </a:r>
            <a:r>
              <a:rPr lang="en-US" altLang="zh-CN" dirty="0"/>
              <a:t>Stack</a:t>
            </a:r>
            <a:r>
              <a:rPr lang="zh-CN" altLang="en-US" dirty="0"/>
              <a:t>、</a:t>
            </a:r>
            <a:r>
              <a:rPr lang="en-US" altLang="zh-CN" dirty="0"/>
              <a:t>Queue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树（</a:t>
            </a:r>
            <a:r>
              <a:rPr lang="en-US" altLang="zh-CN" dirty="0"/>
              <a:t>Tree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图（</a:t>
            </a:r>
            <a:r>
              <a:rPr lang="en-US" altLang="zh-CN" dirty="0"/>
              <a:t>Map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查找（</a:t>
            </a:r>
            <a:r>
              <a:rPr lang="en-US" altLang="zh-CN" dirty="0"/>
              <a:t>Search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排序（</a:t>
            </a:r>
            <a:r>
              <a:rPr lang="en-US" altLang="zh-CN" dirty="0"/>
              <a:t>Sort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高级话题*（</a:t>
            </a:r>
            <a:r>
              <a:rPr lang="en-US" altLang="zh-CN" dirty="0"/>
              <a:t>Advanced Topic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26067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参考教材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数据结构（面对对象方法与</a:t>
            </a:r>
            <a:r>
              <a:rPr lang="en-US" altLang="zh-CN" dirty="0"/>
              <a:t>C++</a:t>
            </a:r>
            <a:r>
              <a:rPr lang="zh-CN" altLang="en-US" dirty="0"/>
              <a:t>语言描述）</a:t>
            </a:r>
            <a:endParaRPr lang="en-US" altLang="zh-CN" dirty="0"/>
          </a:p>
          <a:p>
            <a:pPr lvl="1"/>
            <a:r>
              <a:rPr lang="zh-CN" altLang="en-US" dirty="0"/>
              <a:t>殷人昆</a:t>
            </a:r>
            <a:endParaRPr lang="en-US" altLang="zh-CN" dirty="0"/>
          </a:p>
          <a:p>
            <a:pPr lvl="1"/>
            <a:r>
              <a:rPr lang="zh-CN" altLang="en-US" dirty="0"/>
              <a:t>清华大学出版社</a:t>
            </a:r>
            <a:endParaRPr lang="en-US" altLang="zh-CN" dirty="0"/>
          </a:p>
          <a:p>
            <a:pPr lvl="1"/>
            <a:r>
              <a:rPr lang="en-US" altLang="zh-CN" dirty="0"/>
              <a:t>2021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766887" y="1905000"/>
            <a:ext cx="378142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52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参考书籍及挑选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四类参考书籍</a:t>
            </a:r>
            <a:endParaRPr lang="en-US" altLang="zh-CN" dirty="0"/>
          </a:p>
          <a:p>
            <a:pPr lvl="1"/>
            <a:r>
              <a:rPr lang="zh-CN" altLang="en-US" dirty="0"/>
              <a:t>入门类</a:t>
            </a:r>
            <a:endParaRPr lang="en-US" altLang="zh-CN" dirty="0"/>
          </a:p>
          <a:p>
            <a:pPr lvl="1"/>
            <a:r>
              <a:rPr lang="zh-CN" altLang="en-US" dirty="0"/>
              <a:t>参考类</a:t>
            </a:r>
            <a:endParaRPr lang="en-US" altLang="zh-CN" dirty="0"/>
          </a:p>
          <a:p>
            <a:pPr lvl="1"/>
            <a:r>
              <a:rPr lang="zh-CN" altLang="en-US" dirty="0"/>
              <a:t>应用类</a:t>
            </a:r>
            <a:endParaRPr lang="en-US" altLang="zh-CN" dirty="0"/>
          </a:p>
          <a:p>
            <a:pPr lvl="1"/>
            <a:r>
              <a:rPr lang="zh-CN" altLang="en-US" dirty="0"/>
              <a:t>综述类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9473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参考书籍及挑选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作者</a:t>
            </a:r>
            <a:endParaRPr lang="en-US" altLang="zh-CN" dirty="0"/>
          </a:p>
          <a:p>
            <a:pPr lvl="1"/>
            <a:r>
              <a:rPr lang="en-US" altLang="zh-CN" dirty="0"/>
              <a:t>Bjarne </a:t>
            </a:r>
            <a:r>
              <a:rPr lang="en-US" altLang="zh-CN" dirty="0" err="1"/>
              <a:t>Stroustrup</a:t>
            </a:r>
            <a:r>
              <a:rPr lang="zh-CN" altLang="en-US" dirty="0"/>
              <a:t>、</a:t>
            </a:r>
            <a:r>
              <a:rPr lang="en-US" altLang="zh-CN" dirty="0"/>
              <a:t>Stanley B. </a:t>
            </a:r>
            <a:r>
              <a:rPr lang="en-US" altLang="zh-CN" dirty="0" err="1"/>
              <a:t>Lippman</a:t>
            </a:r>
            <a:r>
              <a:rPr lang="zh-CN" altLang="en-US" dirty="0"/>
              <a:t>、</a:t>
            </a:r>
            <a:r>
              <a:rPr lang="en-US" altLang="zh-CN" dirty="0"/>
              <a:t>Scott Meyers</a:t>
            </a:r>
            <a:r>
              <a:rPr lang="zh-CN" altLang="en-US" dirty="0"/>
              <a:t>、</a:t>
            </a:r>
            <a:r>
              <a:rPr lang="en-US" altLang="zh-CN" dirty="0"/>
              <a:t>Bruce </a:t>
            </a:r>
            <a:r>
              <a:rPr lang="en-US" altLang="zh-CN" dirty="0" err="1"/>
              <a:t>Eckel</a:t>
            </a:r>
            <a:r>
              <a:rPr lang="zh-CN" altLang="en-US" dirty="0"/>
              <a:t>、</a:t>
            </a:r>
            <a:r>
              <a:rPr lang="en-US" altLang="zh-CN" dirty="0"/>
              <a:t>Stephen </a:t>
            </a:r>
            <a:r>
              <a:rPr lang="en-US" altLang="zh-CN" dirty="0" err="1"/>
              <a:t>Prata</a:t>
            </a:r>
            <a:r>
              <a:rPr lang="zh-CN" altLang="en-US" dirty="0"/>
              <a:t>、侯捷、潘爱民</a:t>
            </a:r>
          </a:p>
          <a:p>
            <a:pPr lvl="1"/>
            <a:r>
              <a:rPr lang="en-US" altLang="zh-CN" dirty="0"/>
              <a:t>Donald E. Knuth</a:t>
            </a:r>
            <a:r>
              <a:rPr lang="zh-CN" altLang="en-US" dirty="0"/>
              <a:t>、</a:t>
            </a:r>
            <a:r>
              <a:rPr lang="en-US" altLang="zh-CN" dirty="0"/>
              <a:t>Thomas H. </a:t>
            </a:r>
            <a:r>
              <a:rPr lang="en-US" altLang="zh-CN" dirty="0" err="1"/>
              <a:t>Cormen</a:t>
            </a:r>
            <a:r>
              <a:rPr lang="zh-CN" altLang="en-US" dirty="0"/>
              <a:t>、</a:t>
            </a:r>
            <a:r>
              <a:rPr lang="en-US" altLang="zh-CN" dirty="0"/>
              <a:t>Robert Sedgewick</a:t>
            </a:r>
            <a:r>
              <a:rPr lang="zh-CN" altLang="en-US" dirty="0"/>
              <a:t>、</a:t>
            </a:r>
            <a:r>
              <a:rPr lang="en-US" altLang="zh-CN" dirty="0"/>
              <a:t>Mark Allen Weiss</a:t>
            </a:r>
          </a:p>
          <a:p>
            <a:r>
              <a:rPr lang="zh-CN" altLang="en-US" dirty="0"/>
              <a:t>出版社</a:t>
            </a:r>
            <a:endParaRPr lang="en-US" altLang="zh-CN" dirty="0"/>
          </a:p>
          <a:p>
            <a:pPr lvl="1"/>
            <a:r>
              <a:rPr lang="en-US" altLang="zh-CN" dirty="0"/>
              <a:t>Pearson Education</a:t>
            </a:r>
            <a:r>
              <a:rPr lang="zh-CN" altLang="en-US" dirty="0"/>
              <a:t>（</a:t>
            </a:r>
            <a:r>
              <a:rPr lang="en-US" altLang="zh-CN" dirty="0"/>
              <a:t>Addison-Wesley</a:t>
            </a:r>
            <a:r>
              <a:rPr lang="zh-CN" altLang="en-US" dirty="0"/>
              <a:t>）、（</a:t>
            </a:r>
            <a:r>
              <a:rPr lang="en-US" altLang="zh-CN" dirty="0" err="1"/>
              <a:t>Packt</a:t>
            </a:r>
            <a:r>
              <a:rPr lang="zh-CN" altLang="en-US" dirty="0"/>
              <a:t>、</a:t>
            </a:r>
            <a:r>
              <a:rPr lang="en-US" altLang="zh-CN" dirty="0" err="1"/>
              <a:t>Oreilly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Jolt</a:t>
            </a:r>
            <a:r>
              <a:rPr lang="zh-CN" altLang="en-US" dirty="0"/>
              <a:t>大奖</a:t>
            </a:r>
          </a:p>
        </p:txBody>
      </p:sp>
    </p:spTree>
    <p:extLst>
      <p:ext uri="{BB962C8B-B14F-4D97-AF65-F5344CB8AC3E}">
        <p14:creationId xmlns:p14="http://schemas.microsoft.com/office/powerpoint/2010/main" val="2645690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参考书籍及挑选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国外出版社</a:t>
            </a:r>
            <a:endParaRPr lang="en-US" altLang="zh-CN" dirty="0"/>
          </a:p>
          <a:p>
            <a:pPr lvl="1"/>
            <a:r>
              <a:rPr lang="en-US" altLang="zh-CN" dirty="0"/>
              <a:t>Addison-Wesley</a:t>
            </a:r>
            <a:r>
              <a:rPr lang="zh-CN" altLang="en-US" dirty="0"/>
              <a:t>：</a:t>
            </a:r>
            <a:r>
              <a:rPr lang="en-US" altLang="zh-CN" dirty="0"/>
              <a:t>C++</a:t>
            </a:r>
            <a:r>
              <a:rPr lang="zh-CN" altLang="en-US" dirty="0"/>
              <a:t>出版的传统王者</a:t>
            </a:r>
            <a:endParaRPr lang="en-US" altLang="zh-CN" dirty="0"/>
          </a:p>
          <a:p>
            <a:r>
              <a:rPr lang="zh-CN" altLang="en-US" dirty="0"/>
              <a:t>国内出版社</a:t>
            </a:r>
            <a:endParaRPr lang="en-US" altLang="zh-CN" dirty="0"/>
          </a:p>
          <a:p>
            <a:pPr lvl="1"/>
            <a:r>
              <a:rPr lang="zh-CN" altLang="en-US" dirty="0"/>
              <a:t>机械工业出版社、电子工业出版社、人民邮电出版社、中国电力出版社</a:t>
            </a:r>
          </a:p>
        </p:txBody>
      </p:sp>
    </p:spTree>
    <p:extLst>
      <p:ext uri="{BB962C8B-B14F-4D97-AF65-F5344CB8AC3E}">
        <p14:creationId xmlns:p14="http://schemas.microsoft.com/office/powerpoint/2010/main" val="1077137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参考书籍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177" y="1825625"/>
            <a:ext cx="3093522" cy="4356278"/>
          </a:xfrm>
        </p:spPr>
      </p:pic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193706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参考书籍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331" y="1825625"/>
            <a:ext cx="4351338" cy="4351338"/>
          </a:xfrm>
        </p:spPr>
      </p:pic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50" y="1996281"/>
            <a:ext cx="2857500" cy="4010025"/>
          </a:xfrm>
        </p:spPr>
      </p:pic>
    </p:spTree>
    <p:extLst>
      <p:ext uri="{BB962C8B-B14F-4D97-AF65-F5344CB8AC3E}">
        <p14:creationId xmlns:p14="http://schemas.microsoft.com/office/powerpoint/2010/main" val="1593720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Q &amp; 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2807682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Arial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41508</TotalTime>
  <Words>948</Words>
  <Application>Microsoft Office PowerPoint</Application>
  <PresentationFormat>宽屏</PresentationFormat>
  <Paragraphs>122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华文行楷</vt:lpstr>
      <vt:lpstr>Arial</vt:lpstr>
      <vt:lpstr>Tahoma</vt:lpstr>
      <vt:lpstr>Times New Roman</vt:lpstr>
      <vt:lpstr>Wingdings</vt:lpstr>
      <vt:lpstr>Blueprint</vt:lpstr>
      <vt:lpstr>Data Structure</vt:lpstr>
      <vt:lpstr>课程群</vt:lpstr>
      <vt:lpstr>Lecture 1</vt:lpstr>
      <vt:lpstr>Who</vt:lpstr>
      <vt:lpstr>When &amp; Where</vt:lpstr>
      <vt:lpstr>Why</vt:lpstr>
      <vt:lpstr>What</vt:lpstr>
      <vt:lpstr>评分</vt:lpstr>
      <vt:lpstr>学习内容展望</vt:lpstr>
      <vt:lpstr>参考教材</vt:lpstr>
      <vt:lpstr>参考书籍及挑选</vt:lpstr>
      <vt:lpstr>参考书籍及挑选</vt:lpstr>
      <vt:lpstr>参考书籍及挑选</vt:lpstr>
      <vt:lpstr>参考书籍</vt:lpstr>
      <vt:lpstr>参考书籍</vt:lpstr>
      <vt:lpstr>Q &amp; A</vt:lpstr>
    </vt:vector>
  </TitlesOfParts>
  <Company>113-501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Application</dc:title>
  <dc:creator>robin</dc:creator>
  <cp:lastModifiedBy>东来 朱</cp:lastModifiedBy>
  <cp:revision>1536</cp:revision>
  <dcterms:created xsi:type="dcterms:W3CDTF">2002-06-03T10:03:09Z</dcterms:created>
  <dcterms:modified xsi:type="dcterms:W3CDTF">2025-09-07T11:54:19Z</dcterms:modified>
</cp:coreProperties>
</file>