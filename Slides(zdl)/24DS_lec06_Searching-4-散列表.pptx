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537" r:id="rId4"/>
    <p:sldId id="538" r:id="rId5"/>
    <p:sldId id="539" r:id="rId6"/>
    <p:sldId id="543" r:id="rId7"/>
    <p:sldId id="544" r:id="rId8"/>
    <p:sldId id="546" r:id="rId9"/>
    <p:sldId id="547" r:id="rId10"/>
    <p:sldId id="548" r:id="rId11"/>
    <p:sldId id="549" r:id="rId12"/>
    <p:sldId id="550" r:id="rId13"/>
    <p:sldId id="551" r:id="rId14"/>
    <p:sldId id="552" r:id="rId15"/>
    <p:sldId id="553" r:id="rId16"/>
    <p:sldId id="554" r:id="rId17"/>
    <p:sldId id="555" r:id="rId18"/>
    <p:sldId id="567" r:id="rId19"/>
    <p:sldId id="568" r:id="rId20"/>
    <p:sldId id="558" r:id="rId21"/>
    <p:sldId id="569" r:id="rId22"/>
    <p:sldId id="559" r:id="rId23"/>
    <p:sldId id="556" r:id="rId24"/>
    <p:sldId id="557" r:id="rId25"/>
    <p:sldId id="572" r:id="rId26"/>
    <p:sldId id="560" r:id="rId27"/>
    <p:sldId id="561" r:id="rId28"/>
    <p:sldId id="563" r:id="rId29"/>
    <p:sldId id="545" r:id="rId30"/>
    <p:sldId id="574" r:id="rId31"/>
    <p:sldId id="575" r:id="rId32"/>
    <p:sldId id="580" r:id="rId33"/>
    <p:sldId id="589" r:id="rId34"/>
    <p:sldId id="590" r:id="rId35"/>
    <p:sldId id="591" r:id="rId36"/>
    <p:sldId id="592" r:id="rId37"/>
    <p:sldId id="593" r:id="rId38"/>
    <p:sldId id="594" r:id="rId39"/>
    <p:sldId id="595" r:id="rId40"/>
    <p:sldId id="596" r:id="rId41"/>
    <p:sldId id="597" r:id="rId42"/>
    <p:sldId id="598" r:id="rId43"/>
    <p:sldId id="599" r:id="rId44"/>
    <p:sldId id="600" r:id="rId45"/>
    <p:sldId id="581" r:id="rId46"/>
    <p:sldId id="582" r:id="rId47"/>
    <p:sldId id="601" r:id="rId48"/>
    <p:sldId id="602" r:id="rId49"/>
    <p:sldId id="603" r:id="rId50"/>
    <p:sldId id="585" r:id="rId51"/>
    <p:sldId id="586" r:id="rId52"/>
    <p:sldId id="604" r:id="rId53"/>
    <p:sldId id="605" r:id="rId54"/>
    <p:sldId id="606" r:id="rId55"/>
    <p:sldId id="583" r:id="rId56"/>
    <p:sldId id="584" r:id="rId57"/>
    <p:sldId id="587" r:id="rId58"/>
    <p:sldId id="576" r:id="rId59"/>
    <p:sldId id="607" r:id="rId60"/>
    <p:sldId id="608" r:id="rId61"/>
    <p:sldId id="609" r:id="rId62"/>
    <p:sldId id="610" r:id="rId63"/>
    <p:sldId id="611" r:id="rId64"/>
    <p:sldId id="612" r:id="rId65"/>
    <p:sldId id="613" r:id="rId66"/>
    <p:sldId id="614" r:id="rId67"/>
    <p:sldId id="615" r:id="rId68"/>
    <p:sldId id="616" r:id="rId69"/>
    <p:sldId id="618" r:id="rId70"/>
    <p:sldId id="578" r:id="rId71"/>
    <p:sldId id="579" r:id="rId72"/>
    <p:sldId id="619" r:id="rId73"/>
    <p:sldId id="620" r:id="rId74"/>
    <p:sldId id="621" r:id="rId75"/>
    <p:sldId id="622" r:id="rId76"/>
    <p:sldId id="564" r:id="rId77"/>
    <p:sldId id="565" r:id="rId78"/>
    <p:sldId id="566" r:id="rId79"/>
    <p:sldId id="623" r:id="rId80"/>
    <p:sldId id="624" r:id="rId81"/>
    <p:sldId id="625" r:id="rId82"/>
    <p:sldId id="626" r:id="rId83"/>
    <p:sldId id="440" r:id="rId84"/>
  </p:sldIdLst>
  <p:sldSz cx="12192000" cy="6858000"/>
  <p:notesSz cx="6648450" cy="978217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189C332-5D43-4A60-A3F4-80866F5E9B56}">
          <p14:sldIdLst>
            <p14:sldId id="256"/>
            <p14:sldId id="257"/>
          </p14:sldIdLst>
        </p14:section>
        <p14:section name="散列表" id="{6EA82414-FB87-4DBE-9282-8E25E301CD0D}">
          <p14:sldIdLst>
            <p14:sldId id="537"/>
            <p14:sldId id="538"/>
            <p14:sldId id="539"/>
            <p14:sldId id="543"/>
            <p14:sldId id="544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67"/>
            <p14:sldId id="568"/>
            <p14:sldId id="558"/>
            <p14:sldId id="569"/>
            <p14:sldId id="559"/>
            <p14:sldId id="556"/>
            <p14:sldId id="557"/>
            <p14:sldId id="572"/>
            <p14:sldId id="560"/>
            <p14:sldId id="561"/>
            <p14:sldId id="563"/>
            <p14:sldId id="545"/>
            <p14:sldId id="574"/>
            <p14:sldId id="575"/>
            <p14:sldId id="580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581"/>
            <p14:sldId id="582"/>
            <p14:sldId id="601"/>
            <p14:sldId id="602"/>
            <p14:sldId id="603"/>
            <p14:sldId id="585"/>
            <p14:sldId id="586"/>
            <p14:sldId id="604"/>
            <p14:sldId id="605"/>
            <p14:sldId id="606"/>
            <p14:sldId id="583"/>
            <p14:sldId id="584"/>
            <p14:sldId id="587"/>
            <p14:sldId id="57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8"/>
            <p14:sldId id="578"/>
            <p14:sldId id="579"/>
            <p14:sldId id="619"/>
            <p14:sldId id="620"/>
            <p14:sldId id="621"/>
            <p14:sldId id="622"/>
            <p14:sldId id="564"/>
            <p14:sldId id="565"/>
            <p14:sldId id="566"/>
            <p14:sldId id="623"/>
            <p14:sldId id="624"/>
            <p14:sldId id="625"/>
            <p14:sldId id="626"/>
            <p14:sldId id="4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00"/>
    <a:srgbClr val="030305"/>
    <a:srgbClr val="EA2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0" autoAdjust="0"/>
    <p:restoredTop sz="80719" autoAdjust="0"/>
  </p:normalViewPr>
  <p:slideViewPr>
    <p:cSldViewPr showGuides="1">
      <p:cViewPr varScale="1">
        <p:scale>
          <a:sx n="63" d="100"/>
          <a:sy n="63" d="100"/>
        </p:scale>
        <p:origin x="571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4488"/>
    </p:cViewPr>
  </p:sorterViewPr>
  <p:notesViewPr>
    <p:cSldViewPr>
      <p:cViewPr varScale="1">
        <p:scale>
          <a:sx n="78" d="100"/>
          <a:sy n="78" d="100"/>
        </p:scale>
        <p:origin x="3440" y="5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2.xml"/><Relationship Id="rId13" Type="http://schemas.openxmlformats.org/officeDocument/2006/relationships/slide" Target="slides/slide30.xml"/><Relationship Id="rId18" Type="http://schemas.openxmlformats.org/officeDocument/2006/relationships/slide" Target="slides/slide51.xml"/><Relationship Id="rId3" Type="http://schemas.openxmlformats.org/officeDocument/2006/relationships/slide" Target="slides/slide10.xml"/><Relationship Id="rId21" Type="http://schemas.openxmlformats.org/officeDocument/2006/relationships/slide" Target="slides/slide57.xml"/><Relationship Id="rId7" Type="http://schemas.openxmlformats.org/officeDocument/2006/relationships/slide" Target="slides/slide20.xml"/><Relationship Id="rId12" Type="http://schemas.openxmlformats.org/officeDocument/2006/relationships/slide" Target="slides/slide28.xml"/><Relationship Id="rId17" Type="http://schemas.openxmlformats.org/officeDocument/2006/relationships/slide" Target="slides/slide50.xml"/><Relationship Id="rId2" Type="http://schemas.openxmlformats.org/officeDocument/2006/relationships/slide" Target="slides/slide9.xml"/><Relationship Id="rId16" Type="http://schemas.openxmlformats.org/officeDocument/2006/relationships/slide" Target="slides/slide46.xml"/><Relationship Id="rId20" Type="http://schemas.openxmlformats.org/officeDocument/2006/relationships/slide" Target="slides/slide56.xml"/><Relationship Id="rId1" Type="http://schemas.openxmlformats.org/officeDocument/2006/relationships/slide" Target="slides/slide1.xml"/><Relationship Id="rId6" Type="http://schemas.openxmlformats.org/officeDocument/2006/relationships/slide" Target="slides/slide16.xml"/><Relationship Id="rId11" Type="http://schemas.openxmlformats.org/officeDocument/2006/relationships/slide" Target="slides/slide27.xml"/><Relationship Id="rId5" Type="http://schemas.openxmlformats.org/officeDocument/2006/relationships/slide" Target="slides/slide15.xml"/><Relationship Id="rId15" Type="http://schemas.openxmlformats.org/officeDocument/2006/relationships/slide" Target="slides/slide32.xml"/><Relationship Id="rId10" Type="http://schemas.openxmlformats.org/officeDocument/2006/relationships/slide" Target="slides/slide26.xml"/><Relationship Id="rId19" Type="http://schemas.openxmlformats.org/officeDocument/2006/relationships/slide" Target="slides/slide55.xml"/><Relationship Id="rId4" Type="http://schemas.openxmlformats.org/officeDocument/2006/relationships/slide" Target="slides/slide11.xml"/><Relationship Id="rId9" Type="http://schemas.openxmlformats.org/officeDocument/2006/relationships/slide" Target="slides/slide23.xml"/><Relationship Id="rId14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5088" y="733425"/>
            <a:ext cx="6519862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dirty="0"/>
              <a:t>单击此处编辑母版文本样式</a:t>
            </a:r>
          </a:p>
          <a:p>
            <a:pPr lvl="1"/>
            <a:r>
              <a:rPr lang="zh-CN" altLang="en-US" noProof="0" dirty="0"/>
              <a:t>第二级</a:t>
            </a:r>
          </a:p>
          <a:p>
            <a:pPr lvl="2"/>
            <a:r>
              <a:rPr lang="zh-CN" altLang="en-US" noProof="0" dirty="0"/>
              <a:t>第三级</a:t>
            </a:r>
          </a:p>
          <a:p>
            <a:pPr lvl="3"/>
            <a:r>
              <a:rPr lang="zh-CN" altLang="en-US" noProof="0" dirty="0"/>
              <a:t>第四级</a:t>
            </a:r>
          </a:p>
          <a:p>
            <a:pPr lvl="4"/>
            <a:r>
              <a:rPr lang="zh-CN" altLang="en-US" noProof="0" dirty="0"/>
              <a:t>第五级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4192EF7-8FAB-4DBB-ABF4-5586931266F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A8806F-00E4-4B0F-8129-1EF3D61F8955}" type="slidenum">
              <a:rPr lang="en-US" altLang="zh-CN">
                <a:latin typeface="Tahoma" panose="020B0604030504040204" pitchFamily="34" charset="0"/>
              </a:rPr>
              <a:t>1</a:t>
            </a:fld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5088" y="733425"/>
            <a:ext cx="6519862" cy="366871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冲突（</a:t>
            </a:r>
            <a:r>
              <a:rPr lang="en-US" altLang="zh-CN" dirty="0"/>
              <a:t>collision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同义词（</a:t>
            </a:r>
            <a:r>
              <a:rPr lang="en-US" altLang="zh-CN" dirty="0"/>
              <a:t>synonym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前面说的闭散列方法都可以认为是</a:t>
            </a:r>
            <a:r>
              <a:rPr lang="en-US" altLang="zh-CN" dirty="0"/>
              <a:t>s=1</a:t>
            </a:r>
            <a:r>
              <a:rPr lang="zh-CN" altLang="en-US" dirty="0"/>
              <a:t>时候的特例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58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开散列方法一般可以有较高的装载因子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一点小优化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192EF7-8FAB-4DBB-ABF4-5586931266FD}" type="slidenum">
              <a:rPr lang="en-US" altLang="zh-CN" smtClean="0"/>
              <a:t>69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97" y="3346"/>
                <a:ext cx="156" cy="157"/>
              </a:xfrm>
              <a:custGeom>
                <a:avLst/>
                <a:gdLst>
                  <a:gd name="T0" fmla="*/ 76 w 43195"/>
                  <a:gd name="T1" fmla="*/ 0 h 43200"/>
                  <a:gd name="T2" fmla="*/ 0 w 43195"/>
                  <a:gd name="T3" fmla="*/ 80 h 43200"/>
                  <a:gd name="T4" fmla="*/ 78 w 43195"/>
                  <a:gd name="T5" fmla="*/ 79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83155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1320800" y="17526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83155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20800" y="3309938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E8257D-4324-4B54-84F1-9DF7643E6C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E908A-4C76-459A-A336-37A616541AF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F5805-154D-4E02-8BA6-8EF81656EB5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D377F-8464-43C9-A800-6DC803F35E6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B7E49-A5DE-4565-B108-DFEFBDF55E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9E671-B5A5-44DF-9119-2707DFA0BA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954A3-4CD6-4380-9755-D58C5B8234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667000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304800"/>
            <a:ext cx="77978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71141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51B09-66EC-45E5-AE1C-5A8D558185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17601" y="2362201"/>
            <a:ext cx="10257367" cy="37242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Software School 2003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255B254A-C4E4-4989-8676-B58C472785C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grpSp>
          <p:nvGrpSpPr>
            <p:cNvPr id="1032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/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0" name="Group 27"/>
              <p:cNvGrpSpPr/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5" name="Group 59"/>
            <p:cNvGrpSpPr/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7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8" name="Arc 62"/>
              <p:cNvSpPr/>
              <p:nvPr/>
            </p:nvSpPr>
            <p:spPr bwMode="ltGray">
              <a:xfrm flipH="1">
                <a:off x="217" y="916"/>
                <a:ext cx="239" cy="239"/>
              </a:xfrm>
              <a:custGeom>
                <a:avLst/>
                <a:gdLst>
                  <a:gd name="T0" fmla="*/ 117 w 43195"/>
                  <a:gd name="T1" fmla="*/ 0 h 43200"/>
                  <a:gd name="T2" fmla="*/ 0 w 43195"/>
                  <a:gd name="T3" fmla="*/ 122 h 43200"/>
                  <a:gd name="T4" fmla="*/ 119 w 43195"/>
                  <a:gd name="T5" fmla="*/ 12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048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050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3052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8" name="页脚占位符 3"/>
          <p:cNvSpPr txBox="1"/>
          <p:nvPr userDrawn="1"/>
        </p:nvSpPr>
        <p:spPr bwMode="auto">
          <a:xfrm>
            <a:off x="4461835" y="6240257"/>
            <a:ext cx="701896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400" kern="1200" dirty="0" smtClean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/>
              <a:t>复旦大学软件学院</a:t>
            </a:r>
            <a:r>
              <a:rPr lang="en-US" altLang="zh-CN" sz="1400" dirty="0"/>
              <a:t>2025</a:t>
            </a:r>
            <a:r>
              <a:rPr lang="zh-CN" altLang="en-US" sz="1400" dirty="0"/>
              <a:t>秋 </a:t>
            </a:r>
            <a:r>
              <a:rPr lang="en-US" altLang="zh-CN" sz="1400" dirty="0"/>
              <a:t>Data Structure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Ø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6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z="4000" dirty="0"/>
              <a:t>Data Structure</a:t>
            </a: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sz="3600" dirty="0">
                <a:ea typeface="华文行楷" panose="02010800040101010101" pitchFamily="2" charset="-122"/>
              </a:rPr>
              <a:t>复旦大学软件学院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6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查找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Part I</a:t>
            </a:r>
            <a:endParaRPr lang="en-US" altLang="zh-CN" dirty="0"/>
          </a:p>
        </p:txBody>
      </p:sp>
      <p:sp>
        <p:nvSpPr>
          <p:cNvPr id="1130501" name="Rectangle 5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散列（</a:t>
            </a:r>
            <a:r>
              <a:rPr lang="en-US" altLang="zh-CN" dirty="0"/>
              <a:t>Hash</a:t>
            </a:r>
            <a:r>
              <a:rPr lang="zh-CN" altLang="en-US"/>
              <a:t>）表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散列基本概念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58735" y="1484784"/>
            <a:ext cx="9680930" cy="4955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散列方案的核心问题</a:t>
            </a:r>
            <a:endParaRPr lang="en-US" altLang="zh-CN" dirty="0"/>
          </a:p>
          <a:p>
            <a:pPr lvl="1"/>
            <a:r>
              <a:rPr lang="zh-CN" altLang="en-US" dirty="0"/>
              <a:t>对于给定的一个关键字集合，选择一个计算简单且地址分布比较均匀的散列函数，避免或尽量减少冲突</a:t>
            </a:r>
          </a:p>
          <a:p>
            <a:pPr lvl="1"/>
            <a:r>
              <a:rPr lang="zh-CN" altLang="en-US" dirty="0"/>
              <a:t> 拟订解决冲突的方案</a:t>
            </a:r>
            <a:endParaRPr lang="en-US" altLang="zh-CN" dirty="0"/>
          </a:p>
          <a:p>
            <a:r>
              <a:rPr lang="zh-CN" altLang="en-US" dirty="0"/>
              <a:t>散列问题的解题要素</a:t>
            </a:r>
            <a:endParaRPr lang="en-US" altLang="zh-CN" dirty="0"/>
          </a:p>
          <a:p>
            <a:pPr lvl="1"/>
            <a:r>
              <a:rPr lang="zh-CN" altLang="en-US" dirty="0"/>
              <a:t>关键字集合特征（关键字个数）</a:t>
            </a:r>
            <a:endParaRPr lang="en-US" altLang="zh-CN" dirty="0"/>
          </a:p>
          <a:p>
            <a:pPr lvl="1"/>
            <a:r>
              <a:rPr lang="zh-CN" altLang="en-US" dirty="0"/>
              <a:t>散列表长度（负载因子）</a:t>
            </a:r>
            <a:endParaRPr lang="en-US" altLang="zh-CN" dirty="0"/>
          </a:p>
          <a:p>
            <a:pPr lvl="1"/>
            <a:r>
              <a:rPr lang="zh-CN" altLang="en-US" dirty="0"/>
              <a:t>散列函数</a:t>
            </a:r>
            <a:endParaRPr lang="en-US" altLang="zh-CN" dirty="0"/>
          </a:p>
          <a:p>
            <a:pPr lvl="1"/>
            <a:r>
              <a:rPr lang="zh-CN" altLang="en-US" dirty="0"/>
              <a:t>冲突处理方法（表内、表外）、聚集处理方法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7600" y="1905000"/>
            <a:ext cx="10363200" cy="4404320"/>
          </a:xfrm>
        </p:spPr>
        <p:txBody>
          <a:bodyPr/>
          <a:lstStyle/>
          <a:p>
            <a:r>
              <a:rPr lang="zh-CN" altLang="en-US" dirty="0"/>
              <a:t>又称哈希函数（</a:t>
            </a:r>
            <a:r>
              <a:rPr lang="en-US" altLang="zh-CN" dirty="0"/>
              <a:t>Hash</a:t>
            </a:r>
            <a:r>
              <a:rPr lang="zh-CN" altLang="en-US" dirty="0"/>
              <a:t>函数），是从元素关键字集合到散列表地址集合的一个映射</a:t>
            </a:r>
            <a:endParaRPr lang="en-US" altLang="zh-CN" dirty="0"/>
          </a:p>
          <a:p>
            <a:r>
              <a:rPr lang="zh-CN" altLang="en-US" dirty="0"/>
              <a:t>一般是一个压缩映象函数，完全不冲突是不可能的</a:t>
            </a:r>
            <a:endParaRPr lang="en-US" altLang="zh-CN" dirty="0"/>
          </a:p>
          <a:p>
            <a:r>
              <a:rPr lang="zh-CN" altLang="en-US" dirty="0"/>
              <a:t>构造散列函数的几点要求</a:t>
            </a:r>
            <a:endParaRPr lang="en-US" altLang="zh-CN" dirty="0"/>
          </a:p>
          <a:p>
            <a:pPr lvl="1"/>
            <a:r>
              <a:rPr lang="zh-CN" altLang="en-US" dirty="0"/>
              <a:t>散列函数应是简单的，能在较短的时间内计算出结果</a:t>
            </a:r>
            <a:endParaRPr lang="en-US" altLang="zh-CN" dirty="0"/>
          </a:p>
          <a:p>
            <a:pPr lvl="1"/>
            <a:r>
              <a:rPr lang="zh-CN" altLang="en-US" dirty="0"/>
              <a:t>散列函数的定义域必须包括需要存储的全部关键字；如果散列表允许有</a:t>
            </a:r>
            <a:r>
              <a:rPr lang="en-US" altLang="zh-CN" dirty="0"/>
              <a:t>m</a:t>
            </a:r>
            <a:r>
              <a:rPr lang="zh-CN" altLang="en-US" dirty="0"/>
              <a:t>个地址时，函数值域必须在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m-1</a:t>
            </a:r>
            <a:r>
              <a:rPr lang="zh-CN" altLang="en-US" dirty="0"/>
              <a:t>之间</a:t>
            </a:r>
            <a:endParaRPr lang="en-US" altLang="zh-CN" dirty="0"/>
          </a:p>
          <a:p>
            <a:pPr lvl="1"/>
            <a:r>
              <a:rPr lang="zh-CN" altLang="en-US" dirty="0"/>
              <a:t>散列函数计算出来的地址应能均匀分布在整个地址空间中</a:t>
            </a:r>
            <a:endParaRPr lang="en-US" altLang="zh-CN" dirty="0"/>
          </a:p>
          <a:p>
            <a:pPr lvl="2"/>
            <a:r>
              <a:rPr lang="zh-CN" altLang="en-US" dirty="0"/>
              <a:t>若</a:t>
            </a:r>
            <a:r>
              <a:rPr lang="en-US" altLang="zh-CN" dirty="0"/>
              <a:t>key</a:t>
            </a:r>
            <a:r>
              <a:rPr lang="zh-CN" altLang="en-US" dirty="0"/>
              <a:t>是从关键码集合中随机抽取的一个关键字，散列函数应能以（尽可能）同等概率取</a:t>
            </a:r>
            <a:r>
              <a:rPr lang="en-US" altLang="zh-CN" dirty="0"/>
              <a:t>0</a:t>
            </a:r>
            <a:r>
              <a:rPr lang="zh-CN" altLang="en-US" dirty="0"/>
              <a:t>到 </a:t>
            </a:r>
            <a:r>
              <a:rPr lang="en-US" altLang="zh-CN" dirty="0"/>
              <a:t>m-1</a:t>
            </a:r>
            <a:r>
              <a:rPr lang="zh-CN" altLang="en-US" dirty="0"/>
              <a:t>中的每一个值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判断</a:t>
            </a:r>
            <a:r>
              <a:rPr lang="en-US" altLang="zh-CN" dirty="0"/>
              <a:t>Hash</a:t>
            </a:r>
            <a:r>
              <a:rPr lang="zh-CN" altLang="en-US" dirty="0"/>
              <a:t>函数好坏的依据</a:t>
            </a:r>
            <a:endParaRPr lang="en-US" altLang="zh-CN" dirty="0"/>
          </a:p>
          <a:p>
            <a:pPr lvl="1"/>
            <a:r>
              <a:rPr lang="zh-CN" altLang="en-US" dirty="0"/>
              <a:t>计算函数所需的时间</a:t>
            </a:r>
          </a:p>
          <a:p>
            <a:pPr lvl="1"/>
            <a:r>
              <a:rPr lang="zh-CN" altLang="en-US" dirty="0"/>
              <a:t>发生冲突的可能</a:t>
            </a:r>
          </a:p>
          <a:p>
            <a:pPr lvl="1"/>
            <a:r>
              <a:rPr lang="zh-CN" altLang="en-US" dirty="0"/>
              <a:t>计算后函数值在子集中的分布情况</a:t>
            </a:r>
          </a:p>
          <a:p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选择</a:t>
            </a:r>
            <a:r>
              <a:rPr lang="en-US" altLang="zh-CN" dirty="0"/>
              <a:t>Hash</a:t>
            </a:r>
            <a:r>
              <a:rPr lang="zh-CN" altLang="en-US" dirty="0"/>
              <a:t>函数的依据</a:t>
            </a:r>
            <a:endParaRPr lang="en-US" altLang="zh-CN" dirty="0"/>
          </a:p>
          <a:p>
            <a:pPr lvl="1"/>
            <a:r>
              <a:rPr lang="en-US" altLang="zh-CN" dirty="0"/>
              <a:t>key</a:t>
            </a:r>
            <a:r>
              <a:rPr lang="zh-CN" altLang="en-US" dirty="0"/>
              <a:t>的长度</a:t>
            </a:r>
          </a:p>
          <a:p>
            <a:pPr lvl="1"/>
            <a:r>
              <a:rPr lang="en-US" altLang="zh-CN" dirty="0"/>
              <a:t>key</a:t>
            </a:r>
            <a:r>
              <a:rPr lang="zh-CN" altLang="en-US" dirty="0"/>
              <a:t>的分布情况</a:t>
            </a:r>
          </a:p>
          <a:p>
            <a:pPr lvl="1"/>
            <a:r>
              <a:rPr lang="en-US" altLang="zh-CN" dirty="0"/>
              <a:t>Hash</a:t>
            </a:r>
            <a:r>
              <a:rPr lang="zh-CN" altLang="en-US" dirty="0"/>
              <a:t>表的大小</a:t>
            </a:r>
          </a:p>
          <a:p>
            <a:pPr lvl="1"/>
            <a:r>
              <a:rPr lang="zh-CN" altLang="en-US" dirty="0"/>
              <a:t>记录的查找频率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常见的散列函数</a:t>
            </a:r>
            <a:endParaRPr lang="en-US" altLang="zh-CN" dirty="0"/>
          </a:p>
          <a:p>
            <a:pPr lvl="1"/>
            <a:r>
              <a:rPr lang="zh-CN" altLang="en-US" dirty="0">
                <a:highlight>
                  <a:srgbClr val="FFFF00"/>
                </a:highlight>
              </a:rPr>
              <a:t>除留余数法</a:t>
            </a:r>
            <a:endParaRPr lang="en-US" altLang="zh-CN" dirty="0">
              <a:highlight>
                <a:srgbClr val="FFFF00"/>
              </a:highlight>
            </a:endParaRPr>
          </a:p>
          <a:p>
            <a:pPr lvl="1"/>
            <a:r>
              <a:rPr lang="zh-CN" altLang="en-US" dirty="0"/>
              <a:t>直接定址法</a:t>
            </a:r>
            <a:endParaRPr lang="en-US" altLang="zh-CN" dirty="0"/>
          </a:p>
          <a:p>
            <a:pPr lvl="1"/>
            <a:r>
              <a:rPr lang="zh-CN" altLang="en-US" dirty="0"/>
              <a:t>数字分析法</a:t>
            </a:r>
            <a:endParaRPr lang="en-US" altLang="zh-CN" dirty="0"/>
          </a:p>
          <a:p>
            <a:pPr lvl="1"/>
            <a:r>
              <a:rPr lang="zh-CN" altLang="en-US" dirty="0"/>
              <a:t>平方取中法</a:t>
            </a:r>
            <a:endParaRPr lang="en-US" altLang="zh-CN" dirty="0"/>
          </a:p>
          <a:p>
            <a:pPr lvl="1"/>
            <a:r>
              <a:rPr lang="zh-CN" altLang="en-US" dirty="0"/>
              <a:t>移位法</a:t>
            </a:r>
            <a:r>
              <a:rPr lang="en-US" altLang="zh-CN" dirty="0"/>
              <a:t>/</a:t>
            </a:r>
            <a:r>
              <a:rPr lang="zh-CN" altLang="en-US" dirty="0"/>
              <a:t>折叠法</a:t>
            </a:r>
            <a:endParaRPr lang="en-US" altLang="zh-CN" dirty="0"/>
          </a:p>
          <a:p>
            <a:pPr lvl="1"/>
            <a:r>
              <a:rPr lang="zh-CN" altLang="en-US" dirty="0"/>
              <a:t>相乘散列法</a:t>
            </a:r>
            <a:endParaRPr lang="en-US" altLang="zh-CN" dirty="0"/>
          </a:p>
          <a:p>
            <a:pPr lvl="1"/>
            <a:r>
              <a:rPr lang="zh-CN" altLang="en-US" dirty="0"/>
              <a:t>基数映射法</a:t>
            </a:r>
            <a:endParaRPr lang="en-US" altLang="zh-CN" dirty="0"/>
          </a:p>
          <a:p>
            <a:pPr lvl="1"/>
            <a:r>
              <a:rPr lang="zh-CN" altLang="en-US" dirty="0"/>
              <a:t>随机数法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散列函数的实例</a:t>
            </a:r>
            <a:endParaRPr lang="en-US" altLang="zh-CN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已知一个含有</a:t>
            </a:r>
            <a:r>
              <a:rPr lang="en-US" altLang="zh-CN" dirty="0"/>
              <a:t>70</a:t>
            </a:r>
            <a:r>
              <a:rPr lang="zh-CN" altLang="en-US" dirty="0"/>
              <a:t>个结点的线性表，其关键字是两位十进制数字组成</a:t>
            </a:r>
          </a:p>
          <a:p>
            <a:pPr lvl="1"/>
            <a:r>
              <a:rPr lang="zh-CN" altLang="en-US" dirty="0"/>
              <a:t>建一个长度为</a:t>
            </a:r>
            <a:r>
              <a:rPr lang="en-US" altLang="zh-CN" dirty="0"/>
              <a:t>100</a:t>
            </a:r>
            <a:r>
              <a:rPr lang="zh-CN" altLang="en-US" dirty="0"/>
              <a:t>的一维</a:t>
            </a:r>
            <a:r>
              <a:rPr lang="en-US" altLang="zh-CN" dirty="0" err="1"/>
              <a:t>int</a:t>
            </a:r>
            <a:r>
              <a:rPr lang="zh-CN" altLang="en-US" dirty="0"/>
              <a:t>数组</a:t>
            </a:r>
          </a:p>
          <a:p>
            <a:pPr lvl="1"/>
            <a:r>
              <a:rPr lang="en-US" altLang="zh-CN" dirty="0"/>
              <a:t>H(key)=key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散列函数的实例</a:t>
            </a:r>
            <a:r>
              <a:rPr lang="en-US" altLang="zh-CN" dirty="0"/>
              <a:t>	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已知线性表关键字集合为：</a:t>
            </a:r>
            <a:r>
              <a:rPr lang="en-US" altLang="zh-CN" dirty="0"/>
              <a:t>S = { and, begin, do, end, for, go, if, repeat, then, until, while}</a:t>
            </a:r>
          </a:p>
          <a:p>
            <a:pPr lvl="1"/>
            <a:r>
              <a:rPr lang="zh-CN" altLang="en-US" dirty="0"/>
              <a:t>建一个二维</a:t>
            </a:r>
            <a:r>
              <a:rPr lang="en-US" altLang="zh-CN" dirty="0"/>
              <a:t>char</a:t>
            </a:r>
            <a:r>
              <a:rPr lang="zh-CN" altLang="en-US" dirty="0"/>
              <a:t>数组</a:t>
            </a:r>
            <a:r>
              <a:rPr lang="en-US" altLang="zh-CN" dirty="0"/>
              <a:t>char[26][8]</a:t>
            </a:r>
          </a:p>
          <a:p>
            <a:pPr lvl="1"/>
            <a:r>
              <a:rPr lang="en-US" altLang="zh-CN" dirty="0"/>
              <a:t>H(key)=key[0] – ‘a’</a:t>
            </a:r>
            <a:r>
              <a:rPr lang="zh-CN" altLang="en-US" dirty="0"/>
              <a:t>；即为关键字</a:t>
            </a:r>
            <a:r>
              <a:rPr lang="en-US" altLang="zh-CN" dirty="0"/>
              <a:t>key</a:t>
            </a:r>
            <a:r>
              <a:rPr lang="zh-CN" altLang="en-US" dirty="0"/>
              <a:t>中的第一个字母在字母表</a:t>
            </a:r>
            <a:r>
              <a:rPr lang="en-US" altLang="zh-CN" dirty="0"/>
              <a:t>{a, b, c, ..., z}</a:t>
            </a:r>
            <a:r>
              <a:rPr lang="zh-CN" altLang="en-US" dirty="0"/>
              <a:t>中的序号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散列函数的实例</a:t>
            </a:r>
            <a:r>
              <a:rPr lang="en-US" altLang="zh-CN" dirty="0"/>
              <a:t>	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若在上例的集合</a:t>
            </a:r>
            <a:r>
              <a:rPr lang="en-US" altLang="zh-CN" dirty="0"/>
              <a:t>S</a:t>
            </a:r>
            <a:r>
              <a:rPr lang="zh-CN" altLang="en-US" dirty="0"/>
              <a:t>中增加</a:t>
            </a:r>
            <a:r>
              <a:rPr lang="en-US" altLang="zh-CN" dirty="0"/>
              <a:t>4</a:t>
            </a:r>
            <a:r>
              <a:rPr lang="zh-CN" altLang="en-US" dirty="0"/>
              <a:t>个关键字构成一个新的集合</a:t>
            </a:r>
            <a:r>
              <a:rPr lang="en-US" altLang="zh-CN" dirty="0"/>
              <a:t>S1 = S + { else, array, with, up}</a:t>
            </a:r>
          </a:p>
          <a:p>
            <a:pPr lvl="1"/>
            <a:r>
              <a:rPr lang="en-US" altLang="zh-CN" dirty="0"/>
              <a:t>H(key)=((key[0] + key(key.length-1) – 2*'a') /2</a:t>
            </a:r>
          </a:p>
          <a:p>
            <a:pPr lvl="1"/>
            <a:r>
              <a:rPr lang="zh-CN" altLang="en-US" dirty="0"/>
              <a:t>散列函数的值为</a:t>
            </a:r>
            <a:r>
              <a:rPr lang="en-US" altLang="zh-CN" dirty="0"/>
              <a:t>key</a:t>
            </a:r>
            <a:r>
              <a:rPr lang="zh-CN" altLang="en-US" dirty="0"/>
              <a:t>中首尾字母在字母表中序号的平均值</a:t>
            </a:r>
            <a:endParaRPr lang="en-US" altLang="zh-CN" dirty="0"/>
          </a:p>
          <a:p>
            <a:pPr lvl="1"/>
            <a:r>
              <a:rPr lang="zh-CN" altLang="en-US" dirty="0"/>
              <a:t>具体表见下页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散列函数的实例</a:t>
            </a:r>
            <a:endParaRPr lang="en-US" altLang="zh-CN" dirty="0"/>
          </a:p>
        </p:txBody>
      </p:sp>
      <p:graphicFrame>
        <p:nvGraphicFramePr>
          <p:cNvPr id="140355" name="Group 67"/>
          <p:cNvGraphicFramePr>
            <a:graphicFrameLocks noGrp="1"/>
          </p:cNvGraphicFramePr>
          <p:nvPr>
            <p:ph idx="1"/>
          </p:nvPr>
        </p:nvGraphicFramePr>
        <p:xfrm>
          <a:off x="1117600" y="1905000"/>
          <a:ext cx="10363199" cy="4328160"/>
        </p:xfrm>
        <a:graphic>
          <a:graphicData uri="http://schemas.openxmlformats.org/drawingml/2006/table">
            <a:tbl>
              <a:tblPr/>
              <a:tblGrid>
                <a:gridCol w="2591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8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散列地址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关键字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散列地址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关键字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go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and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for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array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end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while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else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with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until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if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then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begin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up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do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repeat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.......</a:t>
                      </a:r>
                    </a:p>
                  </a:txBody>
                  <a:tcPr marL="123178" marR="1231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非数字情况下散列函数的考虑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对于非数字</a:t>
            </a:r>
            <a:r>
              <a:rPr lang="en-US" altLang="zh-CN" dirty="0"/>
              <a:t>key</a:t>
            </a:r>
            <a:r>
              <a:rPr lang="zh-CN" altLang="en-US" dirty="0"/>
              <a:t>，可以用某种方法转化为数字</a:t>
            </a:r>
            <a:r>
              <a:rPr lang="en-US" altLang="zh-CN" dirty="0"/>
              <a:t>key</a:t>
            </a:r>
          </a:p>
          <a:p>
            <a:pPr lvl="1"/>
            <a:r>
              <a:rPr lang="zh-CN" altLang="en-US" dirty="0"/>
              <a:t>如在很多语言系统中，会在基类中有一个</a:t>
            </a:r>
            <a:r>
              <a:rPr lang="en-US" altLang="zh-CN" dirty="0" err="1"/>
              <a:t>hashCode</a:t>
            </a:r>
            <a:r>
              <a:rPr lang="en-US" altLang="zh-CN" dirty="0"/>
              <a:t>()</a:t>
            </a:r>
            <a:r>
              <a:rPr lang="zh-CN" altLang="en-US" dirty="0"/>
              <a:t>函数，为每个对象（</a:t>
            </a:r>
            <a:r>
              <a:rPr lang="en-US" altLang="zh-CN" dirty="0"/>
              <a:t>object</a:t>
            </a:r>
            <a:r>
              <a:rPr lang="zh-CN" altLang="en-US" dirty="0"/>
              <a:t>）分配一个</a:t>
            </a:r>
            <a:r>
              <a:rPr lang="en-US" altLang="zh-CN" dirty="0" err="1"/>
              <a:t>hashCode</a:t>
            </a:r>
            <a:r>
              <a:rPr lang="zh-CN" altLang="en-US" dirty="0"/>
              <a:t>，一般这个</a:t>
            </a:r>
            <a:r>
              <a:rPr lang="en-US" altLang="zh-CN" dirty="0" err="1"/>
              <a:t>hashCode</a:t>
            </a:r>
            <a:r>
              <a:rPr lang="zh-CN" altLang="en-US" dirty="0"/>
              <a:t>就是这个对象的物理地址或者地址的映射</a:t>
            </a:r>
            <a:endParaRPr lang="en-US" altLang="zh-CN" dirty="0"/>
          </a:p>
          <a:p>
            <a:pPr lvl="1"/>
            <a:r>
              <a:rPr lang="zh-CN" altLang="en-US" dirty="0"/>
              <a:t>考虑对两个</a:t>
            </a:r>
            <a:r>
              <a:rPr lang="en-US" altLang="zh-CN" dirty="0"/>
              <a:t>String</a:t>
            </a:r>
            <a:r>
              <a:rPr lang="zh-CN" altLang="en-US" dirty="0"/>
              <a:t>对象的比较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除留余数法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选择一个适当的正整数</a:t>
            </a:r>
            <a:r>
              <a:rPr lang="en-US" altLang="zh-CN" dirty="0"/>
              <a:t>P</a:t>
            </a:r>
            <a:r>
              <a:rPr lang="zh-CN" altLang="en-US" dirty="0"/>
              <a:t>，用</a:t>
            </a:r>
            <a:r>
              <a:rPr lang="en-US" altLang="zh-CN" dirty="0"/>
              <a:t>P</a:t>
            </a:r>
            <a:r>
              <a:rPr lang="zh-CN" altLang="en-US" dirty="0"/>
              <a:t>去除关键字，取所得得余数作为散列地址，即：</a:t>
            </a:r>
            <a:r>
              <a:rPr lang="en-US" altLang="zh-CN" b="1" dirty="0">
                <a:solidFill>
                  <a:srgbClr val="FF0000"/>
                </a:solidFill>
              </a:rPr>
              <a:t>H(key) = </a:t>
            </a:r>
            <a:r>
              <a:rPr lang="en-US" altLang="zh-CN" b="1" dirty="0" err="1">
                <a:solidFill>
                  <a:srgbClr val="FF0000"/>
                </a:solidFill>
              </a:rPr>
              <a:t>key%P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关键是要选取适当的</a:t>
            </a:r>
            <a:r>
              <a:rPr lang="en-US" altLang="zh-CN" dirty="0"/>
              <a:t>P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最好不要是偶数，也不要是基数（一般是</a:t>
            </a:r>
            <a:r>
              <a:rPr lang="en-US" altLang="zh-CN" dirty="0"/>
              <a:t>2</a:t>
            </a:r>
            <a:r>
              <a:rPr lang="zh-CN" altLang="en-US" dirty="0"/>
              <a:t>）的幂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一般地选</a:t>
            </a:r>
            <a:r>
              <a:rPr lang="en-US" altLang="zh-CN" b="1" dirty="0">
                <a:solidFill>
                  <a:srgbClr val="FF0000"/>
                </a:solidFill>
              </a:rPr>
              <a:t>P</a:t>
            </a:r>
            <a:r>
              <a:rPr lang="zh-CN" altLang="en-US" b="1" dirty="0">
                <a:solidFill>
                  <a:srgbClr val="FF0000"/>
                </a:solidFill>
              </a:rPr>
              <a:t>为小于或等于散列表长度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的某个最大素数比较好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en-US" altLang="zh-CN" dirty="0"/>
              <a:t>m = 8</a:t>
            </a:r>
            <a:r>
              <a:rPr lang="zh-CN" altLang="en-US" dirty="0"/>
              <a:t>，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64</a:t>
            </a:r>
            <a:r>
              <a:rPr lang="zh-CN" altLang="en-US" dirty="0"/>
              <a:t>，</a:t>
            </a:r>
            <a:r>
              <a:rPr lang="en-US" altLang="zh-CN" dirty="0"/>
              <a:t>128</a:t>
            </a:r>
            <a:r>
              <a:rPr lang="zh-CN" altLang="en-US" dirty="0"/>
              <a:t>，</a:t>
            </a:r>
            <a:r>
              <a:rPr lang="en-US" altLang="zh-CN" dirty="0"/>
              <a:t>256</a:t>
            </a:r>
            <a:r>
              <a:rPr lang="zh-CN" altLang="en-US" dirty="0"/>
              <a:t>，</a:t>
            </a:r>
            <a:r>
              <a:rPr lang="en-US" altLang="zh-CN" dirty="0"/>
              <a:t>512</a:t>
            </a:r>
            <a:r>
              <a:rPr lang="zh-CN" altLang="en-US" dirty="0"/>
              <a:t>，</a:t>
            </a:r>
            <a:r>
              <a:rPr lang="en-US" altLang="zh-CN" dirty="0"/>
              <a:t>1024</a:t>
            </a:r>
          </a:p>
          <a:p>
            <a:pPr lvl="2"/>
            <a:r>
              <a:rPr lang="en-US" altLang="zh-CN" dirty="0"/>
              <a:t>P  = 7</a:t>
            </a:r>
            <a:r>
              <a:rPr lang="zh-CN" altLang="en-US" dirty="0"/>
              <a:t>，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31</a:t>
            </a:r>
            <a:r>
              <a:rPr lang="zh-CN" altLang="en-US" dirty="0"/>
              <a:t>，</a:t>
            </a:r>
            <a:r>
              <a:rPr lang="en-US" altLang="zh-CN" dirty="0"/>
              <a:t>61</a:t>
            </a:r>
            <a:r>
              <a:rPr lang="zh-CN" altLang="en-US" dirty="0"/>
              <a:t>，</a:t>
            </a:r>
            <a:r>
              <a:rPr lang="en-US" altLang="zh-CN" dirty="0"/>
              <a:t>127</a:t>
            </a:r>
            <a:r>
              <a:rPr lang="zh-CN" altLang="en-US" dirty="0"/>
              <a:t>，</a:t>
            </a:r>
            <a:r>
              <a:rPr lang="en-US" altLang="zh-CN" dirty="0"/>
              <a:t>251</a:t>
            </a:r>
            <a:r>
              <a:rPr lang="zh-CN" altLang="en-US" dirty="0"/>
              <a:t>，</a:t>
            </a:r>
            <a:r>
              <a:rPr lang="en-US" altLang="zh-CN" dirty="0"/>
              <a:t>503</a:t>
            </a:r>
            <a:r>
              <a:rPr lang="zh-CN" altLang="en-US" dirty="0"/>
              <a:t>，</a:t>
            </a:r>
            <a:r>
              <a:rPr lang="en-US" altLang="zh-CN" dirty="0"/>
              <a:t>1019</a:t>
            </a:r>
          </a:p>
          <a:p>
            <a:pPr lvl="1"/>
            <a:r>
              <a:rPr lang="zh-CN" altLang="en-US" dirty="0"/>
              <a:t>注意：有些散列地址是不可能用散列函数计算出来的，只可能在处理冲突时达到这些地址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直接定址法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直接取</a:t>
            </a:r>
            <a:r>
              <a:rPr lang="en-US" altLang="zh-CN" dirty="0"/>
              <a:t>key</a:t>
            </a:r>
            <a:r>
              <a:rPr lang="zh-CN" altLang="en-US" dirty="0"/>
              <a:t>或者</a:t>
            </a:r>
            <a:r>
              <a:rPr lang="en-US" altLang="zh-CN" dirty="0"/>
              <a:t>key</a:t>
            </a:r>
            <a:r>
              <a:rPr lang="zh-CN" altLang="en-US" dirty="0"/>
              <a:t>的某个线性函数值 </a:t>
            </a:r>
            <a:r>
              <a:rPr lang="en-US" altLang="zh-CN" dirty="0"/>
              <a:t>h(key) = a*key + b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为常数</a:t>
            </a:r>
          </a:p>
          <a:p>
            <a:pPr lvl="1"/>
            <a:r>
              <a:rPr lang="zh-CN" altLang="en-US" dirty="0"/>
              <a:t>如前面举过的例子，又如人口普查时使用年龄、出生年份等</a:t>
            </a:r>
            <a:endParaRPr lang="en-US" altLang="zh-CN" dirty="0"/>
          </a:p>
          <a:p>
            <a:pPr lvl="1"/>
            <a:r>
              <a:rPr lang="zh-CN" altLang="en-US" dirty="0"/>
              <a:t>优点：一对一的映射，一般不会产生冲突</a:t>
            </a:r>
            <a:endParaRPr lang="en-US" altLang="zh-CN" dirty="0"/>
          </a:p>
          <a:p>
            <a:pPr lvl="1"/>
            <a:r>
              <a:rPr lang="zh-CN" altLang="en-US" dirty="0"/>
              <a:t>缺点：要求</a:t>
            </a:r>
            <a:r>
              <a:rPr lang="en-US" altLang="zh-CN" dirty="0"/>
              <a:t>Hash</a:t>
            </a:r>
            <a:r>
              <a:rPr lang="zh-CN" altLang="en-US" dirty="0"/>
              <a:t>地址空间的大小</a:t>
            </a:r>
            <a:r>
              <a:rPr lang="zh-CN" altLang="en-US"/>
              <a:t>与关键字集合</a:t>
            </a:r>
            <a:r>
              <a:rPr lang="zh-CN" altLang="en-US" dirty="0"/>
              <a:t>的大小相同，给应用带来限制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数字分析法</a:t>
            </a:r>
            <a:endParaRPr lang="en-US" altLang="zh-CN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又称数字选择法，</a:t>
            </a:r>
            <a:r>
              <a:rPr lang="en-US" altLang="zh-CN" dirty="0"/>
              <a:t>digit analysis</a:t>
            </a:r>
            <a:endParaRPr lang="zh-CN" altLang="en-US" dirty="0"/>
          </a:p>
          <a:p>
            <a:r>
              <a:rPr lang="zh-CN" altLang="en-US" dirty="0"/>
              <a:t>若事先知道关键字集合，且关键字的位数比散列表的地址位数多，则可选取数字分布比较均匀的若干位作为散列地址</a:t>
            </a:r>
          </a:p>
          <a:p>
            <a:r>
              <a:rPr lang="zh-CN" altLang="en-US" dirty="0"/>
              <a:t>如下一组</a:t>
            </a:r>
            <a:r>
              <a:rPr lang="en-US" altLang="zh-CN" dirty="0"/>
              <a:t>8</a:t>
            </a:r>
            <a:r>
              <a:rPr lang="zh-CN" altLang="en-US" dirty="0"/>
              <a:t>位数字组成的关键字，经过分析可知，前三位和第五位分布不均匀。若表长为</a:t>
            </a:r>
            <a:r>
              <a:rPr lang="en-US" altLang="zh-CN" dirty="0"/>
              <a:t>1000</a:t>
            </a:r>
            <a:r>
              <a:rPr lang="zh-CN" altLang="en-US" dirty="0"/>
              <a:t>，则可取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位的数字作为散列地址，若表长为</a:t>
            </a:r>
            <a:r>
              <a:rPr lang="en-US" altLang="zh-CN" dirty="0"/>
              <a:t>100</a:t>
            </a:r>
            <a:r>
              <a:rPr lang="zh-CN" altLang="en-US" dirty="0"/>
              <a:t>，则可取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与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位之和并舍去进位作为散列地址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数字分析法</a:t>
            </a:r>
            <a:endParaRPr lang="en-US" altLang="zh-CN" dirty="0"/>
          </a:p>
        </p:txBody>
      </p:sp>
      <p:graphicFrame>
        <p:nvGraphicFramePr>
          <p:cNvPr id="143365" name="Group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435147"/>
              </p:ext>
            </p:extLst>
          </p:nvPr>
        </p:nvGraphicFramePr>
        <p:xfrm>
          <a:off x="1117600" y="1905000"/>
          <a:ext cx="10363200" cy="2964160"/>
        </p:xfrm>
        <a:graphic>
          <a:graphicData uri="http://schemas.openxmlformats.org/drawingml/2006/table">
            <a:tbl>
              <a:tblPr/>
              <a:tblGrid>
                <a:gridCol w="334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关键字</a:t>
                      </a:r>
                    </a:p>
                  </a:txBody>
                  <a:tcPr marL="123178" marR="12317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散列地址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123178" marR="12317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散列地址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23178" marR="12317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218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87142653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87172232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87182745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87107136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87127281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87137394</a:t>
                      </a:r>
                    </a:p>
                  </a:txBody>
                  <a:tcPr marL="123178" marR="12317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465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013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339</a:t>
                      </a:r>
                    </a:p>
                  </a:txBody>
                  <a:tcPr marL="123178" marR="12317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27</a:t>
                      </a:r>
                    </a:p>
                  </a:txBody>
                  <a:tcPr marL="123178" marR="12317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数字分析法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数字分析法中数位的选取是根据计算符号分布均匀度来选取的</a:t>
            </a:r>
            <a:endParaRPr lang="en-US" altLang="zh-CN" dirty="0"/>
          </a:p>
          <a:p>
            <a:pPr lvl="1"/>
            <a:r>
              <a:rPr lang="zh-CN" altLang="en-US" dirty="0"/>
              <a:t>计算第</a:t>
            </a:r>
            <a:r>
              <a:rPr lang="en-US" altLang="zh-CN" dirty="0"/>
              <a:t>k</a:t>
            </a:r>
            <a:r>
              <a:rPr lang="zh-CN" altLang="en-US" dirty="0"/>
              <a:t>位符号分布均匀度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baseline="-25000" dirty="0"/>
              <a:t>k</a:t>
            </a:r>
            <a:r>
              <a:rPr lang="en-US" altLang="zh-CN" dirty="0"/>
              <a:t> </a:t>
            </a:r>
            <a:r>
              <a:rPr lang="zh-CN" altLang="en-US" dirty="0"/>
              <a:t>的公式为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其中，    表示第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个符号在第 </a:t>
            </a:r>
            <a:r>
              <a:rPr lang="en-US" altLang="zh-CN" dirty="0"/>
              <a:t>k </a:t>
            </a:r>
            <a:r>
              <a:rPr lang="zh-CN" altLang="en-US" dirty="0"/>
              <a:t>位上出现的次数，</a:t>
            </a:r>
            <a:r>
              <a:rPr lang="en-US" altLang="zh-CN" dirty="0"/>
              <a:t>n/r </a:t>
            </a:r>
            <a:r>
              <a:rPr lang="zh-CN" altLang="en-US" dirty="0"/>
              <a:t>表示</a:t>
            </a:r>
            <a:r>
              <a:rPr lang="en-US" altLang="zh-CN" dirty="0"/>
              <a:t>r</a:t>
            </a:r>
            <a:r>
              <a:rPr lang="zh-CN" altLang="en-US" dirty="0"/>
              <a:t>种符号在 </a:t>
            </a:r>
            <a:r>
              <a:rPr lang="en-US" altLang="zh-CN" dirty="0"/>
              <a:t>n </a:t>
            </a:r>
            <a:r>
              <a:rPr lang="zh-CN" altLang="en-US" dirty="0"/>
              <a:t>个数中均匀出现的期望值。计算出的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baseline="-25000" dirty="0"/>
              <a:t>k</a:t>
            </a:r>
            <a:r>
              <a:rPr lang="zh-CN" altLang="en-US" dirty="0"/>
              <a:t>值越小，表明在该位 </a:t>
            </a:r>
            <a:r>
              <a:rPr lang="en-US" altLang="zh-CN" dirty="0"/>
              <a:t>(</a:t>
            </a:r>
            <a:r>
              <a:rPr lang="zh-CN" altLang="en-US" dirty="0"/>
              <a:t>第 </a:t>
            </a:r>
            <a:r>
              <a:rPr lang="en-US" altLang="zh-CN" dirty="0"/>
              <a:t>k </a:t>
            </a:r>
            <a:r>
              <a:rPr lang="zh-CN" altLang="en-US" dirty="0"/>
              <a:t>位</a:t>
            </a:r>
            <a:r>
              <a:rPr lang="en-US" altLang="zh-CN" dirty="0"/>
              <a:t>) </a:t>
            </a:r>
            <a:r>
              <a:rPr lang="zh-CN" altLang="en-US" dirty="0"/>
              <a:t>各种符号分布得越均匀</a:t>
            </a:r>
          </a:p>
        </p:txBody>
      </p:sp>
      <p:graphicFrame>
        <p:nvGraphicFramePr>
          <p:cNvPr id="4" name="Object 1"/>
          <p:cNvGraphicFramePr>
            <a:graphicFrameLocks noChangeAspect="1"/>
          </p:cNvGraphicFramePr>
          <p:nvPr/>
        </p:nvGraphicFramePr>
        <p:xfrm>
          <a:off x="2711624" y="3635375"/>
          <a:ext cx="5715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公式" r:id="rId3" imgW="177800" imgH="241300" progId="Equation.3">
                  <p:embed/>
                </p:oleObj>
              </mc:Choice>
              <mc:Fallback>
                <p:oleObj name="公式" r:id="rId3" imgW="1778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24" y="3635375"/>
                        <a:ext cx="571500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0"/>
          <p:cNvGraphicFramePr>
            <a:graphicFrameLocks noChangeAspect="1"/>
          </p:cNvGraphicFramePr>
          <p:nvPr/>
        </p:nvGraphicFramePr>
        <p:xfrm>
          <a:off x="3863975" y="2636838"/>
          <a:ext cx="3362325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公式" r:id="rId5" imgW="1244600" imgH="431800" progId="Equation.3">
                  <p:embed/>
                </p:oleObj>
              </mc:Choice>
              <mc:Fallback>
                <p:oleObj name="公式" r:id="rId5" imgW="1244600" imgH="431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2636838"/>
                        <a:ext cx="3362325" cy="118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如下面的例子中，如果散列表地址为</a:t>
            </a:r>
            <a:r>
              <a:rPr lang="en-US" altLang="zh-CN" dirty="0"/>
              <a:t>3</a:t>
            </a:r>
            <a:r>
              <a:rPr lang="zh-CN" altLang="en-US" dirty="0"/>
              <a:t>位十进制数</a:t>
            </a:r>
            <a:r>
              <a:rPr lang="en-US" altLang="zh-CN" dirty="0"/>
              <a:t>, </a:t>
            </a:r>
            <a:r>
              <a:rPr lang="zh-CN" altLang="en-US" dirty="0"/>
              <a:t>本例应取各关键码的④⑤⑥位做为散列地址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EEECE1"/>
              </a:clrFrom>
              <a:clrTo>
                <a:srgbClr val="EEEC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18595" y="2996952"/>
            <a:ext cx="5161210" cy="32692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平方取中法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先通过求关键字的平方来扩大差别，再取其中的几位或其组合作为散列地址</a:t>
            </a:r>
          </a:p>
          <a:p>
            <a:pPr lvl="1"/>
            <a:r>
              <a:rPr lang="zh-CN" altLang="en-US" dirty="0"/>
              <a:t>因为通常要预先估计关键字的数字分布并不容易，要找数字均匀分布的位数更难</a:t>
            </a:r>
          </a:p>
          <a:p>
            <a:pPr lvl="1"/>
            <a:r>
              <a:rPr lang="zh-CN" altLang="en-US" dirty="0"/>
              <a:t>当关键字等概率分布时比较有效</a:t>
            </a:r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当关键字有许多先行或者尾随</a:t>
            </a:r>
            <a:r>
              <a:rPr lang="en-US" altLang="zh-CN" dirty="0"/>
              <a:t>0</a:t>
            </a:r>
            <a:r>
              <a:rPr lang="zh-CN" altLang="en-US" dirty="0"/>
              <a:t>的时候容易产生冲突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平方取中法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在实际工作中，一般取散列地址总数为</a:t>
            </a:r>
            <a:r>
              <a:rPr lang="en-US" altLang="zh-CN" dirty="0"/>
              <a:t>2</a:t>
            </a:r>
            <a:r>
              <a:rPr lang="zh-CN" altLang="en-US" dirty="0"/>
              <a:t>的某次幂。</a:t>
            </a:r>
            <a:endParaRPr lang="en-US" altLang="zh-CN" dirty="0"/>
          </a:p>
          <a:p>
            <a:pPr lvl="1"/>
            <a:r>
              <a:rPr lang="zh-CN" altLang="en-US" dirty="0"/>
              <a:t>例如</a:t>
            </a:r>
            <a:r>
              <a:rPr lang="en-US" altLang="zh-CN" dirty="0"/>
              <a:t>8</a:t>
            </a:r>
            <a:r>
              <a:rPr lang="zh-CN" altLang="en-US" dirty="0"/>
              <a:t>进制内码，对内码的平方数取中间的 </a:t>
            </a:r>
            <a:r>
              <a:rPr lang="en-US" altLang="zh-CN" dirty="0"/>
              <a:t>r </a:t>
            </a:r>
            <a:r>
              <a:rPr lang="zh-CN" altLang="en-US" dirty="0"/>
              <a:t>位，则散列地址总数为 </a:t>
            </a:r>
            <a:r>
              <a:rPr lang="en-US" altLang="zh-CN" dirty="0"/>
              <a:t>m = 8r</a:t>
            </a:r>
            <a:r>
              <a:rPr lang="zh-CN" altLang="en-US" dirty="0"/>
              <a:t>；如果 </a:t>
            </a:r>
            <a:r>
              <a:rPr lang="en-US" altLang="zh-CN" dirty="0"/>
              <a:t>r = 3</a:t>
            </a:r>
            <a:r>
              <a:rPr lang="zh-CN" altLang="en-US" dirty="0"/>
              <a:t>，所取得的散列地址参看下图的最右一列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EEECE1"/>
              </a:clrFrom>
              <a:clrTo>
                <a:srgbClr val="EEEC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58353" y="3284984"/>
            <a:ext cx="4481693" cy="310599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平方取中法</a:t>
            </a:r>
            <a:endParaRPr lang="en-US" altLang="zh-CN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例如：一组关键字：</a:t>
            </a:r>
            <a:r>
              <a:rPr lang="en-US" altLang="zh-CN" dirty="0"/>
              <a:t>(0100</a:t>
            </a:r>
            <a:r>
              <a:rPr lang="zh-CN" altLang="en-US" dirty="0"/>
              <a:t>，</a:t>
            </a:r>
            <a:r>
              <a:rPr lang="en-US" altLang="zh-CN" dirty="0"/>
              <a:t>0110</a:t>
            </a:r>
            <a:r>
              <a:rPr lang="zh-CN" altLang="en-US" dirty="0"/>
              <a:t>，</a:t>
            </a:r>
            <a:r>
              <a:rPr lang="en-US" altLang="zh-CN" dirty="0"/>
              <a:t>1010</a:t>
            </a:r>
            <a:r>
              <a:rPr lang="zh-CN" altLang="en-US" dirty="0"/>
              <a:t>，</a:t>
            </a:r>
            <a:r>
              <a:rPr lang="en-US" altLang="zh-CN" dirty="0"/>
              <a:t>1001</a:t>
            </a:r>
            <a:r>
              <a:rPr lang="zh-CN" altLang="en-US" dirty="0"/>
              <a:t>，</a:t>
            </a:r>
            <a:r>
              <a:rPr lang="en-US" altLang="zh-CN" dirty="0"/>
              <a:t>0111)</a:t>
            </a:r>
          </a:p>
          <a:p>
            <a:r>
              <a:rPr lang="zh-CN" altLang="en-US" dirty="0"/>
              <a:t>则平方结果为：</a:t>
            </a:r>
            <a:r>
              <a:rPr lang="en-US" altLang="zh-CN" dirty="0"/>
              <a:t>(0010000</a:t>
            </a:r>
            <a:r>
              <a:rPr lang="zh-CN" altLang="en-US" dirty="0"/>
              <a:t>，</a:t>
            </a:r>
            <a:r>
              <a:rPr lang="en-US" altLang="zh-CN" dirty="0"/>
              <a:t>0012100</a:t>
            </a:r>
            <a:r>
              <a:rPr lang="zh-CN" altLang="en-US" dirty="0"/>
              <a:t>，</a:t>
            </a:r>
            <a:r>
              <a:rPr lang="en-US" altLang="zh-CN" dirty="0"/>
              <a:t>1020100</a:t>
            </a:r>
            <a:r>
              <a:rPr lang="zh-CN" altLang="en-US" dirty="0"/>
              <a:t>，</a:t>
            </a:r>
            <a:r>
              <a:rPr lang="en-US" altLang="zh-CN" dirty="0"/>
              <a:t>1002001</a:t>
            </a:r>
            <a:r>
              <a:rPr lang="zh-CN" altLang="en-US" dirty="0"/>
              <a:t>，</a:t>
            </a:r>
            <a:r>
              <a:rPr lang="en-US" altLang="zh-CN" dirty="0"/>
              <a:t>0012321)</a:t>
            </a:r>
          </a:p>
          <a:p>
            <a:r>
              <a:rPr lang="zh-CN" altLang="en-US" dirty="0"/>
              <a:t>若表长为</a:t>
            </a:r>
            <a:r>
              <a:rPr lang="en-US" altLang="zh-CN" dirty="0"/>
              <a:t>3</a:t>
            </a:r>
            <a:r>
              <a:rPr lang="zh-CN" altLang="en-US" dirty="0"/>
              <a:t>位，则可取中间三位作为散列地址集：</a:t>
            </a:r>
            <a:br>
              <a:rPr lang="zh-CN" altLang="en-US" dirty="0"/>
            </a:br>
            <a:r>
              <a:rPr lang="zh-CN" altLang="en-US" dirty="0"/>
              <a:t>             </a:t>
            </a:r>
            <a:r>
              <a:rPr lang="en-US" altLang="zh-CN" dirty="0"/>
              <a:t>(100</a:t>
            </a:r>
            <a:r>
              <a:rPr lang="zh-CN" altLang="en-US" dirty="0"/>
              <a:t>，</a:t>
            </a:r>
            <a:r>
              <a:rPr lang="en-US" altLang="zh-CN" dirty="0"/>
              <a:t>121</a:t>
            </a:r>
            <a:r>
              <a:rPr lang="zh-CN" altLang="en-US" dirty="0"/>
              <a:t>，</a:t>
            </a:r>
            <a:r>
              <a:rPr lang="en-US" altLang="zh-CN" dirty="0"/>
              <a:t>201</a:t>
            </a:r>
            <a:r>
              <a:rPr lang="zh-CN" altLang="en-US" dirty="0"/>
              <a:t>，</a:t>
            </a:r>
            <a:r>
              <a:rPr lang="en-US" altLang="zh-CN" dirty="0"/>
              <a:t>020</a:t>
            </a:r>
            <a:r>
              <a:rPr lang="zh-CN" altLang="en-US" dirty="0"/>
              <a:t>，</a:t>
            </a:r>
            <a:r>
              <a:rPr lang="en-US" altLang="zh-CN" dirty="0"/>
              <a:t>123)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折叠法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又称移位法，</a:t>
            </a:r>
            <a:r>
              <a:rPr lang="en-US" altLang="zh-CN" dirty="0"/>
              <a:t>folding</a:t>
            </a:r>
            <a:endParaRPr lang="zh-CN" altLang="en-US" dirty="0"/>
          </a:p>
          <a:p>
            <a:r>
              <a:rPr lang="zh-CN" altLang="en-US" dirty="0"/>
              <a:t>若关键字位数较多，可将关键字分割成位数相同的几段（最后一段的位数可以不同），段的长度取决于散列表的地址位数，然后将各段的叠加和（舍去进位）作为散列地址</a:t>
            </a:r>
            <a:endParaRPr lang="en-US" altLang="zh-CN" dirty="0"/>
          </a:p>
          <a:p>
            <a:r>
              <a:rPr lang="zh-CN" altLang="en-US" dirty="0"/>
              <a:t>有两种叠加方法</a:t>
            </a:r>
            <a:endParaRPr lang="en-US" altLang="zh-CN" dirty="0"/>
          </a:p>
          <a:p>
            <a:pPr lvl="1"/>
            <a:r>
              <a:rPr lang="zh-CN" altLang="en-US" dirty="0"/>
              <a:t>移位法：把各部分的最后一位对齐相加</a:t>
            </a:r>
            <a:endParaRPr lang="en-US" altLang="zh-CN" dirty="0"/>
          </a:p>
          <a:p>
            <a:pPr lvl="1"/>
            <a:r>
              <a:rPr lang="zh-CN" altLang="en-US" dirty="0"/>
              <a:t>分界法：各部分不折断，沿各部分的分界来回折叠，然后对齐相加，将相加的结果当做</a:t>
            </a:r>
            <a:r>
              <a:rPr lang="en-US" altLang="zh-CN" dirty="0"/>
              <a:t>Hash</a:t>
            </a:r>
            <a:r>
              <a:rPr lang="zh-CN" altLang="en-US" dirty="0"/>
              <a:t>地址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折叠法</a:t>
            </a:r>
            <a:endParaRPr lang="en-US" altLang="zh-CN" dirty="0"/>
          </a:p>
        </p:txBody>
      </p:sp>
      <p:grpSp>
        <p:nvGrpSpPr>
          <p:cNvPr id="145412" name="Group 4"/>
          <p:cNvGrpSpPr/>
          <p:nvPr/>
        </p:nvGrpSpPr>
        <p:grpSpPr bwMode="auto">
          <a:xfrm>
            <a:off x="2419352" y="2565401"/>
            <a:ext cx="2747963" cy="2862263"/>
            <a:chOff x="669" y="2352"/>
            <a:chExt cx="1731" cy="1803"/>
          </a:xfrm>
        </p:grpSpPr>
        <p:sp>
          <p:nvSpPr>
            <p:cNvPr id="145413" name="Text Box 5"/>
            <p:cNvSpPr txBox="1">
              <a:spLocks noChangeArrowheads="1"/>
            </p:cNvSpPr>
            <p:nvPr/>
          </p:nvSpPr>
          <p:spPr bwMode="auto">
            <a:xfrm>
              <a:off x="960" y="2352"/>
              <a:ext cx="1440" cy="1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582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423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241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+        69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[1]315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H(key)=315</a:t>
              </a:r>
            </a:p>
          </p:txBody>
        </p:sp>
        <p:sp>
          <p:nvSpPr>
            <p:cNvPr id="145414" name="Line 6"/>
            <p:cNvSpPr>
              <a:spLocks noChangeShapeType="1"/>
            </p:cNvSpPr>
            <p:nvPr/>
          </p:nvSpPr>
          <p:spPr bwMode="auto">
            <a:xfrm>
              <a:off x="960" y="35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15" name="Text Box 7"/>
            <p:cNvSpPr txBox="1">
              <a:spLocks noChangeArrowheads="1"/>
            </p:cNvSpPr>
            <p:nvPr/>
          </p:nvSpPr>
          <p:spPr bwMode="auto">
            <a:xfrm>
              <a:off x="669" y="2400"/>
              <a:ext cx="349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FF3300"/>
                  </a:solidFill>
                  <a:ea typeface="楷体_GB2312" pitchFamily="49" charset="-122"/>
                </a:rPr>
                <a:t>移位迭加</a:t>
              </a:r>
            </a:p>
          </p:txBody>
        </p:sp>
      </p:grpSp>
      <p:grpSp>
        <p:nvGrpSpPr>
          <p:cNvPr id="145416" name="Group 8"/>
          <p:cNvGrpSpPr/>
          <p:nvPr/>
        </p:nvGrpSpPr>
        <p:grpSpPr bwMode="auto">
          <a:xfrm>
            <a:off x="7236469" y="2565401"/>
            <a:ext cx="2747963" cy="2862263"/>
            <a:chOff x="669" y="2352"/>
            <a:chExt cx="1731" cy="1803"/>
          </a:xfrm>
        </p:grpSpPr>
        <p:sp>
          <p:nvSpPr>
            <p:cNvPr id="145417" name="Text Box 9"/>
            <p:cNvSpPr txBox="1">
              <a:spLocks noChangeArrowheads="1"/>
            </p:cNvSpPr>
            <p:nvPr/>
          </p:nvSpPr>
          <p:spPr bwMode="auto">
            <a:xfrm>
              <a:off x="960" y="2352"/>
              <a:ext cx="1440" cy="18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582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324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    241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+        96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     [1]243</a:t>
              </a:r>
            </a:p>
            <a:p>
              <a:pPr>
                <a:spcBef>
                  <a:spcPct val="30000"/>
                </a:spcBef>
              </a:pPr>
              <a:r>
                <a:rPr kumimoji="1" lang="en-US" altLang="zh-CN" sz="2400" b="1" dirty="0"/>
                <a:t>H(key)=243</a:t>
              </a:r>
            </a:p>
          </p:txBody>
        </p:sp>
        <p:sp>
          <p:nvSpPr>
            <p:cNvPr id="145418" name="Line 10"/>
            <p:cNvSpPr>
              <a:spLocks noChangeShapeType="1"/>
            </p:cNvSpPr>
            <p:nvPr/>
          </p:nvSpPr>
          <p:spPr bwMode="auto">
            <a:xfrm>
              <a:off x="960" y="35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19" name="Text Box 11"/>
            <p:cNvSpPr txBox="1">
              <a:spLocks noChangeArrowheads="1"/>
            </p:cNvSpPr>
            <p:nvPr/>
          </p:nvSpPr>
          <p:spPr bwMode="auto">
            <a:xfrm>
              <a:off x="669" y="2400"/>
              <a:ext cx="349" cy="8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FF3300"/>
                  </a:solidFill>
                  <a:ea typeface="楷体_GB2312" pitchFamily="49" charset="-122"/>
                </a:rPr>
                <a:t>边界迭加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1055440" y="1783090"/>
            <a:ext cx="44378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如</a:t>
            </a:r>
            <a:r>
              <a:rPr lang="en-US" altLang="zh-CN" sz="2800" dirty="0"/>
              <a:t>key=58242324169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折叠法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700808"/>
            <a:ext cx="10595024" cy="4114800"/>
          </a:xfrm>
        </p:spPr>
        <p:txBody>
          <a:bodyPr/>
          <a:lstStyle/>
          <a:p>
            <a:r>
              <a:rPr lang="zh-CN" altLang="en-US" dirty="0"/>
              <a:t>设给定的关键码为</a:t>
            </a:r>
            <a:r>
              <a:rPr lang="en-US" altLang="zh-CN" dirty="0"/>
              <a:t>key = 23938587841</a:t>
            </a:r>
          </a:p>
          <a:p>
            <a:pPr lvl="1"/>
            <a:r>
              <a:rPr lang="zh-CN" altLang="en-US" dirty="0"/>
              <a:t>若存储空间限定 </a:t>
            </a:r>
            <a:r>
              <a:rPr lang="en-US" altLang="zh-CN" dirty="0"/>
              <a:t>3 </a:t>
            </a:r>
            <a:r>
              <a:rPr lang="zh-CN" altLang="en-US" dirty="0"/>
              <a:t>位，则划分结果为每段</a:t>
            </a:r>
            <a:r>
              <a:rPr lang="en-US" altLang="zh-CN" dirty="0"/>
              <a:t>3</a:t>
            </a:r>
            <a:r>
              <a:rPr lang="zh-CN" altLang="en-US" dirty="0"/>
              <a:t>位</a:t>
            </a:r>
            <a:endParaRPr lang="en-US" altLang="zh-CN" dirty="0"/>
          </a:p>
          <a:p>
            <a:pPr lvl="1"/>
            <a:r>
              <a:rPr lang="zh-CN" altLang="en-US" dirty="0"/>
              <a:t>上述关键码可划分为 </a:t>
            </a:r>
            <a:r>
              <a:rPr lang="en-US" altLang="zh-CN" dirty="0"/>
              <a:t>4</a:t>
            </a:r>
            <a:r>
              <a:rPr lang="zh-CN" altLang="en-US" dirty="0"/>
              <a:t>段：</a:t>
            </a:r>
            <a:r>
              <a:rPr lang="en-US" altLang="zh-CN" dirty="0"/>
              <a:t>239</a:t>
            </a:r>
            <a:r>
              <a:rPr lang="zh-CN" altLang="en-US" dirty="0"/>
              <a:t>、</a:t>
            </a:r>
            <a:r>
              <a:rPr lang="en-US" altLang="zh-CN" dirty="0"/>
              <a:t>385</a:t>
            </a:r>
            <a:r>
              <a:rPr lang="zh-CN" altLang="en-US" dirty="0"/>
              <a:t>、</a:t>
            </a:r>
            <a:r>
              <a:rPr lang="en-US" altLang="zh-CN" dirty="0"/>
              <a:t>878</a:t>
            </a:r>
            <a:r>
              <a:rPr lang="zh-CN" altLang="en-US" dirty="0"/>
              <a:t>、</a:t>
            </a:r>
            <a:r>
              <a:rPr lang="en-US" altLang="zh-CN" dirty="0"/>
              <a:t>41</a:t>
            </a:r>
          </a:p>
          <a:p>
            <a:pPr lvl="1"/>
            <a:r>
              <a:rPr lang="zh-CN" altLang="en-US" dirty="0"/>
              <a:t>把超出地址位数的最高位删去，仅保留最低的</a:t>
            </a:r>
            <a:r>
              <a:rPr lang="en-US" altLang="zh-CN" dirty="0"/>
              <a:t>3</a:t>
            </a:r>
            <a:r>
              <a:rPr lang="zh-CN" altLang="en-US" dirty="0"/>
              <a:t>位，做为可用的散列地址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57314" y="3645024"/>
            <a:ext cx="8191276" cy="27975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相乘散列法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对平方取中法的变换，对</a:t>
            </a:r>
            <a:r>
              <a:rPr lang="en-US" altLang="zh-CN" dirty="0"/>
              <a:t>key</a:t>
            </a:r>
            <a:r>
              <a:rPr lang="zh-CN" altLang="en-US" dirty="0"/>
              <a:t>乘以一个精心选择的常数</a:t>
            </a:r>
            <a:r>
              <a:rPr lang="en-US" altLang="zh-CN" dirty="0"/>
              <a:t>a</a:t>
            </a:r>
            <a:r>
              <a:rPr lang="zh-CN" altLang="en-US" dirty="0"/>
              <a:t>，然后取当中几位或者组合作为散列地址</a:t>
            </a:r>
          </a:p>
          <a:p>
            <a:pPr lvl="1"/>
            <a:r>
              <a:rPr lang="zh-CN" altLang="en-US" dirty="0"/>
              <a:t>如对</a:t>
            </a:r>
            <a:r>
              <a:rPr lang="en-US" altLang="zh-CN" dirty="0"/>
              <a:t>32</a:t>
            </a:r>
            <a:r>
              <a:rPr lang="zh-CN" altLang="en-US" dirty="0"/>
              <a:t>位算术数，可以取</a:t>
            </a:r>
            <a:r>
              <a:rPr lang="en-US" altLang="zh-CN" dirty="0"/>
              <a:t>a=2654435769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取很特殊的一些值时，演化为一种特殊情况：</a:t>
            </a:r>
            <a:r>
              <a:rPr lang="en-US" altLang="zh-CN" dirty="0"/>
              <a:t>Fibonacci</a:t>
            </a:r>
            <a:r>
              <a:rPr lang="zh-CN" altLang="en-US" dirty="0"/>
              <a:t>散列法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基数映射法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55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把关键字看成是另一个进制上的数后，再把它转换成原来进制上的数，取其中若干位作为散列地址</a:t>
                </a:r>
              </a:p>
              <a:p>
                <a:r>
                  <a:rPr lang="zh-CN" altLang="en-US" dirty="0"/>
                  <a:t>一般取大于原来基数的数作为转换的基数，且两个基数要互素</a:t>
                </a:r>
                <a:endParaRPr lang="en-US" altLang="zh-CN" dirty="0"/>
              </a:p>
              <a:p>
                <a:r>
                  <a:rPr lang="zh-CN" altLang="en-US" dirty="0"/>
                  <a:t>如给定十进制的关键字是</a:t>
                </a:r>
                <a:r>
                  <a:rPr lang="en-US" altLang="zh-CN" dirty="0"/>
                  <a:t>(210485)</a:t>
                </a:r>
                <a:r>
                  <a:rPr lang="en-US" altLang="zh-CN" baseline="-25000" dirty="0"/>
                  <a:t>10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可以先把它看成以</a:t>
                </a:r>
                <a:r>
                  <a:rPr lang="en-US" altLang="zh-CN" dirty="0"/>
                  <a:t>13</a:t>
                </a:r>
                <a:r>
                  <a:rPr lang="zh-CN" altLang="en-US" dirty="0"/>
                  <a:t>为基数的十三进制数</a:t>
                </a:r>
                <a:r>
                  <a:rPr lang="en-US" altLang="zh-CN" dirty="0"/>
                  <a:t>(210485)</a:t>
                </a:r>
                <a:r>
                  <a:rPr lang="en-US" altLang="zh-CN" baseline="-25000" dirty="0"/>
                  <a:t>13 </a:t>
                </a:r>
                <a:r>
                  <a:rPr lang="zh-CN" altLang="en-US" dirty="0"/>
                  <a:t>，再把它转换为十进制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(210485)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= 2×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+ 1×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+ 4×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13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+ 8×13 + 5  = (771932)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altLang="zh-CN" baseline="-25000" dirty="0"/>
              </a:p>
              <a:p>
                <a:pPr lvl="1"/>
                <a:r>
                  <a:rPr lang="zh-CN" altLang="en-US" dirty="0"/>
                  <a:t>设散列表长度是</a:t>
                </a:r>
                <a:r>
                  <a:rPr lang="en-US" altLang="zh-CN" dirty="0"/>
                  <a:t>10000</a:t>
                </a:r>
                <a:r>
                  <a:rPr lang="zh-CN" altLang="en-US" dirty="0"/>
                  <a:t>，此时取低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位</a:t>
                </a:r>
                <a:r>
                  <a:rPr lang="en-US" altLang="zh-CN" dirty="0"/>
                  <a:t>1932</a:t>
                </a:r>
                <a:r>
                  <a:rPr lang="zh-CN" altLang="en-US" dirty="0"/>
                  <a:t>作为散列地址</a:t>
                </a:r>
              </a:p>
            </p:txBody>
          </p:sp>
        </mc:Choice>
        <mc:Fallback>
          <p:sp>
            <p:nvSpPr>
              <p:cNvPr id="15155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41" t="-1630" b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随机数法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选择一个随机函数，取关键字的随机函数值作为它的散列地址</a:t>
            </a:r>
            <a:endParaRPr lang="en-US" altLang="zh-CN" dirty="0"/>
          </a:p>
          <a:p>
            <a:pPr lvl="1"/>
            <a:r>
              <a:rPr lang="zh-CN" altLang="en-US" dirty="0"/>
              <a:t>即：</a:t>
            </a:r>
            <a:r>
              <a:rPr lang="en-US" altLang="zh-CN" dirty="0"/>
              <a:t>H(key) = random(key)</a:t>
            </a:r>
          </a:p>
          <a:p>
            <a:pPr lvl="1"/>
            <a:r>
              <a:rPr lang="zh-CN" altLang="en-US" dirty="0"/>
              <a:t>一般当关键字长度不等时选用此法比较恰当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冲突处理方法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700808"/>
            <a:ext cx="10363200" cy="4114800"/>
          </a:xfrm>
        </p:spPr>
        <p:txBody>
          <a:bodyPr/>
          <a:lstStyle/>
          <a:p>
            <a:r>
              <a:rPr lang="zh-CN" altLang="en-US" dirty="0"/>
              <a:t>共同思想：将具有相同函数值的记录存作一个链</a:t>
            </a:r>
          </a:p>
          <a:p>
            <a:endParaRPr lang="en-US" altLang="zh-CN" dirty="0"/>
          </a:p>
          <a:p>
            <a:r>
              <a:rPr lang="zh-CN" altLang="en-US" b="1" dirty="0"/>
              <a:t>闭散列方法：</a:t>
            </a:r>
            <a:r>
              <a:rPr lang="zh-CN" altLang="en-US" dirty="0"/>
              <a:t>冲突记录存储在表内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FF0066"/>
                </a:solidFill>
              </a:rPr>
              <a:t>close hashing</a:t>
            </a:r>
            <a:r>
              <a:rPr lang="zh-CN" altLang="en-US" dirty="0"/>
              <a:t>，又叫开地址方法</a:t>
            </a:r>
            <a:r>
              <a:rPr lang="en-US" altLang="zh-CN" dirty="0"/>
              <a:t>/</a:t>
            </a:r>
            <a:r>
              <a:rPr lang="zh-CN" altLang="en-US" dirty="0"/>
              <a:t>开址定址法</a:t>
            </a:r>
            <a:r>
              <a:rPr lang="en-US" altLang="zh-CN" dirty="0"/>
              <a:t>/</a:t>
            </a:r>
            <a:r>
              <a:rPr lang="zh-CN" altLang="en-US" dirty="0"/>
              <a:t>开放定址法</a:t>
            </a:r>
            <a:r>
              <a:rPr lang="en-US" altLang="zh-CN" dirty="0"/>
              <a:t>/</a:t>
            </a:r>
            <a:r>
              <a:rPr lang="zh-CN" altLang="en-US" dirty="0"/>
              <a:t>开式寻址法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66"/>
                </a:solidFill>
              </a:rPr>
              <a:t>open addressing</a:t>
            </a:r>
            <a:r>
              <a:rPr lang="en-US" altLang="zh-CN" dirty="0"/>
              <a:t>)</a:t>
            </a:r>
          </a:p>
          <a:p>
            <a:pPr lvl="1"/>
            <a:endParaRPr lang="zh-CN" altLang="en-US" dirty="0"/>
          </a:p>
          <a:p>
            <a:r>
              <a:rPr lang="zh-CN" altLang="en-US" b="1" dirty="0"/>
              <a:t>开散列方法：</a:t>
            </a:r>
            <a:r>
              <a:rPr lang="zh-CN" altLang="en-US" dirty="0"/>
              <a:t>冲突记录存储在表外</a:t>
            </a:r>
          </a:p>
          <a:p>
            <a:pPr lvl="1"/>
            <a:r>
              <a:rPr lang="en-US" altLang="zh-CN" b="1" dirty="0">
                <a:solidFill>
                  <a:srgbClr val="FF0066"/>
                </a:solidFill>
              </a:rPr>
              <a:t>open hashing</a:t>
            </a:r>
            <a:r>
              <a:rPr lang="zh-CN" altLang="en-US" dirty="0"/>
              <a:t>，又叫单链方法</a:t>
            </a:r>
            <a:r>
              <a:rPr lang="en-US" altLang="zh-CN" dirty="0"/>
              <a:t>/</a:t>
            </a:r>
            <a:r>
              <a:rPr lang="zh-CN" altLang="en-US" dirty="0"/>
              <a:t>链地址法</a:t>
            </a:r>
            <a:r>
              <a:rPr lang="en-US" altLang="zh-CN" dirty="0"/>
              <a:t>/</a:t>
            </a:r>
            <a:r>
              <a:rPr lang="zh-CN" altLang="en-US" dirty="0"/>
              <a:t>拉链法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FF0066"/>
                </a:solidFill>
              </a:rPr>
              <a:t>[separate] chaining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闭散列方法</a:t>
            </a:r>
            <a:endParaRPr lang="en-US" altLang="zh-CN" b="1" dirty="0">
              <a:solidFill>
                <a:srgbClr val="FF0066"/>
              </a:solidFill>
            </a:endParaRP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</a:p>
          <a:p>
            <a:pPr lvl="1"/>
            <a:r>
              <a:rPr lang="zh-CN" altLang="en-US" b="1" dirty="0">
                <a:solidFill>
                  <a:srgbClr val="FF0066"/>
                </a:solidFill>
              </a:rPr>
              <a:t>当冲突发生时，使用某种方法在散列表中形成一个探查序列（也称之为“链”），按此序列逐个单元的查找，直到找到一个指定的关键字或碰到一个开放的地址（单元为空）为止</a:t>
            </a:r>
            <a:endParaRPr lang="en-US" altLang="zh-CN" b="1" dirty="0">
              <a:solidFill>
                <a:srgbClr val="FF0066"/>
              </a:solidFill>
            </a:endParaRPr>
          </a:p>
          <a:p>
            <a:pPr lvl="1"/>
            <a:r>
              <a:rPr lang="zh-CN" altLang="en-US" dirty="0"/>
              <a:t>亦即：</a:t>
            </a:r>
            <a:r>
              <a:rPr lang="zh-CN" altLang="en-US" b="1" dirty="0">
                <a:solidFill>
                  <a:srgbClr val="FF0066"/>
                </a:solidFill>
              </a:rPr>
              <a:t>可存放新表项的空闲地址既向它的同义词表项开放，又向它的非同义词表项开放（所以叫开放定址法）</a:t>
            </a:r>
          </a:p>
          <a:p>
            <a:pPr lvl="1"/>
            <a:r>
              <a:rPr lang="en-US" altLang="zh-CN" dirty="0" err="1"/>
              <a:t>H</a:t>
            </a:r>
            <a:r>
              <a:rPr lang="en-US" altLang="zh-CN" baseline="-25000" dirty="0" err="1"/>
              <a:t>j</a:t>
            </a:r>
            <a:r>
              <a:rPr lang="en-US" altLang="zh-CN" dirty="0"/>
              <a:t> = ( H(key) + 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/>
              <a:t> ) MOD m     </a:t>
            </a:r>
          </a:p>
          <a:p>
            <a:pPr lvl="2"/>
            <a:r>
              <a:rPr lang="en-US" altLang="zh-CN" dirty="0"/>
              <a:t>1 </a:t>
            </a:r>
            <a:r>
              <a:rPr lang="en-US" altLang="zh-CN" dirty="0">
                <a:sym typeface="Symbol" panose="05050102010706020507" pitchFamily="18" charset="2"/>
              </a:rPr>
              <a:t>j m-1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hash</a:t>
            </a:r>
            <a:r>
              <a:rPr lang="zh-CN" altLang="en-US" dirty="0">
                <a:sym typeface="Symbol" panose="05050102010706020507" pitchFamily="18" charset="2"/>
              </a:rPr>
              <a:t>表长度</a:t>
            </a:r>
          </a:p>
          <a:p>
            <a:pPr lvl="2"/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zh-CN" altLang="en-US" dirty="0">
                <a:sym typeface="Symbol" panose="05050102010706020507" pitchFamily="18" charset="2"/>
              </a:rPr>
              <a:t>为增量数列，各种方法的不同就区别在取不同的增量数列上</a:t>
            </a:r>
            <a:endParaRPr lang="en-US" altLang="zh-CN" dirty="0">
              <a:sym typeface="Symbol" panose="05050102010706020507" pitchFamily="18" charset="2"/>
            </a:endParaRPr>
          </a:p>
          <a:p>
            <a:pPr lvl="2"/>
            <a:r>
              <a:rPr lang="zh-CN" altLang="en-US" dirty="0">
                <a:sym typeface="Symbol" panose="05050102010706020507" pitchFamily="18" charset="2"/>
              </a:rPr>
              <a:t>这里的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可以理解为冲突的次数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endParaRPr lang="zh-CN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闭散列方法</a:t>
            </a:r>
            <a:endParaRPr lang="en-US" altLang="zh-CN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线性探查法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>
                <a:highlight>
                  <a:srgbClr val="FFFF00"/>
                </a:highlight>
              </a:rPr>
              <a:t>二次探查法</a:t>
            </a:r>
          </a:p>
          <a:p>
            <a:r>
              <a:rPr lang="zh-CN" altLang="en-US" dirty="0">
                <a:highlight>
                  <a:srgbClr val="FFFF00"/>
                </a:highlight>
              </a:rPr>
              <a:t>双散列法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zh-CN" altLang="en-US" dirty="0"/>
              <a:t>伪随机法</a:t>
            </a:r>
          </a:p>
          <a:p>
            <a:r>
              <a:rPr lang="zh-CN" altLang="en-US" dirty="0"/>
              <a:t>桶式散列法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又叫线性探测法，</a:t>
            </a:r>
            <a:r>
              <a:rPr lang="en-US" altLang="zh-CN" dirty="0"/>
              <a:t> Linear Probing</a:t>
            </a:r>
            <a:endParaRPr lang="zh-CN" altLang="en-US" dirty="0"/>
          </a:p>
          <a:p>
            <a:pPr lvl="1"/>
            <a:r>
              <a:rPr lang="zh-CN" altLang="en-US" dirty="0"/>
              <a:t>取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>
                <a:sym typeface="Symbol" panose="05050102010706020507" pitchFamily="18" charset="2"/>
              </a:rPr>
              <a:t> = 1, 2, …, m-1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相当于将散列表看成是一个环形表，发生冲突时，每次往后探测相邻的下一个单元是否为空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具体而言，若地址为</a:t>
            </a:r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sym typeface="Symbol" panose="05050102010706020507" pitchFamily="18" charset="2"/>
              </a:rPr>
              <a:t>（即</a:t>
            </a:r>
            <a:r>
              <a:rPr lang="en-US" altLang="zh-CN" dirty="0">
                <a:sym typeface="Symbol" panose="05050102010706020507" pitchFamily="18" charset="2"/>
              </a:rPr>
              <a:t>H(key)=d</a:t>
            </a:r>
            <a:r>
              <a:rPr lang="zh-CN" altLang="en-US" dirty="0">
                <a:sym typeface="Symbol" panose="05050102010706020507" pitchFamily="18" charset="2"/>
              </a:rPr>
              <a:t>）的单元发生冲突，则依次探查下述地址单元：</a:t>
            </a:r>
            <a:r>
              <a:rPr lang="en-US" altLang="zh-CN" dirty="0">
                <a:sym typeface="Symbol" panose="05050102010706020507" pitchFamily="18" charset="2"/>
              </a:rPr>
              <a:t>d+1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d+2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......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m-1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......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d-1</a:t>
            </a:r>
            <a:r>
              <a:rPr lang="zh-CN" altLang="en-US" dirty="0">
                <a:sym typeface="Symbol" panose="05050102010706020507" pitchFamily="18" charset="2"/>
              </a:rPr>
              <a:t>，直到找到一个空单元或查找到关键字为</a:t>
            </a:r>
            <a:r>
              <a:rPr lang="en-US" altLang="zh-CN" dirty="0">
                <a:sym typeface="Symbol" panose="05050102010706020507" pitchFamily="18" charset="2"/>
              </a:rPr>
              <a:t>key</a:t>
            </a:r>
            <a:r>
              <a:rPr lang="zh-CN" altLang="en-US" dirty="0">
                <a:sym typeface="Symbol" panose="05050102010706020507" pitchFamily="18" charset="2"/>
              </a:rPr>
              <a:t>的结点为止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若沿着该探查序列查找一遍之后，又回到了地址</a:t>
            </a:r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zh-CN" altLang="en-US" dirty="0">
                <a:sym typeface="Symbol" panose="05050102010706020507" pitchFamily="18" charset="2"/>
              </a:rPr>
              <a:t>，则无论是做插入操作还是做查找操作，都意味着失败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线性探查法的插入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772816"/>
            <a:ext cx="10363200" cy="256483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3943" y="4221088"/>
            <a:ext cx="10102057" cy="174497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1464" y="6093296"/>
            <a:ext cx="6943130" cy="5833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线性探查法的插入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1700808"/>
            <a:ext cx="10363200" cy="181614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1464" y="3516956"/>
            <a:ext cx="7219716" cy="71192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9" y="4149080"/>
            <a:ext cx="10048552" cy="179607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71464" y="5805264"/>
            <a:ext cx="5591326" cy="93610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线性探查法的插入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1424" y="1772816"/>
            <a:ext cx="10363200" cy="156896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3264156"/>
            <a:ext cx="10271492" cy="180739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5373216"/>
            <a:ext cx="645795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线性探查法的插入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1772816"/>
            <a:ext cx="10363200" cy="1841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4149080"/>
            <a:ext cx="7704856" cy="7552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线性探查法的插入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1772816"/>
            <a:ext cx="10363200" cy="192062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3993345"/>
            <a:ext cx="7686675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线性探查法的查找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2060848"/>
            <a:ext cx="10363200" cy="15082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06712" y="4077072"/>
            <a:ext cx="7375376" cy="128583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线性探查法的查找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1772816"/>
            <a:ext cx="10363200" cy="18229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3744" y="3970504"/>
            <a:ext cx="8990607" cy="11211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线性探查法的查找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1916832"/>
            <a:ext cx="10363200" cy="1702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2273" y="4073331"/>
            <a:ext cx="935355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线性探查法的删除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1700808"/>
            <a:ext cx="10363200" cy="1999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3352" y="3952890"/>
            <a:ext cx="11013875" cy="1619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线性探查法的删除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9456" y="1844824"/>
            <a:ext cx="10363200" cy="17496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9456" y="3594454"/>
            <a:ext cx="10297144" cy="149072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81598" y="5301208"/>
            <a:ext cx="8398916" cy="89710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线性探查法的删除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9385" y="3645024"/>
            <a:ext cx="10363200" cy="17383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839" y="1916832"/>
            <a:ext cx="10508746" cy="107581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1628800"/>
            <a:ext cx="10363200" cy="134962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1" y="2999100"/>
            <a:ext cx="10120560" cy="1432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7" y="4509120"/>
            <a:ext cx="10219185" cy="136815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线性探查法的缺点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特别容易产生聚集现象</a:t>
            </a:r>
            <a:endParaRPr lang="en-US" altLang="zh-CN" dirty="0"/>
          </a:p>
          <a:p>
            <a:pPr lvl="1"/>
            <a:r>
              <a:rPr lang="zh-CN" altLang="en-US" dirty="0"/>
              <a:t>聚集（</a:t>
            </a:r>
            <a:r>
              <a:rPr lang="en-US" altLang="zh-CN" dirty="0"/>
              <a:t>clustering</a:t>
            </a:r>
            <a:r>
              <a:rPr lang="zh-CN" altLang="en-US" dirty="0"/>
              <a:t>）又称二次聚集或堆积，指处理冲突中发生的两个第一个</a:t>
            </a:r>
            <a:r>
              <a:rPr lang="en-US" altLang="zh-CN" dirty="0"/>
              <a:t>hash</a:t>
            </a:r>
            <a:r>
              <a:rPr lang="zh-CN" altLang="en-US" dirty="0"/>
              <a:t>地址不同的记录争夺同一个后继</a:t>
            </a:r>
            <a:r>
              <a:rPr lang="en-US" altLang="zh-CN" dirty="0"/>
              <a:t>hash</a:t>
            </a:r>
            <a:r>
              <a:rPr lang="zh-CN" altLang="en-US" dirty="0"/>
              <a:t>地址的情况，常发生在有大量</a:t>
            </a:r>
            <a:r>
              <a:rPr lang="en-US" altLang="zh-CN" dirty="0"/>
              <a:t>key</a:t>
            </a:r>
            <a:r>
              <a:rPr lang="zh-CN" altLang="en-US" dirty="0"/>
              <a:t>对应于同一</a:t>
            </a:r>
            <a:r>
              <a:rPr lang="en-US" altLang="zh-CN" dirty="0"/>
              <a:t>Hash</a:t>
            </a:r>
            <a:r>
              <a:rPr lang="zh-CN" altLang="en-US" dirty="0"/>
              <a:t>函数值的情况下</a:t>
            </a:r>
          </a:p>
          <a:p>
            <a:pPr lvl="1"/>
            <a:r>
              <a:rPr lang="zh-CN" altLang="en-US" dirty="0"/>
              <a:t>聚集现象仅出现于使用闭散列方法时</a:t>
            </a:r>
          </a:p>
          <a:p>
            <a:r>
              <a:rPr lang="zh-CN" altLang="en-US" dirty="0"/>
              <a:t>链非常长，严重影响查找效率</a:t>
            </a:r>
            <a:endParaRPr lang="en-US" altLang="zh-CN" dirty="0"/>
          </a:p>
          <a:p>
            <a:pPr lvl="1"/>
            <a:r>
              <a:rPr lang="zh-CN" altLang="en-US" dirty="0"/>
              <a:t>很容易使散列查询退化为对于链表或者数组的顺序查询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二次探查法</a:t>
            </a:r>
            <a:endParaRPr lang="en-US" altLang="zh-CN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又叫二次探测法，</a:t>
            </a:r>
            <a:r>
              <a:rPr lang="en-US" altLang="zh-CN" dirty="0"/>
              <a:t>Quadratic Probing </a:t>
            </a:r>
            <a:endParaRPr lang="zh-CN" altLang="en-US" dirty="0"/>
          </a:p>
          <a:p>
            <a:pPr lvl="1"/>
            <a:r>
              <a:rPr lang="zh-CN" altLang="en-US" dirty="0"/>
              <a:t>取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>
                <a:sym typeface="Symbol" panose="05050102010706020507" pitchFamily="18" charset="2"/>
              </a:rPr>
              <a:t> = 1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,-1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,2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,-2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,…k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,-k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; k m/2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发生冲突时，将同义词来回散列在第一个地址的两端；求下一个开放地址的公式为：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2i-1</a:t>
            </a:r>
            <a:r>
              <a:rPr lang="en-US" altLang="zh-CN" dirty="0">
                <a:sym typeface="Symbol" panose="05050102010706020507" pitchFamily="18" charset="2"/>
              </a:rPr>
              <a:t> = (d + i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)%m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2i</a:t>
            </a:r>
            <a:r>
              <a:rPr lang="en-US" altLang="zh-CN" dirty="0">
                <a:sym typeface="Symbol" panose="05050102010706020507" pitchFamily="18" charset="2"/>
              </a:rPr>
              <a:t> = (d – i</a:t>
            </a:r>
            <a:r>
              <a:rPr lang="en-US" altLang="zh-CN" baseline="30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)%m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注意负数的模运算：</a:t>
            </a:r>
            <a:r>
              <a:rPr lang="en-US" altLang="zh-CN" dirty="0">
                <a:sym typeface="Symbol" panose="05050102010706020507" pitchFamily="18" charset="2"/>
              </a:rPr>
              <a:t>(-3)%27 = 24</a:t>
            </a:r>
            <a:r>
              <a:rPr lang="zh-CN" altLang="en-US" dirty="0">
                <a:sym typeface="Symbol" panose="05050102010706020507" pitchFamily="18" charset="2"/>
              </a:rPr>
              <a:t>，⽽不是</a:t>
            </a:r>
            <a:r>
              <a:rPr lang="en-US" altLang="zh-CN" dirty="0">
                <a:sym typeface="Symbol" panose="05050102010706020507" pitchFamily="18" charset="2"/>
              </a:rPr>
              <a:t>3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《</a:t>
            </a:r>
            <a:r>
              <a:rPr lang="zh-CN" altLang="en-US" dirty="0">
                <a:sym typeface="Symbol" panose="05050102010706020507" pitchFamily="18" charset="2"/>
              </a:rPr>
              <a:t>数论</a:t>
            </a:r>
            <a:r>
              <a:rPr lang="en-US" altLang="zh-CN" dirty="0">
                <a:sym typeface="Symbol" panose="05050102010706020507" pitchFamily="18" charset="2"/>
              </a:rPr>
              <a:t>》</a:t>
            </a:r>
            <a:r>
              <a:rPr lang="zh-CN" altLang="en-US" dirty="0">
                <a:sym typeface="Symbol" panose="05050102010706020507" pitchFamily="18" charset="2"/>
              </a:rPr>
              <a:t>中模运算的规则：</a:t>
            </a:r>
            <a:r>
              <a:rPr lang="en-US" altLang="zh-CN" dirty="0">
                <a:sym typeface="Symbol" panose="05050102010706020507" pitchFamily="18" charset="2"/>
              </a:rPr>
              <a:t>a MOD m == (</a:t>
            </a:r>
            <a:r>
              <a:rPr lang="en-US" altLang="zh-CN" dirty="0" err="1">
                <a:sym typeface="Symbol" panose="05050102010706020507" pitchFamily="18" charset="2"/>
              </a:rPr>
              <a:t>a+km</a:t>
            </a:r>
            <a:r>
              <a:rPr lang="en-US" altLang="zh-CN" dirty="0">
                <a:sym typeface="Symbol" panose="05050102010706020507" pitchFamily="18" charset="2"/>
              </a:rPr>
              <a:t>) MOD m</a:t>
            </a:r>
            <a:r>
              <a:rPr lang="zh-CN" altLang="en-US" dirty="0">
                <a:sym typeface="Symbol" panose="05050102010706020507" pitchFamily="18" charset="2"/>
              </a:rPr>
              <a:t>，其中，</a:t>
            </a:r>
            <a:r>
              <a:rPr lang="en-US" altLang="zh-CN" dirty="0">
                <a:sym typeface="Symbol" panose="05050102010706020507" pitchFamily="18" charset="2"/>
              </a:rPr>
              <a:t>k</a:t>
            </a:r>
            <a:r>
              <a:rPr lang="zh-CN" altLang="en-US" dirty="0">
                <a:sym typeface="Symbol" panose="05050102010706020507" pitchFamily="18" charset="2"/>
              </a:rPr>
              <a:t>为任意整数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缺点：不容易探查到整个散列表空间，只有当表长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en-US" altLang="zh-CN" dirty="0">
                <a:sym typeface="Symbol" panose="05050102010706020507" pitchFamily="18" charset="2"/>
              </a:rPr>
              <a:t>4j+3</a:t>
            </a:r>
            <a:r>
              <a:rPr lang="zh-CN" altLang="en-US" dirty="0">
                <a:sym typeface="Symbol" panose="05050102010706020507" pitchFamily="18" charset="2"/>
              </a:rPr>
              <a:t>的素数时，才能保证探查到整个表空间（这里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为某一正整数）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二次探查法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432" y="2325675"/>
            <a:ext cx="9289032" cy="26768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88488" y="2325674"/>
            <a:ext cx="1365416" cy="261549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二次探查法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27448" y="2060848"/>
            <a:ext cx="10363200" cy="11774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360" y="3933056"/>
            <a:ext cx="11280132" cy="136815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二次探查法的改进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EEECE1"/>
              </a:clrFrom>
              <a:clrTo>
                <a:srgbClr val="EEEC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9457" y="1556792"/>
            <a:ext cx="6120680" cy="364698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EEECE1"/>
              </a:clrFrom>
              <a:clrTo>
                <a:srgbClr val="EEECE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2327" y="5282664"/>
            <a:ext cx="6137809" cy="13373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双散列法</a:t>
            </a:r>
            <a:endParaRPr lang="en-US" altLang="zh-CN" dirty="0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又叫再哈希法、二次哈希法，</a:t>
            </a:r>
            <a:r>
              <a:rPr lang="en-US" altLang="zh-CN" dirty="0"/>
              <a:t>Rehash</a:t>
            </a:r>
            <a:endParaRPr lang="zh-CN" altLang="en-US" dirty="0"/>
          </a:p>
          <a:p>
            <a:pPr lvl="1"/>
            <a:r>
              <a:rPr lang="zh-CN" altLang="en-US" dirty="0"/>
              <a:t>取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>
                <a:sym typeface="Symbol" panose="05050102010706020507" pitchFamily="18" charset="2"/>
              </a:rPr>
              <a:t>  = 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 </a:t>
            </a:r>
            <a:r>
              <a:rPr lang="zh-CN" altLang="en-US" dirty="0">
                <a:sym typeface="Symbol" panose="05050102010706020507" pitchFamily="18" charset="2"/>
              </a:rPr>
              <a:t>为与</a:t>
            </a:r>
            <a:r>
              <a:rPr lang="en-US" altLang="zh-CN" dirty="0">
                <a:sym typeface="Symbol" panose="05050102010706020507" pitchFamily="18" charset="2"/>
              </a:rPr>
              <a:t>H(key)</a:t>
            </a:r>
            <a:r>
              <a:rPr lang="zh-CN" altLang="en-US" dirty="0">
                <a:sym typeface="Symbol" panose="05050102010706020507" pitchFamily="18" charset="2"/>
              </a:rPr>
              <a:t>不同的另一个</a:t>
            </a:r>
            <a:r>
              <a:rPr lang="en-US" altLang="zh-CN" dirty="0">
                <a:sym typeface="Symbol" panose="05050102010706020507" pitchFamily="18" charset="2"/>
              </a:rPr>
              <a:t>Hash</a:t>
            </a:r>
            <a:r>
              <a:rPr lang="zh-CN" altLang="en-US" dirty="0">
                <a:sym typeface="Symbol" panose="05050102010706020507" pitchFamily="18" charset="2"/>
              </a:rPr>
              <a:t>函数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使用两个散列函数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，其中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和前面的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zh-CN" altLang="en-US" dirty="0">
                <a:sym typeface="Symbol" panose="05050102010706020507" pitchFamily="18" charset="2"/>
              </a:rPr>
              <a:t>一样，以关键字为自变量，产生一个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到</a:t>
            </a:r>
            <a:r>
              <a:rPr lang="en-US" altLang="zh-CN" dirty="0">
                <a:sym typeface="Symbol" panose="05050102010706020507" pitchFamily="18" charset="2"/>
              </a:rPr>
              <a:t>m-1</a:t>
            </a:r>
            <a:r>
              <a:rPr lang="zh-CN" altLang="en-US" dirty="0">
                <a:sym typeface="Symbol" panose="05050102010706020507" pitchFamily="18" charset="2"/>
              </a:rPr>
              <a:t>之间的数作为散列地址，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也以关键字为自变量产生一个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到</a:t>
            </a:r>
            <a:r>
              <a:rPr lang="en-US" altLang="zh-CN" dirty="0">
                <a:sym typeface="Symbol" panose="05050102010706020507" pitchFamily="18" charset="2"/>
              </a:rPr>
              <a:t>m-1</a:t>
            </a:r>
            <a:r>
              <a:rPr lang="zh-CN" altLang="en-US" dirty="0">
                <a:sym typeface="Symbol" panose="05050102010706020507" pitchFamily="18" charset="2"/>
              </a:rPr>
              <a:t>之间的、并和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互素的数作为对散列地址的补偿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最多经过 </a:t>
            </a:r>
            <a:r>
              <a:rPr lang="en-US" altLang="zh-CN" dirty="0">
                <a:sym typeface="Symbol" panose="05050102010706020507" pitchFamily="18" charset="2"/>
              </a:rPr>
              <a:t>m-1</a:t>
            </a:r>
            <a:r>
              <a:rPr lang="zh-CN" altLang="en-US" dirty="0">
                <a:sym typeface="Symbol" panose="05050102010706020507" pitchFamily="18" charset="2"/>
              </a:rPr>
              <a:t>次探查，它会遍历表中所有位置，回到起始位置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/>
              <a:t>优点：按一定的距离，跳跃式地寻找“下一个”桶，减少了“堆积”的机会</a:t>
            </a:r>
          </a:p>
          <a:p>
            <a:pPr lvl="1"/>
            <a:endParaRPr lang="zh-CN" altLang="en-US" baseline="-25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双散列法</a:t>
            </a:r>
            <a:endParaRPr lang="en-US" altLang="zh-CN" b="1" dirty="0">
              <a:solidFill>
                <a:srgbClr val="FF0066"/>
              </a:solidFill>
            </a:endParaRP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又叫再哈希法、二次哈希法，</a:t>
            </a:r>
            <a:r>
              <a:rPr lang="en-US" altLang="zh-CN" dirty="0"/>
              <a:t>Rehash</a:t>
            </a:r>
            <a:endParaRPr lang="zh-CN" altLang="en-US" dirty="0"/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若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(key)=d</a:t>
            </a:r>
            <a:r>
              <a:rPr lang="zh-CN" altLang="en-US" dirty="0">
                <a:sym typeface="Symbol" panose="05050102010706020507" pitchFamily="18" charset="2"/>
              </a:rPr>
              <a:t>时发生冲突，则再计算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</a:t>
            </a:r>
            <a:r>
              <a:rPr lang="zh-CN" altLang="en-US" dirty="0">
                <a:sym typeface="Symbol" panose="05050102010706020507" pitchFamily="18" charset="2"/>
              </a:rPr>
              <a:t>，得到的探查序列为</a:t>
            </a:r>
            <a:r>
              <a:rPr lang="en-US" altLang="zh-CN" dirty="0">
                <a:sym typeface="Symbol" panose="05050102010706020507" pitchFamily="18" charset="2"/>
              </a:rPr>
              <a:t>d+H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(key))%m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(d+2H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(key))%m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(d+3H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(key))%m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...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由此可得双散列函数探查法求下一个开放地址的公式为： </a:t>
            </a:r>
            <a:r>
              <a:rPr lang="en-US" altLang="zh-CN" b="1" dirty="0">
                <a:solidFill>
                  <a:srgbClr val="FF0066"/>
                </a:solidFill>
                <a:sym typeface="Symbol" panose="05050102010706020507" pitchFamily="18" charset="2"/>
              </a:rPr>
              <a:t>di=(d+iH</a:t>
            </a:r>
            <a:r>
              <a:rPr lang="en-US" altLang="zh-CN" b="1" baseline="-25000" dirty="0">
                <a:solidFill>
                  <a:srgbClr val="FF0066"/>
                </a:solidFill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FF0066"/>
                </a:solidFill>
                <a:sym typeface="Symbol" panose="05050102010706020507" pitchFamily="18" charset="2"/>
              </a:rPr>
              <a:t>(key))%m</a:t>
            </a:r>
          </a:p>
          <a:p>
            <a:pPr lvl="2"/>
            <a:r>
              <a:rPr lang="zh-CN" altLang="en-US" dirty="0">
                <a:sym typeface="Symbol" panose="05050102010706020507" pitchFamily="18" charset="2"/>
              </a:rPr>
              <a:t>或</a:t>
            </a:r>
            <a:r>
              <a:rPr lang="en-US" altLang="zh-CN" dirty="0">
                <a:sym typeface="Symbol" panose="05050102010706020507" pitchFamily="18" charset="2"/>
              </a:rPr>
              <a:t> j = H0 = Hash(key)</a:t>
            </a:r>
            <a:r>
              <a:rPr lang="zh-CN" altLang="en-US" dirty="0">
                <a:sym typeface="Symbol" panose="05050102010706020507" pitchFamily="18" charset="2"/>
              </a:rPr>
              <a:t>，  </a:t>
            </a:r>
            <a:r>
              <a:rPr lang="en-US" altLang="zh-CN" dirty="0">
                <a:sym typeface="Symbol" panose="05050102010706020507" pitchFamily="18" charset="2"/>
              </a:rPr>
              <a:t>p = </a:t>
            </a:r>
            <a:r>
              <a:rPr lang="en-US" altLang="zh-CN" dirty="0" err="1">
                <a:sym typeface="Symbol" panose="05050102010706020507" pitchFamily="18" charset="2"/>
              </a:rPr>
              <a:t>ReHash</a:t>
            </a:r>
            <a:r>
              <a:rPr lang="en-US" altLang="zh-CN" dirty="0">
                <a:sym typeface="Symbol" panose="05050102010706020507" pitchFamily="18" charset="2"/>
              </a:rPr>
              <a:t>(key)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  <a:r>
              <a:rPr lang="en-US" altLang="zh-CN" dirty="0">
                <a:sym typeface="Symbol" panose="05050102010706020507" pitchFamily="18" charset="2"/>
              </a:rPr>
              <a:t>j = ( j + p ) % m</a:t>
            </a:r>
            <a:r>
              <a:rPr lang="zh-CN" altLang="en-US" dirty="0">
                <a:sym typeface="Symbol" panose="05050102010706020507" pitchFamily="18" charset="2"/>
              </a:rPr>
              <a:t>； </a:t>
            </a:r>
          </a:p>
          <a:p>
            <a:pPr lvl="2"/>
            <a:r>
              <a:rPr lang="zh-CN" altLang="en-US" dirty="0">
                <a:sym typeface="Symbol" panose="05050102010706020507" pitchFamily="18" charset="2"/>
              </a:rPr>
              <a:t>其中，</a:t>
            </a:r>
            <a:r>
              <a:rPr lang="en-US" altLang="zh-CN" dirty="0">
                <a:sym typeface="Symbol" panose="05050102010706020507" pitchFamily="18" charset="2"/>
              </a:rPr>
              <a:t>m = </a:t>
            </a:r>
            <a:r>
              <a:rPr lang="en-US" altLang="zh-CN" dirty="0" err="1">
                <a:sym typeface="Symbol" panose="05050102010706020507" pitchFamily="18" charset="2"/>
              </a:rPr>
              <a:t>TableSize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是小于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且与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互质的正整数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双散列法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又叫再哈希法、二次哈希法，</a:t>
            </a:r>
            <a:r>
              <a:rPr lang="en-US" altLang="zh-CN" dirty="0"/>
              <a:t>Rehash</a:t>
            </a:r>
            <a:endParaRPr lang="zh-CN" altLang="en-US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m</a:t>
            </a:r>
            <a:r>
              <a:rPr lang="zh-CN" altLang="en-US" dirty="0"/>
              <a:t>是质数时，可定义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(key) = key % (m-1) +1</a:t>
            </a:r>
          </a:p>
          <a:p>
            <a:pPr lvl="2"/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(key) =  </a:t>
            </a:r>
            <a:r>
              <a:rPr lang="en-US" altLang="zh-CN" dirty="0">
                <a:sym typeface="Symbol" panose="05050102010706020507" pitchFamily="18" charset="2"/>
              </a:rPr>
              <a:t></a:t>
            </a:r>
            <a:r>
              <a:rPr lang="en-US" altLang="zh-CN" dirty="0"/>
              <a:t>key / m</a:t>
            </a:r>
            <a:r>
              <a:rPr lang="en-US" altLang="zh-CN" dirty="0">
                <a:sym typeface="Symbol" panose="05050102010706020507" pitchFamily="18" charset="2"/>
              </a:rPr>
              <a:t></a:t>
            </a:r>
            <a:r>
              <a:rPr lang="en-US" altLang="zh-CN" dirty="0"/>
              <a:t> % (m-2)+1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m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的方幂时，</a:t>
            </a:r>
            <a:r>
              <a:rPr lang="en-US" altLang="zh-CN" dirty="0" err="1"/>
              <a:t>ReHash</a:t>
            </a:r>
            <a:r>
              <a:rPr lang="en-US" altLang="zh-CN" dirty="0"/>
              <a:t>(key)</a:t>
            </a:r>
            <a:r>
              <a:rPr lang="zh-CN" altLang="en-US" dirty="0"/>
              <a:t>可取从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m-1</a:t>
            </a:r>
            <a:r>
              <a:rPr lang="zh-CN" altLang="en-US" dirty="0"/>
              <a:t>中的任意一个奇数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定义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 (key)</a:t>
            </a:r>
            <a:r>
              <a:rPr lang="zh-CN" altLang="en-US" dirty="0">
                <a:sym typeface="Symbol" panose="05050102010706020507" pitchFamily="18" charset="2"/>
              </a:rPr>
              <a:t>的方法较多，但无论采用什么方法，都必须使</a:t>
            </a:r>
            <a:r>
              <a:rPr lang="en-US" altLang="zh-CN" dirty="0">
                <a:sym typeface="Symbol" panose="05050102010706020507" pitchFamily="18" charset="2"/>
              </a:rPr>
              <a:t>H</a:t>
            </a:r>
            <a:r>
              <a:rPr lang="en-US" altLang="zh-CN" baseline="-25000" dirty="0">
                <a:sym typeface="Symbol" panose="05050102010706020507" pitchFamily="18" charset="2"/>
              </a:rPr>
              <a:t>2 </a:t>
            </a:r>
            <a:r>
              <a:rPr lang="en-US" altLang="zh-CN" dirty="0">
                <a:sym typeface="Symbol" panose="05050102010706020507" pitchFamily="18" charset="2"/>
              </a:rPr>
              <a:t>(key) 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ym typeface="Symbol" panose="05050102010706020507" pitchFamily="18" charset="2"/>
              </a:rPr>
              <a:t>互素，才能使发生冲突的同义词地址均匀地分布在整个表中，否则可能造成同义词地址的循环计算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双散列法示例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628800"/>
            <a:ext cx="10363200" cy="4114800"/>
          </a:xfrm>
        </p:spPr>
        <p:txBody>
          <a:bodyPr/>
          <a:lstStyle/>
          <a:p>
            <a:r>
              <a:rPr lang="zh-CN" altLang="en-US" dirty="0"/>
              <a:t>给出一组关键字</a:t>
            </a:r>
            <a:r>
              <a:rPr lang="en-US" altLang="zh-CN" dirty="0"/>
              <a:t>{ 22, 41, 53, 46, 30, 13, 01, 67 }</a:t>
            </a:r>
            <a:r>
              <a:rPr lang="zh-CN" altLang="en-US" dirty="0"/>
              <a:t>，</a:t>
            </a:r>
            <a:br>
              <a:rPr lang="en-US" altLang="zh-CN" dirty="0"/>
            </a:br>
            <a:r>
              <a:rPr lang="zh-CN" altLang="en-US" dirty="0"/>
              <a:t>散列函数为：</a:t>
            </a:r>
            <a:r>
              <a:rPr lang="en-US" altLang="zh-CN" dirty="0"/>
              <a:t>Hash(x)</a:t>
            </a:r>
            <a:r>
              <a:rPr lang="zh-CN" altLang="en-US" dirty="0"/>
              <a:t>＝</a:t>
            </a:r>
            <a:r>
              <a:rPr lang="en-US" altLang="zh-CN" dirty="0"/>
              <a:t>(3x) % 11</a:t>
            </a:r>
            <a:endParaRPr lang="zh-CN" altLang="en-US" dirty="0"/>
          </a:p>
          <a:p>
            <a:pPr lvl="1"/>
            <a:r>
              <a:rPr lang="zh-CN" altLang="en-US" dirty="0"/>
              <a:t>因散列表为 </a:t>
            </a:r>
            <a:r>
              <a:rPr lang="en-US" altLang="zh-CN" dirty="0"/>
              <a:t>HT[0..10]</a:t>
            </a:r>
            <a:r>
              <a:rPr lang="zh-CN" altLang="en-US" dirty="0"/>
              <a:t>，</a:t>
            </a:r>
            <a:r>
              <a:rPr lang="en-US" altLang="zh-CN" dirty="0"/>
              <a:t>m = 11</a:t>
            </a:r>
            <a:r>
              <a:rPr lang="zh-CN" altLang="en-US" dirty="0"/>
              <a:t>；</a:t>
            </a:r>
            <a:br>
              <a:rPr lang="en-US" altLang="zh-CN" dirty="0"/>
            </a:br>
            <a:r>
              <a:rPr lang="zh-CN" altLang="en-US" dirty="0"/>
              <a:t>故设再散列函数为 </a:t>
            </a:r>
            <a:r>
              <a:rPr lang="en-US" altLang="zh-CN" dirty="0" err="1"/>
              <a:t>ReHash</a:t>
            </a:r>
            <a:r>
              <a:rPr lang="en-US" altLang="zh-CN" dirty="0"/>
              <a:t>(x) = (7x) % 10 +1</a:t>
            </a:r>
          </a:p>
          <a:p>
            <a:pPr lvl="1"/>
            <a:r>
              <a:rPr lang="zh-CN" altLang="en-US" dirty="0"/>
              <a:t>因此有：</a:t>
            </a:r>
            <a:r>
              <a:rPr lang="en-US" altLang="zh-CN" dirty="0"/>
              <a:t>H</a:t>
            </a:r>
            <a:r>
              <a:rPr lang="en-US" altLang="zh-CN" baseline="-25000" dirty="0"/>
              <a:t>i</a:t>
            </a:r>
            <a:r>
              <a:rPr lang="en-US" altLang="zh-CN" dirty="0"/>
              <a:t> = ( H</a:t>
            </a:r>
            <a:r>
              <a:rPr lang="en-US" altLang="zh-CN" baseline="-25000" dirty="0"/>
              <a:t>i-1</a:t>
            </a:r>
            <a:r>
              <a:rPr lang="en-US" altLang="zh-CN" dirty="0"/>
              <a:t> + (7x) % 10 +1 ) % 11,  </a:t>
            </a:r>
            <a:r>
              <a:rPr lang="en-US" altLang="zh-CN" dirty="0" err="1"/>
              <a:t>i</a:t>
            </a:r>
            <a:r>
              <a:rPr lang="en-US" altLang="zh-CN" dirty="0"/>
              <a:t> = 1, 2, ……</a:t>
            </a:r>
          </a:p>
          <a:p>
            <a:pPr lvl="1"/>
            <a:r>
              <a:rPr lang="zh-CN" altLang="en-US" dirty="0"/>
              <a:t>计算得到</a:t>
            </a:r>
            <a:endParaRPr lang="en-US" altLang="zh-CN" dirty="0"/>
          </a:p>
          <a:p>
            <a:pPr lvl="2"/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en-US" altLang="zh-CN" dirty="0"/>
              <a:t>(22) = 0    H</a:t>
            </a:r>
            <a:r>
              <a:rPr lang="en-US" altLang="zh-CN" baseline="-25000" dirty="0"/>
              <a:t>0</a:t>
            </a:r>
            <a:r>
              <a:rPr lang="en-US" altLang="zh-CN" dirty="0"/>
              <a:t>(41) = 2     H</a:t>
            </a:r>
            <a:r>
              <a:rPr lang="en-US" altLang="zh-CN" baseline="-25000" dirty="0"/>
              <a:t>0</a:t>
            </a:r>
            <a:r>
              <a:rPr lang="en-US" altLang="zh-CN" dirty="0"/>
              <a:t>(53) = 5     H</a:t>
            </a:r>
            <a:r>
              <a:rPr lang="en-US" altLang="zh-CN" baseline="-25000" dirty="0"/>
              <a:t>0</a:t>
            </a:r>
            <a:r>
              <a:rPr lang="en-US" altLang="zh-CN" dirty="0"/>
              <a:t>(46) = 6    </a:t>
            </a:r>
          </a:p>
          <a:p>
            <a:pPr lvl="2"/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en-US" altLang="zh-CN" dirty="0"/>
              <a:t>(30) = 2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 = (2+1) = 3 </a:t>
            </a:r>
          </a:p>
          <a:p>
            <a:pPr lvl="2"/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en-US" altLang="zh-CN" dirty="0"/>
              <a:t>(13) = 6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 = (6+2) = 8</a:t>
            </a:r>
          </a:p>
          <a:p>
            <a:pPr lvl="2"/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en-US" altLang="zh-CN" dirty="0"/>
              <a:t>(01) = 3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 = (3+8) = 0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 = (0+8) = 8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3</a:t>
            </a:r>
            <a:r>
              <a:rPr lang="en-US" altLang="zh-CN" dirty="0"/>
              <a:t> = (8+8) = 5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4</a:t>
            </a:r>
            <a:r>
              <a:rPr lang="en-US" altLang="zh-CN" dirty="0"/>
              <a:t> = (5+8) = 2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5</a:t>
            </a:r>
            <a:r>
              <a:rPr lang="en-US" altLang="zh-CN" dirty="0"/>
              <a:t> = (2+8) = 10</a:t>
            </a:r>
          </a:p>
          <a:p>
            <a:pPr lvl="2"/>
            <a:r>
              <a:rPr lang="en-US" altLang="zh-CN" dirty="0"/>
              <a:t>H</a:t>
            </a:r>
            <a:r>
              <a:rPr lang="en-US" altLang="zh-CN" baseline="-25000" dirty="0"/>
              <a:t>0</a:t>
            </a:r>
            <a:r>
              <a:rPr lang="en-US" altLang="zh-CN" dirty="0"/>
              <a:t>(67) = 3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1</a:t>
            </a:r>
            <a:r>
              <a:rPr lang="en-US" altLang="zh-CN" dirty="0"/>
              <a:t> = (3+10) = 2  </a:t>
            </a:r>
            <a:r>
              <a:rPr lang="zh-CN" altLang="en-US" dirty="0"/>
              <a:t>冲突  </a:t>
            </a:r>
            <a:r>
              <a:rPr lang="en-US" altLang="zh-CN" dirty="0"/>
              <a:t>H</a:t>
            </a:r>
            <a:r>
              <a:rPr lang="en-US" altLang="zh-CN" baseline="-25000" dirty="0"/>
              <a:t>2</a:t>
            </a:r>
            <a:r>
              <a:rPr lang="en-US" altLang="zh-CN" dirty="0"/>
              <a:t> = (2+10) = 1 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双散列法示例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730103"/>
            <a:ext cx="10234984" cy="4114800"/>
          </a:xfrm>
        </p:spPr>
        <p:txBody>
          <a:bodyPr/>
          <a:lstStyle/>
          <a:p>
            <a:r>
              <a:rPr lang="zh-CN" altLang="en-US" dirty="0"/>
              <a:t>搜索成功的平均搜索长度</a:t>
            </a:r>
          </a:p>
          <a:p>
            <a:endParaRPr lang="zh-CN" altLang="en-US" dirty="0"/>
          </a:p>
          <a:p>
            <a:r>
              <a:rPr lang="zh-CN" altLang="en-US" dirty="0"/>
              <a:t>搜索不成功的平均搜索长度</a:t>
            </a:r>
          </a:p>
          <a:p>
            <a:pPr lvl="1"/>
            <a:r>
              <a:rPr lang="zh-CN" altLang="en-US" dirty="0"/>
              <a:t>根据</a:t>
            </a:r>
            <a:r>
              <a:rPr lang="en-US" altLang="zh-CN" dirty="0"/>
              <a:t>key</a:t>
            </a:r>
            <a:r>
              <a:rPr lang="zh-CN" altLang="en-US" dirty="0"/>
              <a:t>的不同，每一散列位置的移位量（即</a:t>
            </a:r>
            <a:r>
              <a:rPr lang="en-US" altLang="zh-CN" dirty="0"/>
              <a:t>p=</a:t>
            </a:r>
            <a:r>
              <a:rPr lang="en-US" altLang="zh-CN" dirty="0" err="1"/>
              <a:t>ReHash</a:t>
            </a:r>
            <a:r>
              <a:rPr lang="en-US" altLang="zh-CN" dirty="0"/>
              <a:t>(key) </a:t>
            </a:r>
            <a:r>
              <a:rPr lang="zh-CN" altLang="en-US" dirty="0"/>
              <a:t>）有</a:t>
            </a:r>
            <a:r>
              <a:rPr lang="en-US" altLang="zh-CN" dirty="0"/>
              <a:t>10</a:t>
            </a:r>
            <a:r>
              <a:rPr lang="zh-CN" altLang="en-US" dirty="0"/>
              <a:t>种。先计算每一散列位置各种移位量情形下找到下一个空位的比较次数，求出平均值；再计算各个位置的平均比较次数的总平均值</a:t>
            </a:r>
          </a:p>
        </p:txBody>
      </p:sp>
      <p:graphicFrame>
        <p:nvGraphicFramePr>
          <p:cNvPr id="4" name="Object 0"/>
          <p:cNvGraphicFramePr>
            <a:graphicFrameLocks noChangeAspect="1"/>
          </p:cNvGraphicFramePr>
          <p:nvPr/>
        </p:nvGraphicFramePr>
        <p:xfrm>
          <a:off x="1487488" y="2204864"/>
          <a:ext cx="6758136" cy="719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公式" r:id="rId3" imgW="2819400" imgH="393700" progId="Equation.3">
                  <p:embed/>
                </p:oleObj>
              </mc:Choice>
              <mc:Fallback>
                <p:oleObj name="公式" r:id="rId3" imgW="2819400" imgH="3937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2204864"/>
                        <a:ext cx="6758136" cy="7196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75520" y="4529483"/>
            <a:ext cx="8662193" cy="183625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伪随机法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取</a:t>
            </a:r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为一个随机数序列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求下一个开放地址的公式为：</a:t>
            </a:r>
            <a:r>
              <a:rPr lang="en-US" altLang="zh-CN" dirty="0">
                <a:sym typeface="Symbol" panose="05050102010706020507" pitchFamily="18" charset="2"/>
              </a:rPr>
              <a:t>d</a:t>
            </a:r>
            <a:r>
              <a:rPr lang="en-US" altLang="zh-CN" baseline="-25000" dirty="0">
                <a:sym typeface="Symbol" panose="05050102010706020507" pitchFamily="18" charset="2"/>
              </a:rPr>
              <a:t>i </a:t>
            </a:r>
            <a:r>
              <a:rPr lang="en-US" altLang="zh-CN" dirty="0">
                <a:sym typeface="Symbol" panose="05050102010706020507" pitchFamily="18" charset="2"/>
              </a:rPr>
              <a:t>= (d + </a:t>
            </a:r>
            <a:r>
              <a:rPr lang="en-US" altLang="zh-CN" dirty="0" err="1">
                <a:sym typeface="Symbol" panose="05050102010706020507" pitchFamily="18" charset="2"/>
              </a:rPr>
              <a:t>R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)%m</a:t>
            </a:r>
            <a:r>
              <a:rPr lang="zh-CN" altLang="en-US" dirty="0">
                <a:sym typeface="Symbol" panose="05050102010706020507" pitchFamily="18" charset="2"/>
              </a:rPr>
              <a:t>，其中：</a:t>
            </a:r>
            <a:r>
              <a:rPr lang="en-US" altLang="zh-CN" dirty="0">
                <a:sym typeface="Symbol" panose="05050102010706020507" pitchFamily="18" charset="2"/>
              </a:rPr>
              <a:t>d=H(key)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…R</a:t>
            </a:r>
            <a:r>
              <a:rPr lang="en-US" altLang="zh-CN" baseline="-25000" dirty="0">
                <a:sym typeface="Symbol" panose="05050102010706020507" pitchFamily="18" charset="2"/>
              </a:rPr>
              <a:t>m-1</a:t>
            </a:r>
            <a:r>
              <a:rPr lang="zh-CN" altLang="en-US" dirty="0">
                <a:sym typeface="Symbol" panose="05050102010706020507" pitchFamily="18" charset="2"/>
              </a:rPr>
              <a:t>是一个随机排列</a:t>
            </a:r>
          </a:p>
          <a:p>
            <a:r>
              <a:rPr lang="zh-CN" altLang="en-US" dirty="0">
                <a:sym typeface="Symbol" panose="05050102010706020507" pitchFamily="18" charset="2"/>
              </a:rPr>
              <a:t>如何得到随机数</a:t>
            </a:r>
            <a:r>
              <a:rPr lang="en-US" altLang="zh-CN" dirty="0">
                <a:sym typeface="Symbol" panose="05050102010706020507" pitchFamily="18" charset="2"/>
              </a:rPr>
              <a:t>?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实用中常常采用移位寄存器序列代替随机数序列，具体方法如下页说明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伪随机法</a:t>
            </a:r>
            <a:endParaRPr lang="en-US" altLang="zh-CN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</a:t>
            </a:r>
            <a:r>
              <a:rPr lang="en-US" altLang="zh-CN" dirty="0"/>
              <a:t>m</a:t>
            </a:r>
            <a:r>
              <a:rPr lang="zh-CN" altLang="en-US" dirty="0"/>
              <a:t>是</a:t>
            </a:r>
            <a:r>
              <a:rPr lang="en-US" altLang="zh-CN" dirty="0"/>
              <a:t>2</a:t>
            </a:r>
            <a:r>
              <a:rPr lang="zh-CN" altLang="en-US" dirty="0"/>
              <a:t>的方幂，</a:t>
            </a:r>
            <a:r>
              <a:rPr lang="en-US" altLang="zh-CN" dirty="0"/>
              <a:t>K</a:t>
            </a:r>
            <a:r>
              <a:rPr lang="zh-CN" altLang="en-US" dirty="0"/>
              <a:t>是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m-1</a:t>
            </a:r>
            <a:r>
              <a:rPr lang="zh-CN" altLang="en-US" dirty="0"/>
              <a:t>之间的一个整数，产生移位寄存器序列的方法如下：</a:t>
            </a:r>
          </a:p>
          <a:p>
            <a:pPr lvl="1"/>
            <a:r>
              <a:rPr lang="zh-CN" altLang="en-US" dirty="0"/>
              <a:t>任取</a:t>
            </a:r>
            <a:r>
              <a:rPr lang="en-US" altLang="zh-CN" dirty="0"/>
              <a:t>1</a:t>
            </a:r>
            <a:r>
              <a:rPr lang="zh-CN" altLang="en-US" dirty="0"/>
              <a:t>到</a:t>
            </a:r>
            <a:r>
              <a:rPr lang="en-US" altLang="zh-CN" dirty="0"/>
              <a:t>m-1</a:t>
            </a:r>
            <a:r>
              <a:rPr lang="zh-CN" altLang="en-US" dirty="0"/>
              <a:t>之间的一个整数作为</a:t>
            </a:r>
            <a:r>
              <a:rPr lang="en-US" altLang="zh-CN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设已知</a:t>
            </a:r>
            <a:r>
              <a:rPr lang="en-US" altLang="zh-CN" dirty="0"/>
              <a:t>R</a:t>
            </a:r>
            <a:r>
              <a:rPr lang="en-US" altLang="zh-CN" baseline="-25000" dirty="0"/>
              <a:t>i-1</a:t>
            </a:r>
            <a:r>
              <a:rPr lang="zh-CN" altLang="en-US" dirty="0"/>
              <a:t>，令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其中，整数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m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en-US" altLang="zh-CN" baseline="-25000" dirty="0"/>
              <a:t>i-1</a:t>
            </a:r>
            <a:r>
              <a:rPr lang="zh-CN" altLang="en-US" dirty="0"/>
              <a:t>、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i</a:t>
            </a:r>
            <a:r>
              <a:rPr lang="zh-CN" altLang="en-US" dirty="0"/>
              <a:t>都是二进制表示，运算</a:t>
            </a:r>
            <a:r>
              <a:rPr lang="zh-CN" altLang="en-US" sz="2800" dirty="0">
                <a:latin typeface="宋体" panose="02010600030101010101" pitchFamily="2" charset="-122"/>
              </a:rPr>
              <a:t>⊕</a:t>
            </a:r>
            <a:r>
              <a:rPr lang="zh-CN" altLang="en-US" dirty="0"/>
              <a:t>为按位模</a:t>
            </a:r>
            <a:r>
              <a:rPr lang="en-US" altLang="zh-CN" dirty="0"/>
              <a:t>2</a:t>
            </a:r>
            <a:r>
              <a:rPr lang="zh-CN" altLang="en-US" dirty="0"/>
              <a:t>加法，按位模</a:t>
            </a:r>
            <a:r>
              <a:rPr lang="en-US" altLang="zh-CN" dirty="0"/>
              <a:t>2</a:t>
            </a:r>
            <a:r>
              <a:rPr lang="zh-CN" altLang="en-US" dirty="0"/>
              <a:t>加法与普通二进制加法类似，只是不产生进位。</a:t>
            </a:r>
          </a:p>
        </p:txBody>
      </p:sp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2783632" y="3717032"/>
          <a:ext cx="312420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公式" r:id="rId3" imgW="1358265" imgH="482600" progId="Equation.3">
                  <p:embed/>
                </p:oleObj>
              </mc:Choice>
              <mc:Fallback>
                <p:oleObj name="公式" r:id="rId3" imgW="1358265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3717032"/>
                        <a:ext cx="3124200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5" name="Object 7"/>
          <p:cNvGraphicFramePr>
            <a:graphicFrameLocks noChangeAspect="1"/>
          </p:cNvGraphicFramePr>
          <p:nvPr/>
        </p:nvGraphicFramePr>
        <p:xfrm>
          <a:off x="6816080" y="3751163"/>
          <a:ext cx="16764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5" imgW="736600" imgH="457200" progId="Equation.3">
                  <p:embed/>
                </p:oleObj>
              </mc:Choice>
              <mc:Fallback>
                <p:oleObj name="Equation" r:id="rId5" imgW="73660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3751163"/>
                        <a:ext cx="16764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桶式散列法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跟以前四种方法都有所不同</a:t>
            </a:r>
          </a:p>
          <a:p>
            <a:r>
              <a:rPr lang="zh-CN" altLang="en-US" dirty="0"/>
              <a:t>将散列表中所有</a:t>
            </a:r>
            <a:r>
              <a:rPr lang="en-US" altLang="zh-CN" dirty="0"/>
              <a:t>M</a:t>
            </a:r>
            <a:r>
              <a:rPr lang="zh-CN" altLang="en-US" dirty="0"/>
              <a:t>个单元分成</a:t>
            </a:r>
            <a:r>
              <a:rPr lang="en-US" altLang="zh-CN" dirty="0"/>
              <a:t>B</a:t>
            </a:r>
            <a:r>
              <a:rPr lang="zh-CN" altLang="en-US" dirty="0"/>
              <a:t>个桶，每个桶中有</a:t>
            </a:r>
            <a:r>
              <a:rPr lang="en-US" altLang="zh-CN" dirty="0"/>
              <a:t>s = M/B</a:t>
            </a:r>
            <a:r>
              <a:rPr lang="zh-CN" altLang="en-US" dirty="0"/>
              <a:t>个单元，另外再设一个具有无限容量的溢出桶，这个桶可以放在所有桶的最后，所有桶共享溢出桶</a:t>
            </a:r>
          </a:p>
          <a:p>
            <a:r>
              <a:rPr lang="en-US" altLang="zh-CN" dirty="0"/>
              <a:t>Hash</a:t>
            </a:r>
            <a:r>
              <a:rPr lang="zh-CN" altLang="en-US" dirty="0"/>
              <a:t>函数的结果是桶号，所有具有相同结果的记录都放在同一个桶中，如果桶已经放满了，则放入溢出桶中</a:t>
            </a:r>
          </a:p>
          <a:p>
            <a:r>
              <a:rPr lang="zh-CN" altLang="en-US" dirty="0"/>
              <a:t>适用于实现基于磁盘的散列表，一般将磁盘块大小作为桶的单位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闭散列方法的缺点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若想删除一个表项，只能给它做一个删除标记</a:t>
            </a:r>
            <a:r>
              <a:rPr lang="en-US" altLang="zh-CN" dirty="0"/>
              <a:t>deleted</a:t>
            </a:r>
            <a:r>
              <a:rPr lang="zh-CN" altLang="en-US" dirty="0"/>
              <a:t>进行逻辑删除，不能把它真正删去</a:t>
            </a:r>
            <a:endParaRPr lang="en-US" altLang="zh-CN" dirty="0"/>
          </a:p>
          <a:p>
            <a:pPr lvl="1"/>
            <a:r>
              <a:rPr lang="zh-CN" altLang="en-US" dirty="0"/>
              <a:t>逻辑删除的副作用：在执行多次删除后，表面上看起来散列表很满，实际上有许多位置没有利用</a:t>
            </a:r>
            <a:endParaRPr lang="en-US" altLang="zh-CN" dirty="0"/>
          </a:p>
          <a:p>
            <a:pPr lvl="1"/>
            <a:r>
              <a:rPr lang="zh-CN" altLang="en-US" dirty="0"/>
              <a:t>查找、删除策略变得比较麻烦</a:t>
            </a:r>
            <a:endParaRPr lang="en-US" altLang="zh-CN" dirty="0"/>
          </a:p>
          <a:p>
            <a:pPr lvl="1"/>
            <a:r>
              <a:rPr lang="zh-CN" altLang="en-US" dirty="0"/>
              <a:t>当散列表经常变动时，不建议使用闭散列方法</a:t>
            </a:r>
            <a:endParaRPr lang="en-US" altLang="zh-CN" dirty="0"/>
          </a:p>
          <a:p>
            <a:r>
              <a:rPr lang="zh-CN" altLang="en-US" dirty="0"/>
              <a:t>可能产生聚集，链比较长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拉链法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若选定的散列函数的值域为</a:t>
            </a:r>
            <a:r>
              <a:rPr lang="en-US" altLang="zh-CN" dirty="0"/>
              <a:t>0</a:t>
            </a:r>
            <a:r>
              <a:rPr lang="zh-CN" altLang="en-US" dirty="0"/>
              <a:t>到</a:t>
            </a:r>
            <a:r>
              <a:rPr lang="en-US" altLang="zh-CN" dirty="0"/>
              <a:t>m-1</a:t>
            </a:r>
            <a:r>
              <a:rPr lang="zh-CN" altLang="en-US" dirty="0"/>
              <a:t>，则可将散列表定义为一个由</a:t>
            </a:r>
            <a:r>
              <a:rPr lang="en-US" altLang="zh-CN" dirty="0"/>
              <a:t>m</a:t>
            </a:r>
            <a:r>
              <a:rPr lang="zh-CN" altLang="en-US" dirty="0"/>
              <a:t>个单链表的链表头指针组成的指针数组</a:t>
            </a:r>
            <a:r>
              <a:rPr lang="en-US" altLang="zh-CN" dirty="0"/>
              <a:t>HTP(m)</a:t>
            </a:r>
            <a:r>
              <a:rPr lang="zh-CN" altLang="en-US" dirty="0"/>
              <a:t>，凡是散列地址为</a:t>
            </a:r>
            <a:r>
              <a:rPr lang="en-US" altLang="zh-CN" dirty="0" err="1"/>
              <a:t>i</a:t>
            </a:r>
            <a:r>
              <a:rPr lang="zh-CN" altLang="en-US" dirty="0"/>
              <a:t>的结点，均插入到以</a:t>
            </a:r>
            <a:r>
              <a:rPr lang="en-US" altLang="zh-CN" dirty="0"/>
              <a:t>HTP(</a:t>
            </a:r>
            <a:r>
              <a:rPr lang="en-US" altLang="zh-CN" dirty="0" err="1"/>
              <a:t>i</a:t>
            </a:r>
            <a:r>
              <a:rPr lang="en-US" altLang="zh-CN" dirty="0"/>
              <a:t>)</a:t>
            </a:r>
            <a:r>
              <a:rPr lang="zh-CN" altLang="en-US" dirty="0"/>
              <a:t>为头指针的单链表中</a:t>
            </a:r>
            <a:endParaRPr lang="en-US" altLang="zh-CN" dirty="0"/>
          </a:p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不会堆积，所以平均查找时间较短</a:t>
            </a:r>
          </a:p>
          <a:p>
            <a:pPr lvl="1"/>
            <a:r>
              <a:rPr lang="zh-CN" altLang="en-US" dirty="0"/>
              <a:t>动态申请空间，适用于无法事先确定表长的情况</a:t>
            </a:r>
          </a:p>
          <a:p>
            <a:pPr lvl="1"/>
            <a:r>
              <a:rPr lang="zh-CN" altLang="en-US" dirty="0"/>
              <a:t>删除处理简单快速</a:t>
            </a:r>
          </a:p>
          <a:p>
            <a:pPr lvl="1"/>
            <a:r>
              <a:rPr lang="zh-CN" altLang="en-US" dirty="0"/>
              <a:t>链长易控制，一般较短</a:t>
            </a:r>
            <a:endParaRPr lang="en-US" altLang="zh-CN" dirty="0"/>
          </a:p>
          <a:p>
            <a:pPr lvl="1"/>
            <a:r>
              <a:rPr lang="zh-CN" altLang="en-US" dirty="0"/>
              <a:t>虽然指针要浪费空间，但闭散列方法浪费的结点空间更大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4994448" y="9144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4994448" y="13716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auto">
          <a:xfrm>
            <a:off x="4994448" y="18288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4994448" y="22860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auto">
          <a:xfrm>
            <a:off x="4994448" y="27432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7" name="Rectangle 9"/>
          <p:cNvSpPr>
            <a:spLocks noChangeArrowheads="1"/>
          </p:cNvSpPr>
          <p:nvPr/>
        </p:nvSpPr>
        <p:spPr bwMode="auto">
          <a:xfrm>
            <a:off x="4994448" y="32004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8" name="Rectangle 10"/>
          <p:cNvSpPr>
            <a:spLocks noChangeArrowheads="1"/>
          </p:cNvSpPr>
          <p:nvPr/>
        </p:nvSpPr>
        <p:spPr bwMode="auto">
          <a:xfrm>
            <a:off x="4994448" y="36576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19" name="Rectangle 11"/>
          <p:cNvSpPr>
            <a:spLocks noChangeArrowheads="1"/>
          </p:cNvSpPr>
          <p:nvPr/>
        </p:nvSpPr>
        <p:spPr bwMode="auto">
          <a:xfrm>
            <a:off x="4994448" y="41148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0" name="Rectangle 12"/>
          <p:cNvSpPr>
            <a:spLocks noChangeArrowheads="1"/>
          </p:cNvSpPr>
          <p:nvPr/>
        </p:nvSpPr>
        <p:spPr bwMode="auto">
          <a:xfrm>
            <a:off x="4994448" y="45720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1" name="Rectangle 13"/>
          <p:cNvSpPr>
            <a:spLocks noChangeArrowheads="1"/>
          </p:cNvSpPr>
          <p:nvPr/>
        </p:nvSpPr>
        <p:spPr bwMode="auto">
          <a:xfrm>
            <a:off x="4994448" y="50292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2" name="Rectangle 14"/>
          <p:cNvSpPr>
            <a:spLocks noChangeArrowheads="1"/>
          </p:cNvSpPr>
          <p:nvPr/>
        </p:nvSpPr>
        <p:spPr bwMode="auto">
          <a:xfrm>
            <a:off x="4994448" y="54864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3" name="Rectangle 15"/>
          <p:cNvSpPr>
            <a:spLocks noChangeArrowheads="1"/>
          </p:cNvSpPr>
          <p:nvPr/>
        </p:nvSpPr>
        <p:spPr bwMode="auto">
          <a:xfrm>
            <a:off x="4994448" y="59436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1024" name="Rectangle 16"/>
          <p:cNvSpPr>
            <a:spLocks noChangeArrowheads="1"/>
          </p:cNvSpPr>
          <p:nvPr/>
        </p:nvSpPr>
        <p:spPr bwMode="auto">
          <a:xfrm>
            <a:off x="4994448" y="457200"/>
            <a:ext cx="1143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71025" name="Group 17"/>
          <p:cNvGrpSpPr/>
          <p:nvPr/>
        </p:nvGrpSpPr>
        <p:grpSpPr bwMode="auto">
          <a:xfrm>
            <a:off x="7051848" y="533401"/>
            <a:ext cx="990600" cy="314325"/>
            <a:chOff x="2352" y="378"/>
            <a:chExt cx="624" cy="198"/>
          </a:xfrm>
        </p:grpSpPr>
        <p:sp>
          <p:nvSpPr>
            <p:cNvPr id="171026" name="Text Box 18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26</a:t>
              </a:r>
            </a:p>
          </p:txBody>
        </p:sp>
        <p:sp>
          <p:nvSpPr>
            <p:cNvPr id="171027" name="Rectangle 19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28" name="Group 20"/>
          <p:cNvGrpSpPr/>
          <p:nvPr/>
        </p:nvGrpSpPr>
        <p:grpSpPr bwMode="auto">
          <a:xfrm>
            <a:off x="7051848" y="1447801"/>
            <a:ext cx="990600" cy="314325"/>
            <a:chOff x="2352" y="378"/>
            <a:chExt cx="624" cy="198"/>
          </a:xfrm>
        </p:grpSpPr>
        <p:sp>
          <p:nvSpPr>
            <p:cNvPr id="171029" name="Text Box 21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41</a:t>
              </a:r>
            </a:p>
          </p:txBody>
        </p:sp>
        <p:sp>
          <p:nvSpPr>
            <p:cNvPr id="171030" name="Rectangle 22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31" name="Group 23"/>
          <p:cNvGrpSpPr/>
          <p:nvPr/>
        </p:nvGrpSpPr>
        <p:grpSpPr bwMode="auto">
          <a:xfrm>
            <a:off x="7051848" y="1905001"/>
            <a:ext cx="990600" cy="314325"/>
            <a:chOff x="2352" y="378"/>
            <a:chExt cx="624" cy="198"/>
          </a:xfrm>
        </p:grpSpPr>
        <p:sp>
          <p:nvSpPr>
            <p:cNvPr id="171032" name="Text Box 24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68</a:t>
              </a:r>
            </a:p>
          </p:txBody>
        </p:sp>
        <p:sp>
          <p:nvSpPr>
            <p:cNvPr id="171033" name="Rectangle 25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34" name="Group 26"/>
          <p:cNvGrpSpPr/>
          <p:nvPr/>
        </p:nvGrpSpPr>
        <p:grpSpPr bwMode="auto">
          <a:xfrm>
            <a:off x="8347248" y="1447801"/>
            <a:ext cx="990600" cy="314325"/>
            <a:chOff x="2352" y="378"/>
            <a:chExt cx="624" cy="198"/>
          </a:xfrm>
        </p:grpSpPr>
        <p:sp>
          <p:nvSpPr>
            <p:cNvPr id="171035" name="Text Box 27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15</a:t>
              </a:r>
            </a:p>
          </p:txBody>
        </p:sp>
        <p:sp>
          <p:nvSpPr>
            <p:cNvPr id="171036" name="Rectangle 28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37" name="Group 29"/>
          <p:cNvGrpSpPr/>
          <p:nvPr/>
        </p:nvGrpSpPr>
        <p:grpSpPr bwMode="auto">
          <a:xfrm>
            <a:off x="7051848" y="3276601"/>
            <a:ext cx="990600" cy="314325"/>
            <a:chOff x="2352" y="378"/>
            <a:chExt cx="624" cy="198"/>
          </a:xfrm>
        </p:grpSpPr>
        <p:sp>
          <p:nvSpPr>
            <p:cNvPr id="171038" name="Text Box 30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06</a:t>
              </a:r>
            </a:p>
          </p:txBody>
        </p:sp>
        <p:sp>
          <p:nvSpPr>
            <p:cNvPr id="171039" name="Rectangle 31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40" name="Group 32"/>
          <p:cNvGrpSpPr/>
          <p:nvPr/>
        </p:nvGrpSpPr>
        <p:grpSpPr bwMode="auto">
          <a:xfrm>
            <a:off x="7051848" y="2819401"/>
            <a:ext cx="990600" cy="314325"/>
            <a:chOff x="2352" y="378"/>
            <a:chExt cx="624" cy="198"/>
          </a:xfrm>
        </p:grpSpPr>
        <p:sp>
          <p:nvSpPr>
            <p:cNvPr id="171041" name="Text Box 33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44</a:t>
              </a:r>
            </a:p>
          </p:txBody>
        </p:sp>
        <p:sp>
          <p:nvSpPr>
            <p:cNvPr id="171042" name="Rectangle 34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43" name="Group 35"/>
          <p:cNvGrpSpPr/>
          <p:nvPr/>
        </p:nvGrpSpPr>
        <p:grpSpPr bwMode="auto">
          <a:xfrm>
            <a:off x="7051848" y="5105401"/>
            <a:ext cx="990600" cy="314325"/>
            <a:chOff x="2352" y="378"/>
            <a:chExt cx="624" cy="198"/>
          </a:xfrm>
        </p:grpSpPr>
        <p:sp>
          <p:nvSpPr>
            <p:cNvPr id="171044" name="Text Box 36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36</a:t>
              </a:r>
            </a:p>
          </p:txBody>
        </p:sp>
        <p:sp>
          <p:nvSpPr>
            <p:cNvPr id="171045" name="Rectangle 37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46" name="Group 38"/>
          <p:cNvGrpSpPr/>
          <p:nvPr/>
        </p:nvGrpSpPr>
        <p:grpSpPr bwMode="auto">
          <a:xfrm>
            <a:off x="7051848" y="6019801"/>
            <a:ext cx="990600" cy="314325"/>
            <a:chOff x="2352" y="378"/>
            <a:chExt cx="624" cy="198"/>
          </a:xfrm>
        </p:grpSpPr>
        <p:sp>
          <p:nvSpPr>
            <p:cNvPr id="171047" name="Text Box 39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38</a:t>
              </a:r>
            </a:p>
          </p:txBody>
        </p:sp>
        <p:sp>
          <p:nvSpPr>
            <p:cNvPr id="171048" name="Rectangle 40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49" name="Group 41"/>
          <p:cNvGrpSpPr/>
          <p:nvPr/>
        </p:nvGrpSpPr>
        <p:grpSpPr bwMode="auto">
          <a:xfrm>
            <a:off x="8347248" y="6019801"/>
            <a:ext cx="990600" cy="314325"/>
            <a:chOff x="2352" y="378"/>
            <a:chExt cx="624" cy="198"/>
          </a:xfrm>
        </p:grpSpPr>
        <p:sp>
          <p:nvSpPr>
            <p:cNvPr id="171050" name="Text Box 42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12</a:t>
              </a:r>
            </a:p>
          </p:txBody>
        </p:sp>
        <p:sp>
          <p:nvSpPr>
            <p:cNvPr id="171051" name="Rectangle 43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52" name="Group 44"/>
          <p:cNvGrpSpPr/>
          <p:nvPr/>
        </p:nvGrpSpPr>
        <p:grpSpPr bwMode="auto">
          <a:xfrm>
            <a:off x="9642648" y="6019801"/>
            <a:ext cx="990600" cy="314325"/>
            <a:chOff x="2352" y="378"/>
            <a:chExt cx="624" cy="198"/>
          </a:xfrm>
        </p:grpSpPr>
        <p:sp>
          <p:nvSpPr>
            <p:cNvPr id="171053" name="Text Box 45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51</a:t>
              </a:r>
            </a:p>
          </p:txBody>
        </p:sp>
        <p:sp>
          <p:nvSpPr>
            <p:cNvPr id="171054" name="Rectangle 46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1055" name="Group 47"/>
          <p:cNvGrpSpPr/>
          <p:nvPr/>
        </p:nvGrpSpPr>
        <p:grpSpPr bwMode="auto">
          <a:xfrm>
            <a:off x="10938048" y="6019801"/>
            <a:ext cx="990600" cy="314325"/>
            <a:chOff x="2352" y="378"/>
            <a:chExt cx="624" cy="198"/>
          </a:xfrm>
        </p:grpSpPr>
        <p:sp>
          <p:nvSpPr>
            <p:cNvPr id="171056" name="Text Box 48"/>
            <p:cNvSpPr txBox="1">
              <a:spLocks noChangeArrowheads="1"/>
            </p:cNvSpPr>
            <p:nvPr/>
          </p:nvSpPr>
          <p:spPr bwMode="auto">
            <a:xfrm>
              <a:off x="2352" y="378"/>
              <a:ext cx="336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400" b="1"/>
                <a:t>25</a:t>
              </a:r>
            </a:p>
          </p:txBody>
        </p:sp>
        <p:sp>
          <p:nvSpPr>
            <p:cNvPr id="171057" name="Rectangle 49"/>
            <p:cNvSpPr>
              <a:spLocks noChangeArrowheads="1"/>
            </p:cNvSpPr>
            <p:nvPr/>
          </p:nvSpPr>
          <p:spPr bwMode="auto">
            <a:xfrm>
              <a:off x="2688" y="378"/>
              <a:ext cx="288" cy="19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58" name="Line 50"/>
          <p:cNvSpPr>
            <a:spLocks noChangeShapeType="1"/>
          </p:cNvSpPr>
          <p:nvPr/>
        </p:nvSpPr>
        <p:spPr bwMode="auto">
          <a:xfrm>
            <a:off x="5908848" y="685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59" name="Line 51"/>
          <p:cNvSpPr>
            <a:spLocks noChangeShapeType="1"/>
          </p:cNvSpPr>
          <p:nvPr/>
        </p:nvSpPr>
        <p:spPr bwMode="auto">
          <a:xfrm>
            <a:off x="5908848" y="1600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0" name="Line 52"/>
          <p:cNvSpPr>
            <a:spLocks noChangeShapeType="1"/>
          </p:cNvSpPr>
          <p:nvPr/>
        </p:nvSpPr>
        <p:spPr bwMode="auto">
          <a:xfrm>
            <a:off x="5908848" y="2057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1" name="Line 53"/>
          <p:cNvSpPr>
            <a:spLocks noChangeShapeType="1"/>
          </p:cNvSpPr>
          <p:nvPr/>
        </p:nvSpPr>
        <p:spPr bwMode="auto">
          <a:xfrm>
            <a:off x="5908848" y="2971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2" name="Line 54"/>
          <p:cNvSpPr>
            <a:spLocks noChangeShapeType="1"/>
          </p:cNvSpPr>
          <p:nvPr/>
        </p:nvSpPr>
        <p:spPr bwMode="auto">
          <a:xfrm>
            <a:off x="5908848" y="3429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3" name="Line 55"/>
          <p:cNvSpPr>
            <a:spLocks noChangeShapeType="1"/>
          </p:cNvSpPr>
          <p:nvPr/>
        </p:nvSpPr>
        <p:spPr bwMode="auto">
          <a:xfrm>
            <a:off x="5908848" y="5257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4" name="Line 56"/>
          <p:cNvSpPr>
            <a:spLocks noChangeShapeType="1"/>
          </p:cNvSpPr>
          <p:nvPr/>
        </p:nvSpPr>
        <p:spPr bwMode="auto">
          <a:xfrm>
            <a:off x="5908848" y="61722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5" name="Line 57"/>
          <p:cNvSpPr>
            <a:spLocks noChangeShapeType="1"/>
          </p:cNvSpPr>
          <p:nvPr/>
        </p:nvSpPr>
        <p:spPr bwMode="auto">
          <a:xfrm>
            <a:off x="7813848" y="1600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6" name="Line 58"/>
          <p:cNvSpPr>
            <a:spLocks noChangeShapeType="1"/>
          </p:cNvSpPr>
          <p:nvPr/>
        </p:nvSpPr>
        <p:spPr bwMode="auto">
          <a:xfrm>
            <a:off x="7813848" y="617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7" name="Line 59"/>
          <p:cNvSpPr>
            <a:spLocks noChangeShapeType="1"/>
          </p:cNvSpPr>
          <p:nvPr/>
        </p:nvSpPr>
        <p:spPr bwMode="auto">
          <a:xfrm>
            <a:off x="9109248" y="617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8" name="Line 60"/>
          <p:cNvSpPr>
            <a:spLocks noChangeShapeType="1"/>
          </p:cNvSpPr>
          <p:nvPr/>
        </p:nvSpPr>
        <p:spPr bwMode="auto">
          <a:xfrm>
            <a:off x="10404648" y="6172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9" name="Text Box 61"/>
          <p:cNvSpPr txBox="1">
            <a:spLocks noChangeArrowheads="1"/>
          </p:cNvSpPr>
          <p:nvPr/>
        </p:nvSpPr>
        <p:spPr bwMode="auto">
          <a:xfrm>
            <a:off x="4232448" y="457200"/>
            <a:ext cx="685800" cy="585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0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1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2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3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4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5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6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7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8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9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10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11</a:t>
            </a:r>
          </a:p>
          <a:p>
            <a:pPr algn="r">
              <a:lnSpc>
                <a:spcPct val="115000"/>
              </a:lnSpc>
              <a:spcBef>
                <a:spcPct val="50000"/>
              </a:spcBef>
            </a:pPr>
            <a:r>
              <a:rPr kumimoji="1" lang="en-US" altLang="zh-CN" b="1"/>
              <a:t>12</a:t>
            </a:r>
          </a:p>
        </p:txBody>
      </p:sp>
      <p:sp>
        <p:nvSpPr>
          <p:cNvPr id="171070" name="Rectangle 62"/>
          <p:cNvSpPr>
            <a:spLocks noChangeArrowheads="1"/>
          </p:cNvSpPr>
          <p:nvPr/>
        </p:nvSpPr>
        <p:spPr bwMode="auto">
          <a:xfrm>
            <a:off x="1199456" y="1828800"/>
            <a:ext cx="246328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若一组关键字为（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26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36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41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38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44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68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12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06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51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25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）；散列函数为：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H(key) = key%13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；用拉链法处理冲突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0726" y="1905000"/>
            <a:ext cx="813694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4169" y="1905000"/>
            <a:ext cx="795006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8928" y="1905000"/>
            <a:ext cx="794054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9835" y="1905000"/>
            <a:ext cx="791872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99018" y="1905000"/>
            <a:ext cx="800036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32089" y="1905000"/>
            <a:ext cx="753422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4151" y="1905000"/>
            <a:ext cx="863009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71293" y="1905000"/>
            <a:ext cx="805581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拉链法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1648" y="1905000"/>
            <a:ext cx="803510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装载因子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又叫负载系数、装填因子，</a:t>
            </a:r>
            <a:r>
              <a:rPr lang="en-US" altLang="zh-CN" dirty="0"/>
              <a:t>load factor</a:t>
            </a:r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key</a:t>
            </a:r>
            <a:r>
              <a:rPr lang="zh-CN" altLang="en-US" dirty="0"/>
              <a:t>的数量为</a:t>
            </a:r>
            <a:r>
              <a:rPr lang="en-US" altLang="zh-CN" dirty="0"/>
              <a:t>N</a:t>
            </a:r>
            <a:r>
              <a:rPr lang="zh-CN" altLang="en-US" dirty="0"/>
              <a:t>，散列表的大小为</a:t>
            </a:r>
            <a:r>
              <a:rPr lang="en-US" altLang="zh-CN" dirty="0"/>
              <a:t>M</a:t>
            </a:r>
            <a:r>
              <a:rPr lang="zh-CN" altLang="en-US" dirty="0"/>
              <a:t>，则</a:t>
            </a:r>
            <a:r>
              <a:rPr lang="en-US" altLang="zh-CN" dirty="0"/>
              <a:t>N/M</a:t>
            </a:r>
            <a:r>
              <a:rPr lang="zh-CN" altLang="en-US" dirty="0"/>
              <a:t>称装载因子</a:t>
            </a:r>
            <a:endParaRPr lang="en-US" altLang="zh-CN" dirty="0"/>
          </a:p>
          <a:p>
            <a:pPr lvl="1"/>
            <a:r>
              <a:rPr lang="zh-CN" altLang="en-US" dirty="0"/>
              <a:t>它表现了平均情况下每个链的长度</a:t>
            </a:r>
            <a:endParaRPr lang="en-US" altLang="zh-CN" dirty="0"/>
          </a:p>
          <a:p>
            <a:pPr lvl="1"/>
            <a:r>
              <a:rPr lang="zh-CN" altLang="en-US" dirty="0"/>
              <a:t>也表明了表中的装满程度，越大说明表越满；再插入新元素时冲突可能性增加</a:t>
            </a:r>
          </a:p>
          <a:p>
            <a:pPr lvl="1"/>
            <a:r>
              <a:rPr lang="zh-CN" altLang="en-US" dirty="0"/>
              <a:t>我们一般预先规定好这个值，然后当不够的时候再增加</a:t>
            </a:r>
            <a:r>
              <a:rPr lang="en-US" altLang="zh-CN" dirty="0"/>
              <a:t>hash</a:t>
            </a:r>
            <a:r>
              <a:rPr lang="zh-CN" altLang="en-US" dirty="0"/>
              <a:t>表的长度</a:t>
            </a:r>
            <a:r>
              <a:rPr lang="en-US" altLang="zh-CN" dirty="0"/>
              <a:t>(re-hash)</a:t>
            </a:r>
            <a:r>
              <a:rPr lang="zh-CN" altLang="en-US" dirty="0"/>
              <a:t>，这样可以保证链的平均长度不超过装载因子</a:t>
            </a:r>
            <a:endParaRPr lang="en-US" altLang="zh-CN" dirty="0"/>
          </a:p>
          <a:p>
            <a:pPr lvl="2"/>
            <a:r>
              <a:rPr lang="zh-CN" altLang="en-US" dirty="0"/>
              <a:t>增加时一般作两倍的增加，类似</a:t>
            </a:r>
            <a:r>
              <a:rPr lang="en-US" altLang="zh-CN" dirty="0"/>
              <a:t>Java</a:t>
            </a:r>
            <a:r>
              <a:rPr lang="zh-CN" altLang="en-US" dirty="0"/>
              <a:t>类库中</a:t>
            </a:r>
            <a:r>
              <a:rPr lang="en-US" altLang="zh-CN" dirty="0" err="1"/>
              <a:t>ArrayList</a:t>
            </a:r>
            <a:r>
              <a:rPr lang="zh-CN" altLang="en-US" dirty="0"/>
              <a:t>的处理</a:t>
            </a:r>
            <a:endParaRPr lang="en-US" altLang="zh-CN" dirty="0"/>
          </a:p>
          <a:p>
            <a:pPr lvl="1"/>
            <a:r>
              <a:rPr lang="zh-CN" altLang="en-US" dirty="0"/>
              <a:t>一般做题时要求小于等于</a:t>
            </a:r>
            <a:r>
              <a:rPr lang="en-US" altLang="zh-CN" dirty="0"/>
              <a:t>0.75</a:t>
            </a:r>
            <a:r>
              <a:rPr lang="zh-CN" altLang="en-US" dirty="0"/>
              <a:t>（默认值）；二次探查法时应小于等于</a:t>
            </a:r>
            <a:r>
              <a:rPr lang="en-US" altLang="zh-CN" dirty="0"/>
              <a:t>0.5</a:t>
            </a:r>
            <a:r>
              <a:rPr lang="zh-CN" altLang="en-US" dirty="0"/>
              <a:t>；现代语言类库中往往小于等于</a:t>
            </a:r>
            <a:r>
              <a:rPr lang="en-US" altLang="zh-CN" dirty="0"/>
              <a:t>0.5</a:t>
            </a:r>
            <a:r>
              <a:rPr lang="zh-CN" altLang="en-US" dirty="0"/>
              <a:t>或</a:t>
            </a:r>
            <a:r>
              <a:rPr lang="en-US" altLang="zh-CN" dirty="0"/>
              <a:t>0.6</a:t>
            </a:r>
            <a:endParaRPr lang="zh-CN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散列表的分析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散列表冲突的多少和装载因子，是影响散列表性能的主要因素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散列表冲突的多少，与两个主要因素有关</a:t>
            </a:r>
            <a:endParaRPr lang="en-US" altLang="zh-CN" dirty="0"/>
          </a:p>
          <a:p>
            <a:pPr lvl="1"/>
            <a:r>
              <a:rPr lang="zh-CN" altLang="en-US" dirty="0"/>
              <a:t>散列函数：地址分布是否均匀</a:t>
            </a:r>
            <a:endParaRPr lang="en-US" altLang="zh-CN" dirty="0"/>
          </a:p>
          <a:p>
            <a:pPr lvl="1"/>
            <a:r>
              <a:rPr lang="zh-CN" altLang="en-US" dirty="0"/>
              <a:t>冲突处理方法：是否产生堆积</a:t>
            </a:r>
            <a:endParaRPr lang="en-US" altLang="zh-CN" dirty="0"/>
          </a:p>
          <a:p>
            <a:pPr lvl="1"/>
            <a:r>
              <a:rPr lang="zh-CN" altLang="en-US" dirty="0"/>
              <a:t>此外还应考虑可能增加冲突的因素；如关键字是否具有相同的前缀或后缀？是否有相同字符的不同排列？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散列表的分析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不同散列表方法的实际性能可以用实验来检测</a:t>
            </a:r>
            <a:endParaRPr lang="en-US" altLang="zh-CN" dirty="0"/>
          </a:p>
          <a:p>
            <a:pPr lvl="1"/>
            <a:r>
              <a:rPr lang="zh-CN" altLang="en-US" dirty="0"/>
              <a:t>一般来说，开散列法优于闭散列法</a:t>
            </a:r>
            <a:endParaRPr lang="en-US" altLang="zh-CN" dirty="0"/>
          </a:p>
          <a:p>
            <a:pPr lvl="1"/>
            <a:r>
              <a:rPr lang="zh-CN" altLang="en-US" dirty="0"/>
              <a:t>闭散列法中，除留余数法优于其它类型的散列函数，最差的是折叠法</a:t>
            </a:r>
            <a:endParaRPr lang="en-US" altLang="zh-CN" dirty="0"/>
          </a:p>
          <a:p>
            <a:pPr lvl="1"/>
            <a:r>
              <a:rPr lang="zh-CN" altLang="en-US" dirty="0"/>
              <a:t>当装填因子较高时，散列函数不同，散列表的搜索性能差别很大</a:t>
            </a:r>
            <a:endParaRPr lang="en-US" altLang="zh-CN" dirty="0"/>
          </a:p>
          <a:p>
            <a:pPr lvl="1"/>
            <a:r>
              <a:rPr lang="zh-CN" altLang="en-US" dirty="0"/>
              <a:t>散列法有较好的平均性能，优于</a:t>
            </a:r>
            <a:r>
              <a:rPr lang="en-US" altLang="zh-CN" dirty="0"/>
              <a:t>AVL</a:t>
            </a:r>
            <a:r>
              <a:rPr lang="zh-CN" altLang="en-US" dirty="0"/>
              <a:t>树等传统方法；但最坏情况下性能很差，可能退化至</a:t>
            </a:r>
            <a:r>
              <a:rPr lang="en-US" altLang="zh-CN" dirty="0"/>
              <a:t>O(n)</a:t>
            </a:r>
            <a:endParaRPr lang="zh-CN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散列表的分析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3247" y="1700808"/>
            <a:ext cx="8571906" cy="452318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散列表的分析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散列表的性能与装载因子也有关系；在长度</a:t>
            </a:r>
            <a:r>
              <a:rPr lang="en-US" altLang="zh-CN" dirty="0"/>
              <a:t>m</a:t>
            </a:r>
            <a:r>
              <a:rPr lang="zh-CN" altLang="en-US" dirty="0"/>
              <a:t>的散列表中</a:t>
            </a:r>
            <a:r>
              <a:rPr lang="en-US" altLang="zh-CN" dirty="0"/>
              <a:t>n</a:t>
            </a:r>
            <a:r>
              <a:rPr lang="zh-CN" altLang="en-US" dirty="0"/>
              <a:t>个桶已装入元素的情况下</a:t>
            </a:r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S</a:t>
            </a:r>
            <a:r>
              <a:rPr lang="en-US" altLang="zh-CN" baseline="-25000" dirty="0"/>
              <a:t>n</a:t>
            </a:r>
            <a:r>
              <a:rPr lang="zh-CN" altLang="en-US" dirty="0"/>
              <a:t>是搜索一个随机选择的关键码 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(1 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n) </a:t>
            </a:r>
            <a:r>
              <a:rPr lang="zh-CN" altLang="en-US" dirty="0"/>
              <a:t>所需的关键码比较次数的期望值；称为在装载因子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 </a:t>
            </a:r>
            <a:r>
              <a:rPr lang="en-US" altLang="zh-CN" dirty="0"/>
              <a:t>= n / m </a:t>
            </a:r>
            <a:r>
              <a:rPr lang="zh-CN" altLang="en-US" dirty="0"/>
              <a:t>时的搜索成功的平均搜索长度</a:t>
            </a:r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U</a:t>
            </a:r>
            <a:r>
              <a:rPr lang="en-US" altLang="zh-CN" baseline="-25000" dirty="0"/>
              <a:t>n</a:t>
            </a:r>
            <a:r>
              <a:rPr lang="zh-CN" altLang="en-US" dirty="0"/>
              <a:t>是装入第 </a:t>
            </a:r>
            <a:r>
              <a:rPr lang="en-US" altLang="zh-CN" dirty="0"/>
              <a:t>n+1 </a:t>
            </a:r>
            <a:r>
              <a:rPr lang="zh-CN" altLang="en-US" dirty="0"/>
              <a:t>项所需执行的关键码比较次数期望值；称为在</a:t>
            </a: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zh-CN" altLang="en-US" dirty="0"/>
              <a:t> </a:t>
            </a:r>
            <a:r>
              <a:rPr lang="en-US" altLang="zh-CN" dirty="0"/>
              <a:t>= n / m</a:t>
            </a:r>
            <a:r>
              <a:rPr lang="zh-CN" altLang="en-US" dirty="0"/>
              <a:t>时的搜索不成功的平均搜索长度</a:t>
            </a:r>
            <a:endParaRPr lang="en-US" altLang="zh-CN" dirty="0"/>
          </a:p>
          <a:p>
            <a:pPr lvl="1"/>
            <a:r>
              <a:rPr lang="zh-CN" altLang="en-US" dirty="0"/>
              <a:t>散列表的平均搜索长度依赖于装载因子，不直接依赖于</a:t>
            </a:r>
            <a:r>
              <a:rPr lang="en-US" altLang="zh-CN" dirty="0"/>
              <a:t>n</a:t>
            </a:r>
            <a:r>
              <a:rPr lang="zh-CN" altLang="en-US" dirty="0"/>
              <a:t>或</a:t>
            </a:r>
            <a:r>
              <a:rPr lang="en-US" altLang="zh-CN" dirty="0"/>
              <a:t>m</a:t>
            </a:r>
          </a:p>
          <a:p>
            <a:pPr lvl="1"/>
            <a:r>
              <a:rPr lang="zh-CN" altLang="en-US" dirty="0"/>
              <a:t>不论表的长度有多大，我们总能选择一个合适的装载因子，以把平均搜索长度限制在一定范围内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66"/>
                </a:solidFill>
              </a:rPr>
              <a:t>散列表的分析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06360" y="1700808"/>
            <a:ext cx="8185680" cy="452318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已知关键字集合为</a:t>
            </a:r>
            <a:r>
              <a:rPr lang="en-US" altLang="zh-CN" dirty="0"/>
              <a:t>(18,25,63,50,42,32,9)</a:t>
            </a:r>
            <a:r>
              <a:rPr lang="zh-CN" altLang="en-US" dirty="0"/>
              <a:t>，哈希函数为</a:t>
            </a:r>
            <a:r>
              <a:rPr lang="en-US" altLang="zh-CN" dirty="0"/>
              <a:t>H(key)=key MOD 9</a:t>
            </a:r>
            <a:r>
              <a:rPr lang="zh-CN" altLang="en-US" dirty="0"/>
              <a:t>，哈希表长度为</a:t>
            </a:r>
            <a:r>
              <a:rPr lang="en-US" altLang="zh-CN" dirty="0"/>
              <a:t>9</a:t>
            </a:r>
            <a:r>
              <a:rPr lang="zh-CN" altLang="en-US" dirty="0"/>
              <a:t>，采用线性探测法解决冲突和聚集问题</a:t>
            </a:r>
            <a:endParaRPr lang="en-US" altLang="zh-CN" dirty="0"/>
          </a:p>
          <a:p>
            <a:pPr lvl="1"/>
            <a:r>
              <a:rPr lang="zh-CN" altLang="en-US" dirty="0"/>
              <a:t>请画出完成后的哈希表</a:t>
            </a:r>
            <a:endParaRPr lang="en-US" altLang="zh-CN" dirty="0"/>
          </a:p>
          <a:p>
            <a:pPr lvl="1"/>
            <a:r>
              <a:rPr lang="zh-CN" altLang="en-US" dirty="0"/>
              <a:t>请问在哈希过程中，发生了几次冲突？</a:t>
            </a:r>
            <a:endParaRPr lang="en-US" altLang="zh-CN" dirty="0"/>
          </a:p>
          <a:p>
            <a:pPr lvl="1"/>
            <a:r>
              <a:rPr lang="zh-CN" altLang="en-US" dirty="0"/>
              <a:t>请问该哈希表的负载因子是多少？</a:t>
            </a:r>
            <a:endParaRPr lang="en-US" altLang="zh-CN" dirty="0"/>
          </a:p>
          <a:p>
            <a:pPr lvl="1"/>
            <a:r>
              <a:rPr lang="zh-CN" altLang="en-US" dirty="0"/>
              <a:t>如改用拉链法解决冲突问题，请画出完成后的哈希表</a:t>
            </a:r>
            <a:endParaRPr lang="en-US" altLang="zh-CN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已知关键字集合为（</a:t>
            </a:r>
            <a:r>
              <a:rPr lang="en-US" altLang="zh-CN" dirty="0"/>
              <a:t>26</a:t>
            </a:r>
            <a:r>
              <a:rPr lang="zh-CN" altLang="en-US" dirty="0"/>
              <a:t>，</a:t>
            </a:r>
            <a:r>
              <a:rPr lang="en-US" altLang="zh-CN" dirty="0"/>
              <a:t>36</a:t>
            </a:r>
            <a:r>
              <a:rPr lang="zh-CN" altLang="en-US" dirty="0"/>
              <a:t>，</a:t>
            </a:r>
            <a:r>
              <a:rPr lang="en-US" altLang="zh-CN" dirty="0"/>
              <a:t>41</a:t>
            </a:r>
            <a:r>
              <a:rPr lang="zh-CN" altLang="en-US" dirty="0"/>
              <a:t>，</a:t>
            </a:r>
            <a:r>
              <a:rPr lang="en-US" altLang="zh-CN" dirty="0"/>
              <a:t>38</a:t>
            </a:r>
            <a:r>
              <a:rPr lang="zh-CN" altLang="en-US" dirty="0"/>
              <a:t>，</a:t>
            </a:r>
            <a:r>
              <a:rPr lang="en-US" altLang="zh-CN" dirty="0"/>
              <a:t>44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，</a:t>
            </a:r>
            <a:r>
              <a:rPr lang="en-US" altLang="zh-CN" dirty="0"/>
              <a:t>68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，</a:t>
            </a:r>
            <a:r>
              <a:rPr lang="en-US" altLang="zh-CN" dirty="0"/>
              <a:t>06</a:t>
            </a:r>
            <a:r>
              <a:rPr lang="zh-CN" altLang="en-US" dirty="0"/>
              <a:t>，</a:t>
            </a:r>
            <a:r>
              <a:rPr lang="en-US" altLang="zh-CN" dirty="0"/>
              <a:t>51</a:t>
            </a:r>
            <a:r>
              <a:rPr lang="zh-CN" altLang="en-US" dirty="0"/>
              <a:t>，</a:t>
            </a:r>
            <a:r>
              <a:rPr lang="en-US" altLang="zh-CN" dirty="0"/>
              <a:t>25</a:t>
            </a:r>
            <a:r>
              <a:rPr lang="zh-CN" altLang="en-US" dirty="0"/>
              <a:t>），假设采用除留余数法构造哈希函数，采用线性探测法解决冲突和聚集问题</a:t>
            </a:r>
            <a:endParaRPr lang="en-US" altLang="zh-CN" dirty="0"/>
          </a:p>
          <a:p>
            <a:pPr lvl="1"/>
            <a:r>
              <a:rPr lang="zh-CN" altLang="en-US" dirty="0"/>
              <a:t>请画出完成后的哈希表</a:t>
            </a:r>
            <a:endParaRPr lang="en-US" altLang="zh-CN" dirty="0"/>
          </a:p>
          <a:p>
            <a:pPr lvl="1"/>
            <a:r>
              <a:rPr lang="zh-CN" altLang="en-US" dirty="0"/>
              <a:t>请问在哈希过程中，发生了几次冲突？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习题答案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en-US" altLang="zh-CN" dirty="0"/>
          </a:p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为了减少冲突，通常令装填因子</a:t>
            </a:r>
            <a:r>
              <a:rPr lang="en-US" altLang="zh-CN" dirty="0"/>
              <a:t>α&lt;1</a:t>
            </a:r>
            <a:r>
              <a:rPr lang="zh-CN" altLang="en-US" dirty="0"/>
              <a:t>，在此我们取</a:t>
            </a:r>
            <a:r>
              <a:rPr lang="en-US" altLang="zh-CN" dirty="0"/>
              <a:t>α=0.75</a:t>
            </a:r>
            <a:r>
              <a:rPr lang="zh-CN" altLang="en-US" dirty="0"/>
              <a:t>。因为</a:t>
            </a:r>
            <a:r>
              <a:rPr lang="en-US" altLang="zh-CN" dirty="0"/>
              <a:t>n=11</a:t>
            </a:r>
            <a:r>
              <a:rPr lang="zh-CN" altLang="en-US" dirty="0"/>
              <a:t>，所以散列表长度</a:t>
            </a:r>
            <a:r>
              <a:rPr lang="en-US" altLang="zh-CN" dirty="0"/>
              <a:t>m=high(n/α) = 15</a:t>
            </a:r>
            <a:r>
              <a:rPr lang="zh-CN" altLang="en-US" dirty="0"/>
              <a:t>；</a:t>
            </a:r>
          </a:p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对于除余法，选</a:t>
            </a:r>
            <a:r>
              <a:rPr lang="en-US" altLang="zh-CN" dirty="0"/>
              <a:t>P=13</a:t>
            </a:r>
            <a:r>
              <a:rPr lang="zh-CN" altLang="en-US" dirty="0"/>
              <a:t>（小于</a:t>
            </a:r>
            <a:r>
              <a:rPr lang="en-US" altLang="zh-CN" dirty="0"/>
              <a:t>15</a:t>
            </a:r>
            <a:r>
              <a:rPr lang="zh-CN" altLang="en-US" dirty="0"/>
              <a:t>的最大素数），即散列函数为：</a:t>
            </a:r>
            <a:r>
              <a:rPr lang="en-US" altLang="zh-CN" dirty="0"/>
              <a:t>H(key) = key%13</a:t>
            </a:r>
            <a:r>
              <a:rPr lang="zh-CN" altLang="en-US" dirty="0"/>
              <a:t>。</a:t>
            </a:r>
          </a:p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按顺序插入各个结点：</a:t>
            </a:r>
            <a:r>
              <a:rPr lang="en-US" altLang="zh-CN" dirty="0"/>
              <a:t>26:  H(26) = 26/13 = 0  36:  ...=10</a:t>
            </a:r>
            <a:r>
              <a:rPr lang="zh-CN" altLang="en-US" dirty="0"/>
              <a:t>，</a:t>
            </a:r>
            <a:r>
              <a:rPr lang="en-US" altLang="zh-CN" dirty="0"/>
              <a:t>41:  ...=2</a:t>
            </a:r>
            <a:r>
              <a:rPr lang="zh-CN" altLang="en-US" dirty="0"/>
              <a:t>，</a:t>
            </a:r>
            <a:r>
              <a:rPr lang="en-US" altLang="zh-CN" dirty="0"/>
              <a:t>38:  ...=12</a:t>
            </a:r>
            <a:r>
              <a:rPr lang="zh-CN" altLang="en-US" dirty="0"/>
              <a:t>，</a:t>
            </a:r>
            <a:r>
              <a:rPr lang="en-US" altLang="zh-CN" dirty="0"/>
              <a:t>44:  ... =5</a:t>
            </a:r>
          </a:p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插入</a:t>
            </a:r>
            <a:r>
              <a:rPr lang="en-US" altLang="zh-CN" dirty="0"/>
              <a:t>15</a:t>
            </a:r>
            <a:r>
              <a:rPr lang="zh-CN" altLang="en-US" dirty="0"/>
              <a:t>时，其散列地址为</a:t>
            </a:r>
            <a:r>
              <a:rPr lang="en-US" altLang="zh-CN" dirty="0"/>
              <a:t>2</a:t>
            </a:r>
            <a:r>
              <a:rPr lang="zh-CN" altLang="en-US" dirty="0"/>
              <a:t>，由于</a:t>
            </a:r>
            <a:r>
              <a:rPr lang="en-US" altLang="zh-CN" dirty="0"/>
              <a:t>2</a:t>
            </a:r>
            <a:r>
              <a:rPr lang="zh-CN" altLang="en-US" dirty="0"/>
              <a:t>已被关键字为</a:t>
            </a:r>
            <a:r>
              <a:rPr lang="en-US" altLang="zh-CN" dirty="0"/>
              <a:t>41</a:t>
            </a:r>
            <a:r>
              <a:rPr lang="zh-CN" altLang="en-US" dirty="0"/>
              <a:t>的元素占用，故需进行探查。按顺序探查法，显然</a:t>
            </a:r>
            <a:r>
              <a:rPr lang="en-US" altLang="zh-CN" dirty="0"/>
              <a:t>3</a:t>
            </a:r>
            <a:r>
              <a:rPr lang="zh-CN" altLang="en-US" dirty="0"/>
              <a:t>为开放地址，故可将其放在</a:t>
            </a:r>
            <a:r>
              <a:rPr lang="en-US" altLang="zh-CN" dirty="0"/>
              <a:t>3</a:t>
            </a:r>
            <a:r>
              <a:rPr lang="zh-CN" altLang="en-US" dirty="0"/>
              <a:t>单元。类似的，</a:t>
            </a:r>
            <a:r>
              <a:rPr lang="en-US" altLang="zh-CN" dirty="0"/>
              <a:t>68</a:t>
            </a:r>
            <a:r>
              <a:rPr lang="zh-CN" altLang="en-US" dirty="0"/>
              <a:t>和</a:t>
            </a:r>
            <a:r>
              <a:rPr lang="en-US" altLang="zh-CN" dirty="0"/>
              <a:t>12</a:t>
            </a:r>
            <a:r>
              <a:rPr lang="zh-CN" altLang="en-US" dirty="0"/>
              <a:t>可分别放在</a:t>
            </a:r>
            <a:r>
              <a:rPr lang="en-US" altLang="zh-CN" dirty="0"/>
              <a:t>4</a:t>
            </a:r>
            <a:r>
              <a:rPr lang="zh-CN" altLang="en-US" dirty="0"/>
              <a:t>和</a:t>
            </a:r>
            <a:r>
              <a:rPr lang="en-US" altLang="zh-CN" dirty="0"/>
              <a:t>13</a:t>
            </a:r>
            <a:r>
              <a:rPr lang="zh-CN" altLang="en-US" dirty="0"/>
              <a:t>单元中</a:t>
            </a:r>
            <a:endParaRPr lang="en-US" altLang="zh-CN" dirty="0"/>
          </a:p>
          <a:p>
            <a:pPr marL="840105" lvl="1" indent="-4953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zh-CN" altLang="en-US" dirty="0"/>
              <a:t>本题中可以看到明显的聚集现象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6B329C9-6838-4E9F-8443-53E836218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784" y="294801"/>
            <a:ext cx="7481416" cy="212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400" kern="0"/>
              <a:t>已知关键字集合为（</a:t>
            </a:r>
            <a:r>
              <a:rPr lang="en-US" altLang="zh-CN" sz="2400" kern="0"/>
              <a:t>26</a:t>
            </a:r>
            <a:r>
              <a:rPr lang="zh-CN" altLang="en-US" sz="2400" kern="0"/>
              <a:t>，</a:t>
            </a:r>
            <a:r>
              <a:rPr lang="en-US" altLang="zh-CN" sz="2400" kern="0"/>
              <a:t>36</a:t>
            </a:r>
            <a:r>
              <a:rPr lang="zh-CN" altLang="en-US" sz="2400" kern="0"/>
              <a:t>，</a:t>
            </a:r>
            <a:r>
              <a:rPr lang="en-US" altLang="zh-CN" sz="2400" kern="0"/>
              <a:t>41</a:t>
            </a:r>
            <a:r>
              <a:rPr lang="zh-CN" altLang="en-US" sz="2400" kern="0"/>
              <a:t>，</a:t>
            </a:r>
            <a:r>
              <a:rPr lang="en-US" altLang="zh-CN" sz="2400" kern="0"/>
              <a:t>38</a:t>
            </a:r>
            <a:r>
              <a:rPr lang="zh-CN" altLang="en-US" sz="2400" kern="0"/>
              <a:t>，</a:t>
            </a:r>
            <a:r>
              <a:rPr lang="en-US" altLang="zh-CN" sz="2400" kern="0"/>
              <a:t>44</a:t>
            </a:r>
            <a:r>
              <a:rPr lang="zh-CN" altLang="en-US" sz="2400" kern="0"/>
              <a:t>，</a:t>
            </a:r>
            <a:r>
              <a:rPr lang="en-US" altLang="zh-CN" sz="2400" kern="0"/>
              <a:t>15</a:t>
            </a:r>
            <a:r>
              <a:rPr lang="zh-CN" altLang="en-US" sz="2400" kern="0"/>
              <a:t>，</a:t>
            </a:r>
            <a:r>
              <a:rPr lang="en-US" altLang="zh-CN" sz="2400" kern="0"/>
              <a:t>68</a:t>
            </a:r>
            <a:r>
              <a:rPr lang="zh-CN" altLang="en-US" sz="2400" kern="0"/>
              <a:t>，</a:t>
            </a:r>
            <a:r>
              <a:rPr lang="en-US" altLang="zh-CN" sz="2400" kern="0"/>
              <a:t>12</a:t>
            </a:r>
            <a:r>
              <a:rPr lang="zh-CN" altLang="en-US" sz="2400" kern="0"/>
              <a:t>，</a:t>
            </a:r>
            <a:r>
              <a:rPr lang="en-US" altLang="zh-CN" sz="2400" kern="0"/>
              <a:t>06</a:t>
            </a:r>
            <a:r>
              <a:rPr lang="zh-CN" altLang="en-US" sz="2400" kern="0"/>
              <a:t>，</a:t>
            </a:r>
            <a:r>
              <a:rPr lang="en-US" altLang="zh-CN" sz="2400" kern="0"/>
              <a:t>51</a:t>
            </a:r>
            <a:r>
              <a:rPr lang="zh-CN" altLang="en-US" sz="2400" kern="0"/>
              <a:t>，</a:t>
            </a:r>
            <a:r>
              <a:rPr lang="en-US" altLang="zh-CN" sz="2400" kern="0"/>
              <a:t>25</a:t>
            </a:r>
            <a:r>
              <a:rPr lang="zh-CN" altLang="en-US" sz="2400" kern="0"/>
              <a:t>），假设采用除留余数法构造哈希函数，采用线性探测法解决冲突和聚集问题</a:t>
            </a:r>
            <a:endParaRPr lang="en-US" altLang="zh-CN" sz="2400" kern="0"/>
          </a:p>
          <a:p>
            <a:pPr lvl="1"/>
            <a:r>
              <a:rPr lang="zh-CN" altLang="en-US" sz="2000" kern="0"/>
              <a:t>请画出完成后的哈希表</a:t>
            </a:r>
            <a:endParaRPr lang="en-US" altLang="zh-CN" sz="2000" kern="0"/>
          </a:p>
          <a:p>
            <a:pPr lvl="1"/>
            <a:r>
              <a:rPr lang="zh-CN" altLang="en-US" sz="2000" kern="0"/>
              <a:t>请问在哈希过程中，发生了几次冲突？</a:t>
            </a:r>
            <a:endParaRPr lang="en-US" altLang="zh-CN" sz="2000" kern="0"/>
          </a:p>
          <a:p>
            <a:endParaRPr lang="zh-CN" altLang="en-US" sz="2400" kern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zh-CN" altLang="en-US" dirty="0"/>
              <a:t>在地址空间为</a:t>
            </a:r>
            <a:r>
              <a:rPr lang="en-US" altLang="zh-CN" dirty="0"/>
              <a:t>0-16</a:t>
            </a:r>
            <a:r>
              <a:rPr lang="zh-CN" altLang="en-US" dirty="0"/>
              <a:t>的散列区中，对以下关键字构造两个</a:t>
            </a:r>
            <a:r>
              <a:rPr lang="en-US" altLang="zh-CN" dirty="0"/>
              <a:t>hash</a:t>
            </a:r>
            <a:r>
              <a:rPr lang="zh-CN" altLang="en-US" dirty="0"/>
              <a:t>表：</a:t>
            </a:r>
            <a:r>
              <a:rPr lang="en-US" altLang="zh-CN" dirty="0"/>
              <a:t>(Jan, Feb, Mar, Apr, May, June, July, Aug, Sep, Oct, Nov, Dec)</a:t>
            </a:r>
          </a:p>
          <a:p>
            <a:pPr marL="971550" lvl="1" indent="-571500"/>
            <a:r>
              <a:rPr lang="zh-CN" altLang="en-US" dirty="0"/>
              <a:t>使用开散列方法（此时请注明装载因子为多少）</a:t>
            </a:r>
            <a:endParaRPr lang="en-US" altLang="zh-CN" dirty="0"/>
          </a:p>
          <a:p>
            <a:pPr marL="971550" lvl="1" indent="-571500"/>
            <a:r>
              <a:rPr lang="zh-CN" altLang="en-US" dirty="0"/>
              <a:t>使用闭散列方法（此时使用线性探测法）</a:t>
            </a:r>
            <a:endParaRPr lang="en-US" altLang="zh-CN" dirty="0"/>
          </a:p>
          <a:p>
            <a:pPr marL="971550" lvl="1" indent="-571500"/>
            <a:r>
              <a:rPr lang="zh-CN" altLang="en-US" dirty="0"/>
              <a:t>此处设</a:t>
            </a:r>
            <a:r>
              <a:rPr lang="en-US" altLang="zh-CN" dirty="0"/>
              <a:t>hash</a:t>
            </a:r>
            <a:r>
              <a:rPr lang="zh-CN" altLang="en-US" dirty="0"/>
              <a:t>函数为</a:t>
            </a:r>
            <a:r>
              <a:rPr lang="en-US" altLang="zh-CN" dirty="0"/>
              <a:t>H(x)=[</a:t>
            </a:r>
            <a:r>
              <a:rPr lang="en-US" altLang="zh-CN" dirty="0" err="1"/>
              <a:t>i</a:t>
            </a:r>
            <a:r>
              <a:rPr lang="en-US" altLang="zh-CN" dirty="0"/>
              <a:t>/2]</a:t>
            </a:r>
            <a:r>
              <a:rPr lang="zh-CN" altLang="en-US" dirty="0"/>
              <a:t>，其中</a:t>
            </a:r>
            <a:r>
              <a:rPr lang="en-US" altLang="zh-CN" dirty="0" err="1"/>
              <a:t>i</a:t>
            </a:r>
            <a:r>
              <a:rPr lang="zh-CN" altLang="en-US" dirty="0"/>
              <a:t>为关键字中第一个字母在字母表中的序号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习题答案</a:t>
            </a: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 A; 1 BC; 2 DE; 3 FG;4 HI;5 JK; 6 LM; 7 NO; 8 PQ; 9 RS; 10 TU; 11 VW; 12 XY; 13 Z</a:t>
            </a:r>
          </a:p>
          <a:p>
            <a:r>
              <a:rPr lang="en-US" altLang="zh-CN"/>
              <a:t>Jan, Feb, Mar, Apr, May, June, July, Aug, Sep, Oct, Nov, Dec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习题答案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0-&gt;Apr-&gt;Aug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2-&gt;Dec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3-&gt;Feb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5-&gt;Jan-&gt;Jun-&gt;Jul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6-&gt;Mar-&gt;May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7-&gt;Oct-&gt;Nov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9-&gt;Sep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习题答案</a:t>
            </a:r>
          </a:p>
        </p:txBody>
      </p:sp>
      <p:graphicFrame>
        <p:nvGraphicFramePr>
          <p:cNvPr id="545795" name="Group 3"/>
          <p:cNvGraphicFramePr>
            <a:graphicFrameLocks noGrp="1"/>
          </p:cNvGraphicFramePr>
          <p:nvPr>
            <p:ph idx="1"/>
          </p:nvPr>
        </p:nvGraphicFramePr>
        <p:xfrm>
          <a:off x="1117600" y="1905000"/>
          <a:ext cx="10363200" cy="1749108"/>
        </p:xfrm>
        <a:graphic>
          <a:graphicData uri="http://schemas.openxmlformats.org/drawingml/2006/table">
            <a:tbl>
              <a:tblPr/>
              <a:tblGrid>
                <a:gridCol w="609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17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0771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0971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0971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865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0</a:t>
                      </a:r>
                    </a:p>
                  </a:txBody>
                  <a:tcPr marL="115147" marR="11514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2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3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4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5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6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7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8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9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10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11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12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13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14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15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16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Apr</a:t>
                      </a:r>
                    </a:p>
                  </a:txBody>
                  <a:tcPr marL="115147" marR="11514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Aug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Dec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Feb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Jan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Mar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May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Jun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Jul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Sep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Oct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2" charset="-122"/>
                        </a:rPr>
                        <a:t>Nov</a:t>
                      </a: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0" lang="zh-CN" altLang="zh-CN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2" charset="-122"/>
                      </a:endParaRPr>
                    </a:p>
                  </a:txBody>
                  <a:tcPr marL="115147" marR="1151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 &amp; A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Arial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4643</Words>
  <Application>Microsoft Office PowerPoint</Application>
  <PresentationFormat>宽屏</PresentationFormat>
  <Paragraphs>470</Paragraphs>
  <Slides>83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83</vt:i4>
      </vt:variant>
    </vt:vector>
  </HeadingPairs>
  <TitlesOfParts>
    <vt:vector size="96" baseType="lpstr">
      <vt:lpstr>黑体</vt:lpstr>
      <vt:lpstr>华文行楷</vt:lpstr>
      <vt:lpstr>楷体_GB2312</vt:lpstr>
      <vt:lpstr>宋体</vt:lpstr>
      <vt:lpstr>Arial</vt:lpstr>
      <vt:lpstr>Cambria Math</vt:lpstr>
      <vt:lpstr>Symbol</vt:lpstr>
      <vt:lpstr>Tahoma</vt:lpstr>
      <vt:lpstr>Times New Roman</vt:lpstr>
      <vt:lpstr>Wingdings</vt:lpstr>
      <vt:lpstr>Blueprint</vt:lpstr>
      <vt:lpstr>公式</vt:lpstr>
      <vt:lpstr>Equation</vt:lpstr>
      <vt:lpstr>Data Structure</vt:lpstr>
      <vt:lpstr>Lecture 6</vt:lpstr>
      <vt:lpstr>Part I</vt:lpstr>
      <vt:lpstr>散列基本概念</vt:lpstr>
      <vt:lpstr>散列基本概念</vt:lpstr>
      <vt:lpstr>散列函数</vt:lpstr>
      <vt:lpstr>散列函数</vt:lpstr>
      <vt:lpstr>散列函数</vt:lpstr>
      <vt:lpstr>散列函数的实例</vt:lpstr>
      <vt:lpstr>散列函数的实例 </vt:lpstr>
      <vt:lpstr>散列函数的实例 </vt:lpstr>
      <vt:lpstr>散列函数的实例</vt:lpstr>
      <vt:lpstr>key非数字情况下散列函数的考虑</vt:lpstr>
      <vt:lpstr>除留余数法</vt:lpstr>
      <vt:lpstr>直接定址法</vt:lpstr>
      <vt:lpstr>数字分析法</vt:lpstr>
      <vt:lpstr>数字分析法</vt:lpstr>
      <vt:lpstr>数字分析法</vt:lpstr>
      <vt:lpstr>数字分析法</vt:lpstr>
      <vt:lpstr>平方取中法</vt:lpstr>
      <vt:lpstr>平方取中法</vt:lpstr>
      <vt:lpstr>平方取中法</vt:lpstr>
      <vt:lpstr>折叠法</vt:lpstr>
      <vt:lpstr>折叠法</vt:lpstr>
      <vt:lpstr>折叠法</vt:lpstr>
      <vt:lpstr>相乘散列法</vt:lpstr>
      <vt:lpstr>基数映射法</vt:lpstr>
      <vt:lpstr>随机数法</vt:lpstr>
      <vt:lpstr>冲突处理方法</vt:lpstr>
      <vt:lpstr>闭散列方法</vt:lpstr>
      <vt:lpstr>闭散列方法</vt:lpstr>
      <vt:lpstr>线性探查法</vt:lpstr>
      <vt:lpstr>线性探查法的插入</vt:lpstr>
      <vt:lpstr>线性探查法的插入</vt:lpstr>
      <vt:lpstr>线性探查法的插入</vt:lpstr>
      <vt:lpstr>线性探查法的插入</vt:lpstr>
      <vt:lpstr>线性探查法的插入</vt:lpstr>
      <vt:lpstr>线性探查法的查找</vt:lpstr>
      <vt:lpstr>线性探查法的查找</vt:lpstr>
      <vt:lpstr>线性探查法的查找</vt:lpstr>
      <vt:lpstr>线性探查法的删除</vt:lpstr>
      <vt:lpstr>线性探查法的删除</vt:lpstr>
      <vt:lpstr>线性探查法的删除</vt:lpstr>
      <vt:lpstr>线性探查法的分析</vt:lpstr>
      <vt:lpstr>线性探查法的缺点</vt:lpstr>
      <vt:lpstr>二次探查法</vt:lpstr>
      <vt:lpstr>二次探查法</vt:lpstr>
      <vt:lpstr>二次探查法</vt:lpstr>
      <vt:lpstr>二次探查法的改进</vt:lpstr>
      <vt:lpstr>双散列法</vt:lpstr>
      <vt:lpstr>双散列法</vt:lpstr>
      <vt:lpstr>双散列法</vt:lpstr>
      <vt:lpstr>双散列法示例</vt:lpstr>
      <vt:lpstr>双散列法示例</vt:lpstr>
      <vt:lpstr>伪随机法</vt:lpstr>
      <vt:lpstr>伪随机法</vt:lpstr>
      <vt:lpstr>桶式散列法</vt:lpstr>
      <vt:lpstr>闭散列方法的缺点</vt:lpstr>
      <vt:lpstr>拉链法</vt:lpstr>
      <vt:lpstr>拉链法</vt:lpstr>
      <vt:lpstr>拉链法</vt:lpstr>
      <vt:lpstr>拉链法</vt:lpstr>
      <vt:lpstr>拉链法</vt:lpstr>
      <vt:lpstr>拉链法</vt:lpstr>
      <vt:lpstr>拉链法</vt:lpstr>
      <vt:lpstr>拉链法</vt:lpstr>
      <vt:lpstr>拉链法</vt:lpstr>
      <vt:lpstr>拉链法</vt:lpstr>
      <vt:lpstr>拉链法</vt:lpstr>
      <vt:lpstr>装载因子</vt:lpstr>
      <vt:lpstr>散列表的分析</vt:lpstr>
      <vt:lpstr>散列表的分析</vt:lpstr>
      <vt:lpstr>散列表的分析</vt:lpstr>
      <vt:lpstr>散列表的分析</vt:lpstr>
      <vt:lpstr>散列表的分析</vt:lpstr>
      <vt:lpstr>习题</vt:lpstr>
      <vt:lpstr>习题</vt:lpstr>
      <vt:lpstr>习题答案</vt:lpstr>
      <vt:lpstr>习题</vt:lpstr>
      <vt:lpstr>习题答案</vt:lpstr>
      <vt:lpstr>习题答案</vt:lpstr>
      <vt:lpstr>习题答案</vt:lpstr>
      <vt:lpstr>Q &amp; A</vt:lpstr>
    </vt:vector>
  </TitlesOfParts>
  <Company>113-501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Application</dc:title>
  <dc:creator>robin</dc:creator>
  <cp:lastModifiedBy>陈奕嘉</cp:lastModifiedBy>
  <cp:revision>1923</cp:revision>
  <dcterms:created xsi:type="dcterms:W3CDTF">2002-06-03T10:03:00Z</dcterms:created>
  <dcterms:modified xsi:type="dcterms:W3CDTF">2025-12-25T02:32:09Z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A84511B0999F407BA3F5E23E170E40A9_12</vt:lpwstr>
  </property>
  <property fmtid="{D5CDD505-2E9C-101B-9397-08002B2CF9AE}" pid="3" name="KSOProductBuildVer">
    <vt:lpwstr>2052-12.1.0.23542</vt:lpwstr>
  </property>
</Properties>
</file>